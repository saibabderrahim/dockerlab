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Lst>
  <p:sldSz cy="5143500" cx="9144000"/>
  <p:notesSz cx="6858000" cy="9144000"/>
  <p:embeddedFontLst>
    <p:embeddedFont>
      <p:font typeface="Nunito SemiBold"/>
      <p:regular r:id="rId175"/>
      <p:bold r:id="rId176"/>
      <p:italic r:id="rId177"/>
      <p:boldItalic r:id="rId178"/>
    </p:embeddedFont>
    <p:embeddedFont>
      <p:font typeface="Roboto"/>
      <p:regular r:id="rId179"/>
      <p:bold r:id="rId180"/>
      <p:italic r:id="rId181"/>
      <p:boldItalic r:id="rId182"/>
    </p:embeddedFont>
    <p:embeddedFont>
      <p:font typeface="Nunito"/>
      <p:regular r:id="rId183"/>
      <p:bold r:id="rId184"/>
      <p:italic r:id="rId185"/>
      <p:boldItalic r:id="rId186"/>
    </p:embeddedFont>
    <p:embeddedFont>
      <p:font typeface="Maven Pro SemiBold"/>
      <p:regular r:id="rId187"/>
      <p:bold r:id="rId188"/>
    </p:embeddedFont>
    <p:embeddedFont>
      <p:font typeface="Lato"/>
      <p:regular r:id="rId189"/>
      <p:bold r:id="rId190"/>
      <p:italic r:id="rId191"/>
      <p:boldItalic r:id="rId192"/>
    </p:embeddedFont>
    <p:embeddedFont>
      <p:font typeface="Maven Pro"/>
      <p:regular r:id="rId193"/>
      <p:bold r:id="rId194"/>
    </p:embeddedFont>
    <p:embeddedFont>
      <p:font typeface="Maven Pro Medium"/>
      <p:regular r:id="rId195"/>
      <p:bold r:id="rId196"/>
    </p:embeddedFont>
    <p:embeddedFont>
      <p:font typeface="Roboto Mono"/>
      <p:regular r:id="rId197"/>
      <p:bold r:id="rId198"/>
      <p:italic r:id="rId199"/>
      <p:boldItalic r:id="rId20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59D660-79D0-447A-8688-C7A9A0A3EB67}">
  <a:tblStyle styleId="{6D59D660-79D0-447A-8688-C7A9A0A3EB6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font" Target="fonts/Lato-bold.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font" Target="fonts/MavenPro-bold.fntdata"/><Relationship Id="rId43" Type="http://schemas.openxmlformats.org/officeDocument/2006/relationships/slide" Target="slides/slide37.xml"/><Relationship Id="rId193" Type="http://schemas.openxmlformats.org/officeDocument/2006/relationships/font" Target="fonts/MavenPro-regular.fntdata"/><Relationship Id="rId46" Type="http://schemas.openxmlformats.org/officeDocument/2006/relationships/slide" Target="slides/slide40.xml"/><Relationship Id="rId192" Type="http://schemas.openxmlformats.org/officeDocument/2006/relationships/font" Target="fonts/Lato-boldItalic.fntdata"/><Relationship Id="rId45" Type="http://schemas.openxmlformats.org/officeDocument/2006/relationships/slide" Target="slides/slide39.xml"/><Relationship Id="rId191" Type="http://schemas.openxmlformats.org/officeDocument/2006/relationships/font" Target="fonts/Lato-italic.fntdata"/><Relationship Id="rId48" Type="http://schemas.openxmlformats.org/officeDocument/2006/relationships/slide" Target="slides/slide42.xml"/><Relationship Id="rId187" Type="http://schemas.openxmlformats.org/officeDocument/2006/relationships/font" Target="fonts/MavenProSemiBold-regular.fntdata"/><Relationship Id="rId47" Type="http://schemas.openxmlformats.org/officeDocument/2006/relationships/slide" Target="slides/slide41.xml"/><Relationship Id="rId186" Type="http://schemas.openxmlformats.org/officeDocument/2006/relationships/font" Target="fonts/Nunito-boldItalic.fntdata"/><Relationship Id="rId185" Type="http://schemas.openxmlformats.org/officeDocument/2006/relationships/font" Target="fonts/Nunito-italic.fntdata"/><Relationship Id="rId49" Type="http://schemas.openxmlformats.org/officeDocument/2006/relationships/slide" Target="slides/slide43.xml"/><Relationship Id="rId184" Type="http://schemas.openxmlformats.org/officeDocument/2006/relationships/font" Target="fonts/Nunito-bold.fntdata"/><Relationship Id="rId189" Type="http://schemas.openxmlformats.org/officeDocument/2006/relationships/font" Target="fonts/Lato-regular.fntdata"/><Relationship Id="rId188" Type="http://schemas.openxmlformats.org/officeDocument/2006/relationships/font" Target="fonts/MavenProSemiBold-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font" Target="fonts/Nunito-regular.fntdata"/><Relationship Id="rId32" Type="http://schemas.openxmlformats.org/officeDocument/2006/relationships/slide" Target="slides/slide26.xml"/><Relationship Id="rId182" Type="http://schemas.openxmlformats.org/officeDocument/2006/relationships/font" Target="fonts/Roboto-boldItalic.fntdata"/><Relationship Id="rId35" Type="http://schemas.openxmlformats.org/officeDocument/2006/relationships/slide" Target="slides/slide29.xml"/><Relationship Id="rId181" Type="http://schemas.openxmlformats.org/officeDocument/2006/relationships/font" Target="fonts/Roboto-italic.fntdata"/><Relationship Id="rId34" Type="http://schemas.openxmlformats.org/officeDocument/2006/relationships/slide" Target="slides/slide28.xml"/><Relationship Id="rId180" Type="http://schemas.openxmlformats.org/officeDocument/2006/relationships/font" Target="fonts/Roboto-bold.fntdata"/><Relationship Id="rId37" Type="http://schemas.openxmlformats.org/officeDocument/2006/relationships/slide" Target="slides/slide31.xml"/><Relationship Id="rId176" Type="http://schemas.openxmlformats.org/officeDocument/2006/relationships/font" Target="fonts/NunitoSemiBold-bold.fntdata"/><Relationship Id="rId36" Type="http://schemas.openxmlformats.org/officeDocument/2006/relationships/slide" Target="slides/slide30.xml"/><Relationship Id="rId175" Type="http://schemas.openxmlformats.org/officeDocument/2006/relationships/font" Target="fonts/NunitoSemiBold-regular.fntdata"/><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font" Target="fonts/Roboto-regular.fntdata"/><Relationship Id="rId178" Type="http://schemas.openxmlformats.org/officeDocument/2006/relationships/font" Target="fonts/NunitoSemiBold-boldItalic.fntdata"/><Relationship Id="rId177" Type="http://schemas.openxmlformats.org/officeDocument/2006/relationships/font" Target="fonts/NunitoSemi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font" Target="fonts/RobotoMono-bold.fntdata"/><Relationship Id="rId14" Type="http://schemas.openxmlformats.org/officeDocument/2006/relationships/slide" Target="slides/slide8.xml"/><Relationship Id="rId197" Type="http://schemas.openxmlformats.org/officeDocument/2006/relationships/font" Target="fonts/RobotoMono-regular.fntdata"/><Relationship Id="rId17" Type="http://schemas.openxmlformats.org/officeDocument/2006/relationships/slide" Target="slides/slide11.xml"/><Relationship Id="rId196" Type="http://schemas.openxmlformats.org/officeDocument/2006/relationships/font" Target="fonts/MavenProMedium-bold.fntdata"/><Relationship Id="rId16" Type="http://schemas.openxmlformats.org/officeDocument/2006/relationships/slide" Target="slides/slide10.xml"/><Relationship Id="rId195" Type="http://schemas.openxmlformats.org/officeDocument/2006/relationships/font" Target="fonts/MavenProMedium-regular.fntdata"/><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font" Target="fonts/RobotoMono-italic.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1" Type="http://schemas.openxmlformats.org/officeDocument/2006/relationships/slide" Target="slides/slide115.xml"/><Relationship Id="rId120" Type="http://schemas.openxmlformats.org/officeDocument/2006/relationships/slide" Target="slides/slide114.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10" Type="http://schemas.openxmlformats.org/officeDocument/2006/relationships/slide" Target="slides/slide104.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200"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1ab24a9a9e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1ab24a9a9e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1cf5cbac5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1cf5cbac5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ab24a9a9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1ab24a9a9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1ab24a9a9e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1ab24a9a9e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ab24a9a9e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1ab24a9a9e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ab24a9a9e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ab24a9a9e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1ab24a9a9e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1ab24a9a9e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1ab24a9a9e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1ab24a9a9e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1ab24a9a9e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1ab24a9a9e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1ab24a9a9e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1ab24a9a9e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1ab24a9a9e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1ab24a9a9e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1ab24a9a9e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1ab24a9a9e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1ab24a9a9e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1ab24a9a9e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1ab24a9a9e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1ab24a9a9e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1ab24a9a9e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1ab24a9a9e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1ab24a9a9e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1ab24a9a9e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ab24a9a9e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1ab24a9a9e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1ab24a9a9e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1ab24a9a9e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1ab24a9a9e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1ab24a9a9e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1ab24a9a9e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1ab24a9a9e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1ab24a9a9e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1ab24a9a9e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1ab24a9a9e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1ab24a9a9e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1ab24a9a9e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1ab24a9a9e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1ab24a9a9e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1ab24a9a9e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1ab24a9a9e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1ab24a9a9e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1bd9f99ec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1bd9f99ec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1bd9f99ec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1bd9f99ec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1bd9f99ec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1bd9f99ec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218425a0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218425a0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1bd9f99ec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1bd9f99ec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1bd9f99ec0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1bd9f99ec0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1bd9f99ec0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1bd9f99ec0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1bd9f99ec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1bd9f99ec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1bd9f99ec0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1bd9f99ec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1bd9f99ec0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1bd9f99ec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1bd9f99ec0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1bd9f99ec0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1bd9f99ec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1bd9f99ec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1bd9f99ec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1bd9f99ec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1ab24a9a9e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1ab24a9a9e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1ab24a9a9e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1ab24a9a9e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1ab24a9a9e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1ab24a9a9e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1ab24a9a9e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1ab24a9a9e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1ab24a9a9e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1ab24a9a9e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1ab24a9a9e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1ab24a9a9e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1bd9f99ec0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1bd9f99ec0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1bd9f99ec0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1bd9f99ec0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1c9ebf1ac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1c9ebf1ac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1c9ebf1ac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1c9ebf1ac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1c9ebf1ac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1c9ebf1ac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1c9ebf1ac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1c9ebf1ac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1c9ebf1ac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1c9ebf1ac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1c9ebf1ac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1c9ebf1ac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1c9ebf1ac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31c9ebf1ac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1c9ebf1ac0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1c9ebf1ac0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1c9ebf1ac0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1c9ebf1ac0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1c9ebf1ac0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1c9ebf1ac0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1cc4d7e76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1cc4d7e76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1cc4d7e76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31cc4d7e76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1cc4d7e76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31cc4d7e76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1cc4d7e76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1cc4d7e76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1cc4d7e76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31cc4d7e76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1cc4d7e76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1cc4d7e76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1cc4d7e76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31cc4d7e76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1cc4d7e769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31cc4d7e769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1cc4d7e76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1cc4d7e76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1cc4d7e769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1cc4d7e769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1cc4d7e769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31cc4d7e769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1cc4d7e769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31cc4d7e769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1cc4d7e76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31cc4d7e76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1cc4d7e769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1cc4d7e769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1cd797b4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1cd797b4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1cd797b4b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5" name="Google Shape;835;g31cd797b4b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1cd797b4b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31cd797b4b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1cd797b4b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1cd797b4b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1cd797b4b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31cd797b4b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1cd797b4b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31cd797b4b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1cd797b4b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31cd797b4b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1cd797b4b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1cd797b4b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1cd797b4bb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31cd797b4bb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1cd797b4bb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1cd797b4b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31cd797b4bb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31cd797b4bb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1cc4d7e769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1cc4d7e769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1cdc7c49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1cdc7c49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1cdc7c490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31cdc7c490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1cdc7c490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31cdc7c490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31cdc7c490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7" name="Google Shape;977;g31cdc7c490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1cdc7c490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1cdc7c490d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1cdc7c490d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31cdc7c490d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1cdc7c490d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31cdc7c490d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1cdc7c490d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31cdc7c490d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1cdc7c490d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31cdc7c490d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1cdc7c490d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1cdc7c490d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1cdc7c490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31cdc7c490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1cdc7c490d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31cdc7c490d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1cdc7c490d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5" name="Google Shape;1075;g31cdc7c490d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1cdc7c490d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1cdc7c490d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1cc4d7e769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31cc4d7e769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1cc4d7e769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31cc4d7e769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1cdc7c490d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31cdc7c490d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31cdc7c490d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31cdc7c490d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1cdc7c490d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31cdc7c490d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1ce4afd84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1ce4afd84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31ce4afd84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31ce4afd84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1ce4afd84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31ce4afd84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31ce4afd84d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31ce4afd84d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31ce4afd84d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31ce4afd84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1ce4afd84d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31ce4afd84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1ce4afd84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31ce4afd84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1ce4afd84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31ce4afd84d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1ce4afd84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31ce4afd84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31ce4afd84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31ce4afd84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31ce4afd84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0" name="Google Shape;1270;g31ce4afd84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31ce4afd84d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31ce4afd84d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1ce4afd84d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31ce4afd84d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31ce4afd84d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31ce4afd84d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31ce4afd84d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8" name="Google Shape;1318;g31ce4afd84d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31ce4afd84d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31ce4afd84d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31ce4afd84d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31ce4afd84d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31cc4d7e769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31cc4d7e769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31ce4afd84d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31ce4afd84d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31d05cace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31d05cace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31d05cace7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31d05cace7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31d05cace7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31d05cace7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31d05cace7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31d05cace7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g31d05cace7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5" name="Google Shape;1415;g31d05cace7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31d05cace7e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31d05cace7e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1d05cace7e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31d05cace7e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31d05cace7e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7" name="Google Shape;1467;g31d05cace7e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31d05cace7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g31d05cace7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g31d05cace7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6" name="Google Shape;1496;g31d05cace7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31d05cace7e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5" name="Google Shape;1505;g31d05cace7e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31d05cace7e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6" name="Google Shape;1516;g31d05cace7e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g31d05cace7e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7" name="Google Shape;1527;g31d05cace7e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4" name="Shape 1534"/>
        <p:cNvGrpSpPr/>
        <p:nvPr/>
      </p:nvGrpSpPr>
      <p:grpSpPr>
        <a:xfrm>
          <a:off x="0" y="0"/>
          <a:ext cx="0" cy="0"/>
          <a:chOff x="0" y="0"/>
          <a:chExt cx="0" cy="0"/>
        </a:xfrm>
      </p:grpSpPr>
      <p:sp>
        <p:nvSpPr>
          <p:cNvPr id="1535" name="Google Shape;1535;g31cc4d7e769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6" name="Google Shape;1536;g31cc4d7e769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g31d05cace7e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5" name="Google Shape;1545;g31d05cace7e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g31d05cace7e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4" name="Google Shape;1554;g31d05cace7e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g31d05cace7e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6" name="Google Shape;1566;g31d05cace7e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g31d05cace7e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6" name="Google Shape;1576;g31d05cace7e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1d05cace7e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5" name="Google Shape;1585;g31d05cace7e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2" name="Shape 1592"/>
        <p:cNvGrpSpPr/>
        <p:nvPr/>
      </p:nvGrpSpPr>
      <p:grpSpPr>
        <a:xfrm>
          <a:off x="0" y="0"/>
          <a:ext cx="0" cy="0"/>
          <a:chOff x="0" y="0"/>
          <a:chExt cx="0" cy="0"/>
        </a:xfrm>
      </p:grpSpPr>
      <p:sp>
        <p:nvSpPr>
          <p:cNvPr id="1593" name="Google Shape;1593;g31d05cace7e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4" name="Google Shape;1594;g31d05cace7e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g31d05cace7e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4" name="Google Shape;1604;g31d05cace7e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3" name="Shape 1613"/>
        <p:cNvGrpSpPr/>
        <p:nvPr/>
      </p:nvGrpSpPr>
      <p:grpSpPr>
        <a:xfrm>
          <a:off x="0" y="0"/>
          <a:ext cx="0" cy="0"/>
          <a:chOff x="0" y="0"/>
          <a:chExt cx="0" cy="0"/>
        </a:xfrm>
      </p:grpSpPr>
      <p:sp>
        <p:nvSpPr>
          <p:cNvPr id="1614" name="Google Shape;1614;g31cc4d7e769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5" name="Google Shape;1615;g31cc4d7e769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g31d523105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4" name="Google Shape;1624;g31d523105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1" name="Shape 1631"/>
        <p:cNvGrpSpPr/>
        <p:nvPr/>
      </p:nvGrpSpPr>
      <p:grpSpPr>
        <a:xfrm>
          <a:off x="0" y="0"/>
          <a:ext cx="0" cy="0"/>
          <a:chOff x="0" y="0"/>
          <a:chExt cx="0" cy="0"/>
        </a:xfrm>
      </p:grpSpPr>
      <p:sp>
        <p:nvSpPr>
          <p:cNvPr id="1632" name="Google Shape;1632;g334fa4adf6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3" name="Google Shape;1633;g334fa4adf6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g334fa4adf6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3" name="Google Shape;1643;g334fa4adf6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334fa4adf6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4" name="Google Shape;1654;g334fa4adf6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g31cc4d7e769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4" name="Google Shape;1664;g31cc4d7e769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g334fa4adf6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3" name="Google Shape;1673;g334fa4adf6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334fa4adf6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2" name="Google Shape;1682;g334fa4adf6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g334fa4adf6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2" name="Google Shape;1692;g334fa4adf6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1" name="Shape 1701"/>
        <p:cNvGrpSpPr/>
        <p:nvPr/>
      </p:nvGrpSpPr>
      <p:grpSpPr>
        <a:xfrm>
          <a:off x="0" y="0"/>
          <a:ext cx="0" cy="0"/>
          <a:chOff x="0" y="0"/>
          <a:chExt cx="0" cy="0"/>
        </a:xfrm>
      </p:grpSpPr>
      <p:sp>
        <p:nvSpPr>
          <p:cNvPr id="1702" name="Google Shape;1702;g617e442430d267f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3" name="Google Shape;1703;g617e442430d267f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g334fa4adf6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2" name="Google Shape;1712;g334fa4adf6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g334fa4adf6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0" name="Google Shape;1720;g334fa4adf6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g617e442430d267f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8" name="Google Shape;1728;g617e442430d267f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7" name="Shape 1737"/>
        <p:cNvGrpSpPr/>
        <p:nvPr/>
      </p:nvGrpSpPr>
      <p:grpSpPr>
        <a:xfrm>
          <a:off x="0" y="0"/>
          <a:ext cx="0" cy="0"/>
          <a:chOff x="0" y="0"/>
          <a:chExt cx="0" cy="0"/>
        </a:xfrm>
      </p:grpSpPr>
      <p:sp>
        <p:nvSpPr>
          <p:cNvPr id="1738" name="Google Shape;1738;g617e442430d267f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9" name="Google Shape;1739;g617e442430d267f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g334fa4adf6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7" name="Google Shape;1747;g334fa4adf6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4" name="Shape 1754"/>
        <p:cNvGrpSpPr/>
        <p:nvPr/>
      </p:nvGrpSpPr>
      <p:grpSpPr>
        <a:xfrm>
          <a:off x="0" y="0"/>
          <a:ext cx="0" cy="0"/>
          <a:chOff x="0" y="0"/>
          <a:chExt cx="0" cy="0"/>
        </a:xfrm>
      </p:grpSpPr>
      <p:sp>
        <p:nvSpPr>
          <p:cNvPr id="1755" name="Google Shape;1755;g334fa4adf68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6" name="Google Shape;1756;g334fa4adf68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g617e442430d267f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4" name="Google Shape;1764;g617e442430d267f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g617e442430d267f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2" name="Google Shape;1772;g617e442430d267f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g617e442430d267f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2" name="Google Shape;1782;g617e442430d267f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9" name="Shape 1789"/>
        <p:cNvGrpSpPr/>
        <p:nvPr/>
      </p:nvGrpSpPr>
      <p:grpSpPr>
        <a:xfrm>
          <a:off x="0" y="0"/>
          <a:ext cx="0" cy="0"/>
          <a:chOff x="0" y="0"/>
          <a:chExt cx="0" cy="0"/>
        </a:xfrm>
      </p:grpSpPr>
      <p:sp>
        <p:nvSpPr>
          <p:cNvPr id="1790" name="Google Shape;1790;g617e442430d267f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1" name="Google Shape;1791;g617e442430d267f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617e442430d267f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0" name="Google Shape;1800;g617e442430d267f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g617e442430d267f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8" name="Google Shape;1808;g617e442430d267f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4" name="Shape 1814"/>
        <p:cNvGrpSpPr/>
        <p:nvPr/>
      </p:nvGrpSpPr>
      <p:grpSpPr>
        <a:xfrm>
          <a:off x="0" y="0"/>
          <a:ext cx="0" cy="0"/>
          <a:chOff x="0" y="0"/>
          <a:chExt cx="0" cy="0"/>
        </a:xfrm>
      </p:grpSpPr>
      <p:sp>
        <p:nvSpPr>
          <p:cNvPr id="1815" name="Google Shape;1815;g617e442430d267f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6" name="Google Shape;1816;g617e442430d267f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g617e442430d267f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4" name="Google Shape;1824;g617e442430d267f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g617e442430d267f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g617e442430d267f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g617e442430d267f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0" name="Google Shape;1840;g617e442430d267f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20.png"/><Relationship Id="rId6" Type="http://schemas.openxmlformats.org/officeDocument/2006/relationships/image" Target="../media/image5.png"/><Relationship Id="rId7"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png"/><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png"/><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png"/><Relationship Id="rId4"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png"/><Relationship Id="rId4"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png"/><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4.png"/><Relationship Id="rId4" Type="http://schemas.openxmlformats.org/officeDocument/2006/relationships/image" Target="../media/image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4.png"/><Relationship Id="rId4" Type="http://schemas.openxmlformats.org/officeDocument/2006/relationships/image" Target="../media/image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4.png"/><Relationship Id="rId4" Type="http://schemas.openxmlformats.org/officeDocument/2006/relationships/image" Target="../media/image2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4.png"/><Relationship Id="rId4" Type="http://schemas.openxmlformats.org/officeDocument/2006/relationships/image" Target="../media/image3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4.png"/><Relationship Id="rId4" Type="http://schemas.openxmlformats.org/officeDocument/2006/relationships/image" Target="../media/image3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4.png"/><Relationship Id="rId4" Type="http://schemas.openxmlformats.org/officeDocument/2006/relationships/image" Target="../media/image2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4.png"/><Relationship Id="rId4" Type="http://schemas.openxmlformats.org/officeDocument/2006/relationships/image" Target="../media/image2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29.png"/><Relationship Id="rId6" Type="http://schemas.openxmlformats.org/officeDocument/2006/relationships/image" Target="../media/image2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4.png"/><Relationship Id="rId4" Type="http://schemas.openxmlformats.org/officeDocument/2006/relationships/image" Target="../media/image37.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4.png"/><Relationship Id="rId4" Type="http://schemas.openxmlformats.org/officeDocument/2006/relationships/image" Target="../media/image3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34.png"/><Relationship Id="rId4" Type="http://schemas.openxmlformats.org/officeDocument/2006/relationships/image" Target="../media/image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4.png"/><Relationship Id="rId4" Type="http://schemas.openxmlformats.org/officeDocument/2006/relationships/image" Target="../media/image3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4.png"/><Relationship Id="rId4" Type="http://schemas.openxmlformats.org/officeDocument/2006/relationships/image" Target="../media/image3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4.png"/><Relationship Id="rId4" Type="http://schemas.openxmlformats.org/officeDocument/2006/relationships/image" Target="../media/image3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4.png"/><Relationship Id="rId4" Type="http://schemas.openxmlformats.org/officeDocument/2006/relationships/image" Target="../media/image3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4.png"/><Relationship Id="rId4" Type="http://schemas.openxmlformats.org/officeDocument/2006/relationships/image" Target="../media/image3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4.png"/><Relationship Id="rId4" Type="http://schemas.openxmlformats.org/officeDocument/2006/relationships/image" Target="../media/image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4.png"/><Relationship Id="rId4" Type="http://schemas.openxmlformats.org/officeDocument/2006/relationships/image" Target="../media/image30.png"/><Relationship Id="rId5" Type="http://schemas.openxmlformats.org/officeDocument/2006/relationships/image" Target="../media/image4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4.png"/><Relationship Id="rId4" Type="http://schemas.openxmlformats.org/officeDocument/2006/relationships/image" Target="../media/image4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4.png"/><Relationship Id="rId4" Type="http://schemas.openxmlformats.org/officeDocument/2006/relationships/image" Target="../media/image46.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4.png"/><Relationship Id="rId4" Type="http://schemas.openxmlformats.org/officeDocument/2006/relationships/image" Target="../media/image4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4.png"/><Relationship Id="rId4" Type="http://schemas.openxmlformats.org/officeDocument/2006/relationships/image" Target="../media/image4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4.png"/><Relationship Id="rId4" Type="http://schemas.openxmlformats.org/officeDocument/2006/relationships/image" Target="../media/image39.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4.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4.png"/><Relationship Id="rId4" Type="http://schemas.openxmlformats.org/officeDocument/2006/relationships/image" Target="../media/image9.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4.png"/><Relationship Id="rId4" Type="http://schemas.openxmlformats.org/officeDocument/2006/relationships/image" Target="../media/image9.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4.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4.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4.png"/><Relationship Id="rId4" Type="http://schemas.openxmlformats.org/officeDocument/2006/relationships/image" Target="../media/image38.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4.png"/><Relationship Id="rId4" Type="http://schemas.openxmlformats.org/officeDocument/2006/relationships/image" Target="../media/image38.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4.png"/><Relationship Id="rId4" Type="http://schemas.openxmlformats.org/officeDocument/2006/relationships/image" Target="../media/image38.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4.png"/><Relationship Id="rId4" Type="http://schemas.openxmlformats.org/officeDocument/2006/relationships/image" Target="../media/image9.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4.png"/><Relationship Id="rId4" Type="http://schemas.openxmlformats.org/officeDocument/2006/relationships/image" Target="../media/image9.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4.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4.png"/><Relationship Id="rId4" Type="http://schemas.openxmlformats.org/officeDocument/2006/relationships/image" Target="../media/image45.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4.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4.png"/><Relationship Id="rId4" Type="http://schemas.openxmlformats.org/officeDocument/2006/relationships/image" Target="../media/image4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4.png"/><Relationship Id="rId4" Type="http://schemas.openxmlformats.org/officeDocument/2006/relationships/image" Target="../media/image42.png"/><Relationship Id="rId5" Type="http://schemas.openxmlformats.org/officeDocument/2006/relationships/image" Target="../media/image54.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4.png"/><Relationship Id="rId4" Type="http://schemas.openxmlformats.org/officeDocument/2006/relationships/image" Target="../media/image9.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 Id="rId3" Type="http://schemas.openxmlformats.org/officeDocument/2006/relationships/image" Target="../media/image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 Id="rId3" Type="http://schemas.openxmlformats.org/officeDocument/2006/relationships/image" Target="../media/image4.png"/><Relationship Id="rId4" Type="http://schemas.openxmlformats.org/officeDocument/2006/relationships/image" Target="../media/image4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 Id="rId3" Type="http://schemas.openxmlformats.org/officeDocument/2006/relationships/image" Target="../media/image4.png"/><Relationship Id="rId4" Type="http://schemas.openxmlformats.org/officeDocument/2006/relationships/image" Target="../media/image47.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4.png"/><Relationship Id="rId4" Type="http://schemas.openxmlformats.org/officeDocument/2006/relationships/image" Target="../media/image47.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4.png"/><Relationship Id="rId4" Type="http://schemas.openxmlformats.org/officeDocument/2006/relationships/image" Target="../media/image9.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 Id="rId3" Type="http://schemas.openxmlformats.org/officeDocument/2006/relationships/image" Target="../media/image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4.png"/><Relationship Id="rId4" Type="http://schemas.openxmlformats.org/officeDocument/2006/relationships/image" Target="../media/image55.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 Id="rId3" Type="http://schemas.openxmlformats.org/officeDocument/2006/relationships/image" Target="../media/image4.png"/><Relationship Id="rId4" Type="http://schemas.openxmlformats.org/officeDocument/2006/relationships/image" Target="../media/image5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 Id="rId3" Type="http://schemas.openxmlformats.org/officeDocument/2006/relationships/image" Target="../media/image4.png"/><Relationship Id="rId4" Type="http://schemas.openxmlformats.org/officeDocument/2006/relationships/image" Target="../media/image5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 Id="rId3" Type="http://schemas.openxmlformats.org/officeDocument/2006/relationships/image" Target="../media/image4.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 Id="rId3" Type="http://schemas.openxmlformats.org/officeDocument/2006/relationships/image" Target="../media/image4.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 Id="rId3" Type="http://schemas.openxmlformats.org/officeDocument/2006/relationships/image" Target="../media/image4.png"/><Relationship Id="rId4" Type="http://schemas.openxmlformats.org/officeDocument/2006/relationships/image" Target="../media/image44.png"/><Relationship Id="rId5" Type="http://schemas.openxmlformats.org/officeDocument/2006/relationships/image" Target="../media/image48.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 Id="rId3" Type="http://schemas.openxmlformats.org/officeDocument/2006/relationships/image" Target="../media/image4.png"/><Relationship Id="rId4" Type="http://schemas.openxmlformats.org/officeDocument/2006/relationships/image" Target="../media/image5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 Id="rId3" Type="http://schemas.openxmlformats.org/officeDocument/2006/relationships/image" Target="../media/image4.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 Id="rId3" Type="http://schemas.openxmlformats.org/officeDocument/2006/relationships/image" Target="../media/image4.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 Id="rId3" Type="http://schemas.openxmlformats.org/officeDocument/2006/relationships/image" Target="../media/image4.png"/><Relationship Id="rId4" Type="http://schemas.openxmlformats.org/officeDocument/2006/relationships/image" Target="../media/image50.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 Id="rId3" Type="http://schemas.openxmlformats.org/officeDocument/2006/relationships/image" Target="../media/image4.png"/><Relationship Id="rId4" Type="http://schemas.openxmlformats.org/officeDocument/2006/relationships/image" Target="../media/image53.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 Id="rId3" Type="http://schemas.openxmlformats.org/officeDocument/2006/relationships/image" Target="../media/image4.png"/><Relationship Id="rId4" Type="http://schemas.openxmlformats.org/officeDocument/2006/relationships/image" Target="../media/image53.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 Id="rId3" Type="http://schemas.openxmlformats.org/officeDocument/2006/relationships/image" Target="../media/image4.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 Id="rId3" Type="http://schemas.openxmlformats.org/officeDocument/2006/relationships/image" Target="../media/image4.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 Id="rId3" Type="http://schemas.openxmlformats.org/officeDocument/2006/relationships/image" Target="../media/image4.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 Id="rId3" Type="http://schemas.openxmlformats.org/officeDocument/2006/relationships/image" Target="../media/image4.png"/><Relationship Id="rId4" Type="http://schemas.openxmlformats.org/officeDocument/2006/relationships/image" Target="../media/image5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 Id="rId3" Type="http://schemas.openxmlformats.org/officeDocument/2006/relationships/image" Target="../media/image4.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75" y="0"/>
            <a:ext cx="9144000" cy="5143500"/>
          </a:xfrm>
          <a:prstGeom prst="rect">
            <a:avLst/>
          </a:prstGeom>
          <a:solidFill>
            <a:srgbClr val="E5F2FC"/>
          </a:solidFill>
          <a:ln cap="flat" cmpd="sng" w="9525">
            <a:solidFill>
              <a:srgbClr val="E6E5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61" name="Google Shape;61;p14"/>
          <p:cNvPicPr preferRelativeResize="0"/>
          <p:nvPr/>
        </p:nvPicPr>
        <p:blipFill>
          <a:blip r:embed="rId3">
            <a:alphaModFix/>
          </a:blip>
          <a:stretch>
            <a:fillRect/>
          </a:stretch>
        </p:blipFill>
        <p:spPr>
          <a:xfrm>
            <a:off x="1326863" y="1833365"/>
            <a:ext cx="6490276" cy="1476775"/>
          </a:xfrm>
          <a:prstGeom prst="rect">
            <a:avLst/>
          </a:prstGeom>
          <a:noFill/>
          <a:ln>
            <a:noFill/>
          </a:ln>
        </p:spPr>
      </p:pic>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p:nvPr/>
        </p:nvSpPr>
        <p:spPr>
          <a:xfrm>
            <a:off x="-75" y="0"/>
            <a:ext cx="9144000" cy="5143500"/>
          </a:xfrm>
          <a:prstGeom prst="rect">
            <a:avLst/>
          </a:prstGeom>
          <a:solidFill>
            <a:srgbClr val="E5F2FC"/>
          </a:solidFill>
          <a:ln cap="flat" cmpd="sng" w="9525">
            <a:solidFill>
              <a:srgbClr val="E6E5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5"/>
          <p:cNvSpPr txBox="1"/>
          <p:nvPr/>
        </p:nvSpPr>
        <p:spPr>
          <a:xfrm>
            <a:off x="461450" y="882300"/>
            <a:ext cx="5437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7000">
                <a:solidFill>
                  <a:srgbClr val="00084D"/>
                </a:solidFill>
                <a:latin typeface="Nunito"/>
                <a:ea typeface="Nunito"/>
                <a:cs typeface="Nunito"/>
                <a:sym typeface="Nunito"/>
              </a:rPr>
              <a:t>DevOps</a:t>
            </a:r>
            <a:endParaRPr b="1" sz="7000">
              <a:solidFill>
                <a:srgbClr val="00084D"/>
              </a:solidFill>
              <a:latin typeface="Nunito"/>
              <a:ea typeface="Nunito"/>
              <a:cs typeface="Nunito"/>
              <a:sym typeface="Nunito"/>
            </a:endParaRPr>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75" name="Google Shape;75;p1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DevOps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Intro</a:t>
            </a:r>
            <a:endParaRPr sz="2000">
              <a:solidFill>
                <a:srgbClr val="073763"/>
              </a:solidFill>
              <a:latin typeface="Maven Pro"/>
              <a:ea typeface="Maven Pro"/>
              <a:cs typeface="Maven Pro"/>
              <a:sym typeface="Maven Pro"/>
            </a:endParaRPr>
          </a:p>
        </p:txBody>
      </p:sp>
      <p:pic>
        <p:nvPicPr>
          <p:cNvPr id="76" name="Google Shape;76;p1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77" name="Google Shape;77;p16"/>
          <p:cNvSpPr txBox="1"/>
          <p:nvPr/>
        </p:nvSpPr>
        <p:spPr>
          <a:xfrm>
            <a:off x="548400" y="1618675"/>
            <a:ext cx="3153900" cy="2805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GB" sz="1500">
                <a:solidFill>
                  <a:srgbClr val="073763"/>
                </a:solidFill>
                <a:latin typeface="Maven Pro"/>
                <a:ea typeface="Maven Pro"/>
                <a:cs typeface="Maven Pro"/>
                <a:sym typeface="Maven Pro"/>
              </a:rPr>
              <a:t>Le concept de DevOps repose sur une culture, un ensemble de pratiques et d'outils visant à améliorer la collaboration entre les équipes de développement (Dev) et les équipes d'opérations (Ops). L'objectif est de livrer des applications et des services à un rythme plus rapide et avec une meilleure qualité.</a:t>
            </a:r>
            <a:endParaRPr sz="1100">
              <a:solidFill>
                <a:schemeClr val="dk1"/>
              </a:solidFill>
              <a:latin typeface="Lato"/>
              <a:ea typeface="Lato"/>
              <a:cs typeface="Lato"/>
              <a:sym typeface="Lato"/>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84" name="Google Shape;84;p1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DevOps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Origines et Contexte</a:t>
            </a:r>
            <a:endParaRPr sz="2000">
              <a:solidFill>
                <a:srgbClr val="073763"/>
              </a:solidFill>
              <a:latin typeface="Maven Pro"/>
              <a:ea typeface="Maven Pro"/>
              <a:cs typeface="Maven Pro"/>
              <a:sym typeface="Maven Pro"/>
            </a:endParaRPr>
          </a:p>
        </p:txBody>
      </p:sp>
      <p:pic>
        <p:nvPicPr>
          <p:cNvPr id="85" name="Google Shape;85;p1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86" name="Google Shape;86;p17"/>
          <p:cNvSpPr txBox="1"/>
          <p:nvPr/>
        </p:nvSpPr>
        <p:spPr>
          <a:xfrm>
            <a:off x="777150" y="1595800"/>
            <a:ext cx="7589700" cy="2586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n-GB" sz="1200">
                <a:solidFill>
                  <a:srgbClr val="073763"/>
                </a:solidFill>
                <a:latin typeface="Maven Pro"/>
                <a:ea typeface="Maven Pro"/>
                <a:cs typeface="Maven Pro"/>
                <a:sym typeface="Maven Pro"/>
              </a:rPr>
              <a:t>Traditionnellement, les équipes de développement et d'opérations travaillaient de manière cloisonnée :</a:t>
            </a:r>
            <a:endParaRPr sz="1200">
              <a:solidFill>
                <a:srgbClr val="073763"/>
              </a:solidFill>
              <a:latin typeface="Maven Pro"/>
              <a:ea typeface="Maven Pro"/>
              <a:cs typeface="Maven Pro"/>
              <a:sym typeface="Maven Pro"/>
            </a:endParaRPr>
          </a:p>
          <a:p>
            <a:pPr indent="-304800" lvl="0" marL="457200" marR="0" rtl="0" algn="l">
              <a:lnSpc>
                <a:spcPct val="150000"/>
              </a:lnSpc>
              <a:spcBef>
                <a:spcPts val="0"/>
              </a:spcBef>
              <a:spcAft>
                <a:spcPts val="0"/>
              </a:spcAft>
              <a:buClr>
                <a:srgbClr val="073763"/>
              </a:buClr>
              <a:buSzPts val="1200"/>
              <a:buFont typeface="Maven Pro"/>
              <a:buChar char="●"/>
            </a:pPr>
            <a:r>
              <a:rPr lang="en-GB" sz="1200">
                <a:solidFill>
                  <a:srgbClr val="073763"/>
                </a:solidFill>
                <a:latin typeface="Maven Pro"/>
                <a:ea typeface="Maven Pro"/>
                <a:cs typeface="Maven Pro"/>
                <a:sym typeface="Maven Pro"/>
              </a:rPr>
              <a:t>Les développeurs se </a:t>
            </a:r>
            <a:r>
              <a:rPr lang="en-GB" sz="1200">
                <a:solidFill>
                  <a:srgbClr val="073763"/>
                </a:solidFill>
                <a:latin typeface="Maven Pro"/>
                <a:ea typeface="Maven Pro"/>
                <a:cs typeface="Maven Pro"/>
                <a:sym typeface="Maven Pro"/>
              </a:rPr>
              <a:t>concentrent</a:t>
            </a:r>
            <a:r>
              <a:rPr lang="en-GB" sz="1200">
                <a:solidFill>
                  <a:srgbClr val="073763"/>
                </a:solidFill>
                <a:latin typeface="Maven Pro"/>
                <a:ea typeface="Maven Pro"/>
                <a:cs typeface="Maven Pro"/>
                <a:sym typeface="Maven Pro"/>
              </a:rPr>
              <a:t> sur la création de logiciels.</a:t>
            </a:r>
            <a:endParaRPr sz="1200">
              <a:solidFill>
                <a:srgbClr val="073763"/>
              </a:solidFill>
              <a:latin typeface="Maven Pro"/>
              <a:ea typeface="Maven Pro"/>
              <a:cs typeface="Maven Pro"/>
              <a:sym typeface="Maven Pro"/>
            </a:endParaRPr>
          </a:p>
          <a:p>
            <a:pPr indent="-304800" lvl="0" marL="457200" marR="0" rtl="0" algn="l">
              <a:lnSpc>
                <a:spcPct val="150000"/>
              </a:lnSpc>
              <a:spcBef>
                <a:spcPts val="0"/>
              </a:spcBef>
              <a:spcAft>
                <a:spcPts val="0"/>
              </a:spcAft>
              <a:buClr>
                <a:srgbClr val="073763"/>
              </a:buClr>
              <a:buSzPts val="1200"/>
              <a:buFont typeface="Maven Pro"/>
              <a:buChar char="●"/>
            </a:pPr>
            <a:r>
              <a:rPr lang="en-GB" sz="1200">
                <a:solidFill>
                  <a:srgbClr val="073763"/>
                </a:solidFill>
                <a:latin typeface="Maven Pro"/>
                <a:ea typeface="Maven Pro"/>
                <a:cs typeface="Maven Pro"/>
                <a:sym typeface="Maven Pro"/>
              </a:rPr>
              <a:t>Les opérateurs </a:t>
            </a:r>
            <a:r>
              <a:rPr lang="en-GB" sz="1200">
                <a:solidFill>
                  <a:srgbClr val="073763"/>
                </a:solidFill>
                <a:latin typeface="Maven Pro"/>
                <a:ea typeface="Maven Pro"/>
                <a:cs typeface="Maven Pro"/>
                <a:sym typeface="Maven Pro"/>
              </a:rPr>
              <a:t>gèrent</a:t>
            </a:r>
            <a:r>
              <a:rPr lang="en-GB" sz="1200">
                <a:solidFill>
                  <a:srgbClr val="073763"/>
                </a:solidFill>
                <a:latin typeface="Maven Pro"/>
                <a:ea typeface="Maven Pro"/>
                <a:cs typeface="Maven Pro"/>
                <a:sym typeface="Maven Pro"/>
              </a:rPr>
              <a:t> l'infrastructure et les déploiements.</a:t>
            </a:r>
            <a:endParaRPr sz="1200">
              <a:solidFill>
                <a:srgbClr val="073763"/>
              </a:solidFill>
              <a:latin typeface="Maven Pro"/>
              <a:ea typeface="Maven Pro"/>
              <a:cs typeface="Maven Pro"/>
              <a:sym typeface="Maven Pro"/>
            </a:endParaRPr>
          </a:p>
          <a:p>
            <a:pPr indent="0" lvl="0" marL="0" marR="0" rtl="0" algn="l">
              <a:lnSpc>
                <a:spcPct val="150000"/>
              </a:lnSpc>
              <a:spcBef>
                <a:spcPts val="0"/>
              </a:spcBef>
              <a:spcAft>
                <a:spcPts val="0"/>
              </a:spcAft>
              <a:buNone/>
            </a:pPr>
            <a:r>
              <a:t/>
            </a:r>
            <a:endParaRPr sz="1200">
              <a:solidFill>
                <a:srgbClr val="073763"/>
              </a:solidFill>
              <a:latin typeface="Maven Pro"/>
              <a:ea typeface="Maven Pro"/>
              <a:cs typeface="Maven Pro"/>
              <a:sym typeface="Maven Pro"/>
            </a:endParaRPr>
          </a:p>
          <a:p>
            <a:pPr indent="0" lvl="0" marL="0" marR="0" rtl="0" algn="l">
              <a:lnSpc>
                <a:spcPct val="150000"/>
              </a:lnSpc>
              <a:spcBef>
                <a:spcPts val="0"/>
              </a:spcBef>
              <a:spcAft>
                <a:spcPts val="0"/>
              </a:spcAft>
              <a:buNone/>
            </a:pPr>
            <a:r>
              <a:rPr lang="en-GB" sz="1200">
                <a:solidFill>
                  <a:srgbClr val="073763"/>
                </a:solidFill>
                <a:latin typeface="Maven Pro"/>
                <a:ea typeface="Maven Pro"/>
                <a:cs typeface="Maven Pro"/>
                <a:sym typeface="Maven Pro"/>
              </a:rPr>
              <a:t>Cette séparation entraînait des frictions, notamment lors des déploiements, à cause d'objectifs opposés :</a:t>
            </a:r>
            <a:endParaRPr sz="1200">
              <a:solidFill>
                <a:srgbClr val="073763"/>
              </a:solidFill>
              <a:latin typeface="Maven Pro"/>
              <a:ea typeface="Maven Pro"/>
              <a:cs typeface="Maven Pro"/>
              <a:sym typeface="Maven Pro"/>
            </a:endParaRPr>
          </a:p>
          <a:p>
            <a:pPr indent="-304800" lvl="0" marL="457200" marR="0" rtl="0" algn="l">
              <a:lnSpc>
                <a:spcPct val="150000"/>
              </a:lnSpc>
              <a:spcBef>
                <a:spcPts val="0"/>
              </a:spcBef>
              <a:spcAft>
                <a:spcPts val="0"/>
              </a:spcAft>
              <a:buClr>
                <a:srgbClr val="073763"/>
              </a:buClr>
              <a:buSzPts val="1200"/>
              <a:buFont typeface="Maven Pro"/>
              <a:buChar char="●"/>
            </a:pPr>
            <a:r>
              <a:rPr lang="en-GB" sz="1200">
                <a:solidFill>
                  <a:srgbClr val="073763"/>
                </a:solidFill>
                <a:latin typeface="Maven Pro"/>
                <a:ea typeface="Maven Pro"/>
                <a:cs typeface="Maven Pro"/>
                <a:sym typeface="Maven Pro"/>
              </a:rPr>
              <a:t>Les développeurs voulaient livrer rapidement.</a:t>
            </a:r>
            <a:endParaRPr sz="1200">
              <a:solidFill>
                <a:srgbClr val="073763"/>
              </a:solidFill>
              <a:latin typeface="Maven Pro"/>
              <a:ea typeface="Maven Pro"/>
              <a:cs typeface="Maven Pro"/>
              <a:sym typeface="Maven Pro"/>
            </a:endParaRPr>
          </a:p>
          <a:p>
            <a:pPr indent="-304800" lvl="0" marL="457200" marR="0" rtl="0" algn="l">
              <a:lnSpc>
                <a:spcPct val="150000"/>
              </a:lnSpc>
              <a:spcBef>
                <a:spcPts val="0"/>
              </a:spcBef>
              <a:spcAft>
                <a:spcPts val="0"/>
              </a:spcAft>
              <a:buClr>
                <a:srgbClr val="073763"/>
              </a:buClr>
              <a:buSzPts val="1200"/>
              <a:buFont typeface="Maven Pro"/>
              <a:buChar char="●"/>
            </a:pPr>
            <a:r>
              <a:rPr lang="en-GB" sz="1200">
                <a:solidFill>
                  <a:srgbClr val="073763"/>
                </a:solidFill>
                <a:latin typeface="Maven Pro"/>
                <a:ea typeface="Maven Pro"/>
                <a:cs typeface="Maven Pro"/>
                <a:sym typeface="Maven Pro"/>
              </a:rPr>
              <a:t>Les opérations voulaient garantir la stabilité.</a:t>
            </a:r>
            <a:endParaRPr sz="1200">
              <a:solidFill>
                <a:srgbClr val="073763"/>
              </a:solidFill>
              <a:latin typeface="Maven Pro"/>
              <a:ea typeface="Maven Pro"/>
              <a:cs typeface="Maven Pro"/>
              <a:sym typeface="Maven Pro"/>
            </a:endParaRPr>
          </a:p>
          <a:p>
            <a:pPr indent="0" lvl="0" marL="0" marR="0" rtl="0" algn="l">
              <a:lnSpc>
                <a:spcPct val="150000"/>
              </a:lnSpc>
              <a:spcBef>
                <a:spcPts val="0"/>
              </a:spcBef>
              <a:spcAft>
                <a:spcPts val="0"/>
              </a:spcAft>
              <a:buNone/>
            </a:pPr>
            <a:r>
              <a:t/>
            </a:r>
            <a:endParaRPr sz="1200">
              <a:solidFill>
                <a:srgbClr val="073763"/>
              </a:solidFill>
              <a:latin typeface="Maven Pro"/>
              <a:ea typeface="Maven Pro"/>
              <a:cs typeface="Maven Pro"/>
              <a:sym typeface="Maven Pro"/>
            </a:endParaRPr>
          </a:p>
          <a:p>
            <a:pPr indent="0" lvl="0" marL="0" marR="0" rtl="0" algn="ctr">
              <a:lnSpc>
                <a:spcPct val="150000"/>
              </a:lnSpc>
              <a:spcBef>
                <a:spcPts val="0"/>
              </a:spcBef>
              <a:spcAft>
                <a:spcPts val="0"/>
              </a:spcAft>
              <a:buNone/>
            </a:pPr>
            <a:r>
              <a:rPr lang="en-GB" sz="1200">
                <a:solidFill>
                  <a:srgbClr val="073763"/>
                </a:solidFill>
                <a:latin typeface="Maven Pro"/>
                <a:ea typeface="Maven Pro"/>
                <a:cs typeface="Maven Pro"/>
                <a:sym typeface="Maven Pro"/>
              </a:rPr>
              <a:t>DevOps est né pour aligner ces objectifs et promouvoir une </a:t>
            </a:r>
            <a:r>
              <a:rPr b="1" lang="en-GB" sz="1200">
                <a:solidFill>
                  <a:srgbClr val="073763"/>
                </a:solidFill>
                <a:latin typeface="Maven Pro"/>
                <a:ea typeface="Maven Pro"/>
                <a:cs typeface="Maven Pro"/>
                <a:sym typeface="Maven Pro"/>
              </a:rPr>
              <a:t>collaboration continue</a:t>
            </a:r>
            <a:r>
              <a:rPr lang="en-GB" sz="1200">
                <a:solidFill>
                  <a:srgbClr val="073763"/>
                </a:solidFill>
                <a:latin typeface="Maven Pro"/>
                <a:ea typeface="Maven Pro"/>
                <a:cs typeface="Maven Pro"/>
                <a:sym typeface="Maven Pro"/>
              </a:rPr>
              <a:t>.</a:t>
            </a:r>
            <a:endParaRPr sz="1200">
              <a:solidFill>
                <a:srgbClr val="073763"/>
              </a:solidFill>
              <a:latin typeface="Maven Pro"/>
              <a:ea typeface="Maven Pro"/>
              <a:cs typeface="Maven Pro"/>
              <a:sym typeface="Maven Pro"/>
            </a:endParaRPr>
          </a:p>
        </p:txBody>
      </p:sp>
      <p:sp>
        <p:nvSpPr>
          <p:cNvPr id="87" name="Google Shape;8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3" name="Google Shape;93;p1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DevOps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Principes de DevOps</a:t>
            </a:r>
            <a:endParaRPr sz="2000">
              <a:solidFill>
                <a:srgbClr val="073763"/>
              </a:solidFill>
              <a:latin typeface="Maven Pro"/>
              <a:ea typeface="Maven Pro"/>
              <a:cs typeface="Maven Pro"/>
              <a:sym typeface="Maven Pro"/>
            </a:endParaRPr>
          </a:p>
        </p:txBody>
      </p:sp>
      <p:pic>
        <p:nvPicPr>
          <p:cNvPr id="94" name="Google Shape;94;p1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95" name="Google Shape;95;p18"/>
          <p:cNvSpPr txBox="1"/>
          <p:nvPr/>
        </p:nvSpPr>
        <p:spPr>
          <a:xfrm>
            <a:off x="777150" y="1595800"/>
            <a:ext cx="7589700" cy="2308800"/>
          </a:xfrm>
          <a:prstGeom prst="rect">
            <a:avLst/>
          </a:prstGeom>
          <a:noFill/>
          <a:ln>
            <a:noFill/>
          </a:ln>
        </p:spPr>
        <p:txBody>
          <a:bodyPr anchorCtr="0" anchor="t" bIns="91425" lIns="91425" spcFirstLastPara="1" rIns="91425" wrap="square" tIns="91425">
            <a:spAutoFit/>
          </a:bodyPr>
          <a:lstStyle/>
          <a:p>
            <a:pPr indent="-304800" lvl="0" marL="457200" marR="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Culture de collaboration :</a:t>
            </a:r>
            <a:r>
              <a:rPr lang="en-GB" sz="1200">
                <a:solidFill>
                  <a:srgbClr val="073763"/>
                </a:solidFill>
                <a:latin typeface="Maven Pro"/>
                <a:ea typeface="Maven Pro"/>
                <a:cs typeface="Maven Pro"/>
                <a:sym typeface="Maven Pro"/>
              </a:rPr>
              <a:t> Encourager une communication ouverte et une responsabilité partagée entre les équipes.</a:t>
            </a:r>
            <a:endParaRPr sz="1200">
              <a:solidFill>
                <a:srgbClr val="073763"/>
              </a:solidFill>
              <a:latin typeface="Maven Pro"/>
              <a:ea typeface="Maven Pro"/>
              <a:cs typeface="Maven Pro"/>
              <a:sym typeface="Maven Pro"/>
            </a:endParaRPr>
          </a:p>
          <a:p>
            <a:pPr indent="-304800" lvl="0" marL="457200" marR="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Automatisation :</a:t>
            </a:r>
            <a:r>
              <a:rPr lang="en-GB" sz="1200">
                <a:solidFill>
                  <a:srgbClr val="073763"/>
                </a:solidFill>
                <a:latin typeface="Maven Pro"/>
                <a:ea typeface="Maven Pro"/>
                <a:cs typeface="Maven Pro"/>
                <a:sym typeface="Maven Pro"/>
              </a:rPr>
              <a:t> Réduire les tâches répétitives et minimiser les erreurs humaines (CI/CD, tests automatiques, infrastructure as code).</a:t>
            </a:r>
            <a:endParaRPr sz="1200">
              <a:solidFill>
                <a:srgbClr val="073763"/>
              </a:solidFill>
              <a:latin typeface="Maven Pro"/>
              <a:ea typeface="Maven Pro"/>
              <a:cs typeface="Maven Pro"/>
              <a:sym typeface="Maven Pro"/>
            </a:endParaRPr>
          </a:p>
          <a:p>
            <a:pPr indent="-304800" lvl="0" marL="457200" marR="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Intégration continue et déploiement continu (CI/CD) :</a:t>
            </a:r>
            <a:r>
              <a:rPr lang="en-GB" sz="1200">
                <a:solidFill>
                  <a:srgbClr val="073763"/>
                </a:solidFill>
                <a:latin typeface="Maven Pro"/>
                <a:ea typeface="Maven Pro"/>
                <a:cs typeface="Maven Pro"/>
                <a:sym typeface="Maven Pro"/>
              </a:rPr>
              <a:t> Intégrer régulièrement les changements de code et les déployer rapidement.</a:t>
            </a:r>
            <a:endParaRPr sz="1200">
              <a:solidFill>
                <a:srgbClr val="073763"/>
              </a:solidFill>
              <a:latin typeface="Maven Pro"/>
              <a:ea typeface="Maven Pro"/>
              <a:cs typeface="Maven Pro"/>
              <a:sym typeface="Maven Pro"/>
            </a:endParaRPr>
          </a:p>
          <a:p>
            <a:pPr indent="-304800" lvl="0" marL="457200" marR="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Mesure et suivi :</a:t>
            </a:r>
            <a:r>
              <a:rPr lang="en-GB" sz="1200">
                <a:solidFill>
                  <a:srgbClr val="073763"/>
                </a:solidFill>
                <a:latin typeface="Maven Pro"/>
                <a:ea typeface="Maven Pro"/>
                <a:cs typeface="Maven Pro"/>
                <a:sym typeface="Maven Pro"/>
              </a:rPr>
              <a:t> Mettre en place des outils de monitoring pour améliorer la qualité des services.</a:t>
            </a:r>
            <a:endParaRPr sz="1200">
              <a:solidFill>
                <a:srgbClr val="073763"/>
              </a:solidFill>
              <a:latin typeface="Maven Pro"/>
              <a:ea typeface="Maven Pro"/>
              <a:cs typeface="Maven Pro"/>
              <a:sym typeface="Maven Pro"/>
            </a:endParaRPr>
          </a:p>
          <a:p>
            <a:pPr indent="-304800" lvl="0" marL="457200" marR="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Amélioration continue :</a:t>
            </a:r>
            <a:r>
              <a:rPr lang="en-GB" sz="1200">
                <a:solidFill>
                  <a:srgbClr val="073763"/>
                </a:solidFill>
                <a:latin typeface="Maven Pro"/>
                <a:ea typeface="Maven Pro"/>
                <a:cs typeface="Maven Pro"/>
                <a:sym typeface="Maven Pro"/>
              </a:rPr>
              <a:t> Toujours chercher à optimiser les processus.</a:t>
            </a:r>
            <a:endParaRPr sz="1200">
              <a:solidFill>
                <a:srgbClr val="073763"/>
              </a:solidFill>
              <a:latin typeface="Maven Pro"/>
              <a:ea typeface="Maven Pro"/>
              <a:cs typeface="Maven Pro"/>
              <a:sym typeface="Maven Pro"/>
            </a:endParaRPr>
          </a:p>
        </p:txBody>
      </p:sp>
      <p:sp>
        <p:nvSpPr>
          <p:cNvPr id="96" name="Google Shape;9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02" name="Google Shape;102;p1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DevOps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Cycle de vie</a:t>
            </a:r>
            <a:endParaRPr sz="2000">
              <a:solidFill>
                <a:srgbClr val="073763"/>
              </a:solidFill>
              <a:latin typeface="Maven Pro"/>
              <a:ea typeface="Maven Pro"/>
              <a:cs typeface="Maven Pro"/>
              <a:sym typeface="Maven Pro"/>
            </a:endParaRPr>
          </a:p>
        </p:txBody>
      </p:sp>
      <p:pic>
        <p:nvPicPr>
          <p:cNvPr id="103" name="Google Shape;103;p19"/>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04" name="Google Shape;104;p19"/>
          <p:cNvPicPr preferRelativeResize="0"/>
          <p:nvPr/>
        </p:nvPicPr>
        <p:blipFill>
          <a:blip r:embed="rId4">
            <a:alphaModFix/>
          </a:blip>
          <a:stretch>
            <a:fillRect/>
          </a:stretch>
        </p:blipFill>
        <p:spPr>
          <a:xfrm>
            <a:off x="944438" y="1256799"/>
            <a:ext cx="7254975" cy="3733525"/>
          </a:xfrm>
          <a:prstGeom prst="rect">
            <a:avLst/>
          </a:prstGeom>
          <a:noFill/>
          <a:ln>
            <a:noFill/>
          </a:ln>
        </p:spPr>
      </p:pic>
      <p:sp>
        <p:nvSpPr>
          <p:cNvPr id="105" name="Google Shape;105;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11" name="Google Shape;111;p2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DevOps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Piliers fondamentaux</a:t>
            </a:r>
            <a:endParaRPr sz="2000">
              <a:solidFill>
                <a:srgbClr val="073763"/>
              </a:solidFill>
              <a:latin typeface="Maven Pro"/>
              <a:ea typeface="Maven Pro"/>
              <a:cs typeface="Maven Pro"/>
              <a:sym typeface="Maven Pro"/>
            </a:endParaRPr>
          </a:p>
        </p:txBody>
      </p:sp>
      <p:pic>
        <p:nvPicPr>
          <p:cNvPr id="112" name="Google Shape;112;p20"/>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13" name="Google Shape;113;p20"/>
          <p:cNvPicPr preferRelativeResize="0"/>
          <p:nvPr/>
        </p:nvPicPr>
        <p:blipFill>
          <a:blip r:embed="rId4">
            <a:alphaModFix/>
          </a:blip>
          <a:stretch>
            <a:fillRect/>
          </a:stretch>
        </p:blipFill>
        <p:spPr>
          <a:xfrm>
            <a:off x="2471401" y="885825"/>
            <a:ext cx="4201175" cy="3945299"/>
          </a:xfrm>
          <a:prstGeom prst="rect">
            <a:avLst/>
          </a:prstGeom>
          <a:noFill/>
          <a:ln>
            <a:noFill/>
          </a:ln>
        </p:spPr>
      </p:pic>
      <p:sp>
        <p:nvSpPr>
          <p:cNvPr id="114" name="Google Shape;11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20" name="Google Shape;120;p2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DevOps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Piliers fondamentaux</a:t>
            </a:r>
            <a:endParaRPr sz="2000">
              <a:solidFill>
                <a:srgbClr val="073763"/>
              </a:solidFill>
              <a:latin typeface="Maven Pro"/>
              <a:ea typeface="Maven Pro"/>
              <a:cs typeface="Maven Pro"/>
              <a:sym typeface="Maven Pro"/>
            </a:endParaRPr>
          </a:p>
        </p:txBody>
      </p:sp>
      <p:pic>
        <p:nvPicPr>
          <p:cNvPr id="121" name="Google Shape;121;p21"/>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22" name="Google Shape;122;p21"/>
          <p:cNvPicPr preferRelativeResize="0"/>
          <p:nvPr/>
        </p:nvPicPr>
        <p:blipFill>
          <a:blip r:embed="rId4">
            <a:alphaModFix/>
          </a:blip>
          <a:stretch>
            <a:fillRect/>
          </a:stretch>
        </p:blipFill>
        <p:spPr>
          <a:xfrm>
            <a:off x="2471401" y="885825"/>
            <a:ext cx="4201175" cy="3945299"/>
          </a:xfrm>
          <a:prstGeom prst="rect">
            <a:avLst/>
          </a:prstGeom>
          <a:noFill/>
          <a:ln>
            <a:noFill/>
          </a:ln>
        </p:spPr>
      </p:pic>
      <p:sp>
        <p:nvSpPr>
          <p:cNvPr id="123" name="Google Shape;123;p21"/>
          <p:cNvSpPr txBox="1"/>
          <p:nvPr/>
        </p:nvSpPr>
        <p:spPr>
          <a:xfrm>
            <a:off x="5472450" y="1019125"/>
            <a:ext cx="3000000" cy="946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rgbClr val="274E13"/>
              </a:buClr>
              <a:buSzPts val="1500"/>
              <a:buFont typeface="Nunito"/>
              <a:buChar char="●"/>
            </a:pPr>
            <a:r>
              <a:rPr b="1" lang="en-GB" sz="1500">
                <a:solidFill>
                  <a:srgbClr val="274E13"/>
                </a:solidFill>
                <a:latin typeface="Nunito"/>
                <a:ea typeface="Nunito"/>
                <a:cs typeface="Nunito"/>
                <a:sym typeface="Nunito"/>
              </a:rPr>
              <a:t>Collaboration</a:t>
            </a:r>
            <a:endParaRPr b="1" sz="1500">
              <a:solidFill>
                <a:srgbClr val="274E13"/>
              </a:solidFill>
              <a:latin typeface="Nunito"/>
              <a:ea typeface="Nunito"/>
              <a:cs typeface="Nunito"/>
              <a:sym typeface="Nunito"/>
            </a:endParaRPr>
          </a:p>
          <a:p>
            <a:pPr indent="-323850" lvl="0" marL="457200" rtl="0" algn="l">
              <a:lnSpc>
                <a:spcPct val="115000"/>
              </a:lnSpc>
              <a:spcBef>
                <a:spcPts val="0"/>
              </a:spcBef>
              <a:spcAft>
                <a:spcPts val="0"/>
              </a:spcAft>
              <a:buClr>
                <a:srgbClr val="274E13"/>
              </a:buClr>
              <a:buSzPts val="1500"/>
              <a:buFont typeface="Nunito"/>
              <a:buChar char="●"/>
            </a:pPr>
            <a:r>
              <a:rPr b="1" lang="en-GB" sz="1500">
                <a:solidFill>
                  <a:srgbClr val="274E13"/>
                </a:solidFill>
                <a:latin typeface="Nunito"/>
                <a:ea typeface="Nunito"/>
                <a:cs typeface="Nunito"/>
                <a:sym typeface="Nunito"/>
              </a:rPr>
              <a:t>Culture</a:t>
            </a:r>
            <a:endParaRPr b="1" sz="1500">
              <a:solidFill>
                <a:srgbClr val="274E13"/>
              </a:solidFill>
              <a:latin typeface="Nunito"/>
              <a:ea typeface="Nunito"/>
              <a:cs typeface="Nunito"/>
              <a:sym typeface="Nunito"/>
            </a:endParaRPr>
          </a:p>
          <a:p>
            <a:pPr indent="-323850" lvl="0" marL="457200" rtl="0" algn="l">
              <a:lnSpc>
                <a:spcPct val="115000"/>
              </a:lnSpc>
              <a:spcBef>
                <a:spcPts val="0"/>
              </a:spcBef>
              <a:spcAft>
                <a:spcPts val="0"/>
              </a:spcAft>
              <a:buClr>
                <a:srgbClr val="274E13"/>
              </a:buClr>
              <a:buSzPts val="1500"/>
              <a:buFont typeface="Nunito"/>
              <a:buChar char="●"/>
            </a:pPr>
            <a:r>
              <a:rPr b="1" lang="en-GB" sz="1500">
                <a:solidFill>
                  <a:srgbClr val="274E13"/>
                </a:solidFill>
                <a:latin typeface="Nunito"/>
                <a:ea typeface="Nunito"/>
                <a:cs typeface="Nunito"/>
                <a:sym typeface="Nunito"/>
              </a:rPr>
              <a:t>Compétences et formation</a:t>
            </a:r>
            <a:endParaRPr b="1" sz="1500">
              <a:solidFill>
                <a:srgbClr val="274E13"/>
              </a:solidFill>
              <a:latin typeface="Nunito"/>
              <a:ea typeface="Nunito"/>
              <a:cs typeface="Nunito"/>
              <a:sym typeface="Nunito"/>
            </a:endParaRPr>
          </a:p>
        </p:txBody>
      </p:sp>
      <p:sp>
        <p:nvSpPr>
          <p:cNvPr id="124" name="Google Shape;12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30" name="Google Shape;130;p2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DevOps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Piliers fondamentaux</a:t>
            </a:r>
            <a:endParaRPr sz="2000">
              <a:solidFill>
                <a:srgbClr val="073763"/>
              </a:solidFill>
              <a:latin typeface="Maven Pro"/>
              <a:ea typeface="Maven Pro"/>
              <a:cs typeface="Maven Pro"/>
              <a:sym typeface="Maven Pro"/>
            </a:endParaRPr>
          </a:p>
        </p:txBody>
      </p:sp>
      <p:pic>
        <p:nvPicPr>
          <p:cNvPr id="131" name="Google Shape;131;p22"/>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32" name="Google Shape;132;p22"/>
          <p:cNvPicPr preferRelativeResize="0"/>
          <p:nvPr/>
        </p:nvPicPr>
        <p:blipFill>
          <a:blip r:embed="rId4">
            <a:alphaModFix/>
          </a:blip>
          <a:stretch>
            <a:fillRect/>
          </a:stretch>
        </p:blipFill>
        <p:spPr>
          <a:xfrm>
            <a:off x="2471401" y="885825"/>
            <a:ext cx="4201175" cy="3945299"/>
          </a:xfrm>
          <a:prstGeom prst="rect">
            <a:avLst/>
          </a:prstGeom>
          <a:noFill/>
          <a:ln>
            <a:noFill/>
          </a:ln>
        </p:spPr>
      </p:pic>
      <p:sp>
        <p:nvSpPr>
          <p:cNvPr id="133" name="Google Shape;133;p22"/>
          <p:cNvSpPr txBox="1"/>
          <p:nvPr/>
        </p:nvSpPr>
        <p:spPr>
          <a:xfrm>
            <a:off x="-76275" y="3067825"/>
            <a:ext cx="2646000" cy="946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rgbClr val="7F6000"/>
              </a:buClr>
              <a:buSzPts val="1500"/>
              <a:buFont typeface="Nunito"/>
              <a:buChar char="●"/>
            </a:pPr>
            <a:r>
              <a:rPr b="1" lang="en-GB" sz="1500">
                <a:solidFill>
                  <a:srgbClr val="7F6000"/>
                </a:solidFill>
                <a:latin typeface="Nunito"/>
                <a:ea typeface="Nunito"/>
                <a:cs typeface="Nunito"/>
                <a:sym typeface="Nunito"/>
              </a:rPr>
              <a:t>Automatisation</a:t>
            </a:r>
            <a:endParaRPr b="1" sz="1500">
              <a:solidFill>
                <a:srgbClr val="7F6000"/>
              </a:solidFill>
              <a:latin typeface="Nunito"/>
              <a:ea typeface="Nunito"/>
              <a:cs typeface="Nunito"/>
              <a:sym typeface="Nunito"/>
            </a:endParaRPr>
          </a:p>
          <a:p>
            <a:pPr indent="-323850" lvl="0" marL="457200" rtl="0" algn="l">
              <a:lnSpc>
                <a:spcPct val="115000"/>
              </a:lnSpc>
              <a:spcBef>
                <a:spcPts val="0"/>
              </a:spcBef>
              <a:spcAft>
                <a:spcPts val="0"/>
              </a:spcAft>
              <a:buClr>
                <a:srgbClr val="7F6000"/>
              </a:buClr>
              <a:buSzPts val="1500"/>
              <a:buFont typeface="Nunito"/>
              <a:buChar char="●"/>
            </a:pPr>
            <a:r>
              <a:rPr b="1" lang="en-GB" sz="1500">
                <a:solidFill>
                  <a:srgbClr val="7F6000"/>
                </a:solidFill>
                <a:latin typeface="Nunito"/>
                <a:ea typeface="Nunito"/>
                <a:cs typeface="Nunito"/>
                <a:sym typeface="Nunito"/>
              </a:rPr>
              <a:t>Amélioration continue</a:t>
            </a:r>
            <a:endParaRPr b="1" sz="1500">
              <a:solidFill>
                <a:srgbClr val="7F6000"/>
              </a:solidFill>
              <a:latin typeface="Nunito"/>
              <a:ea typeface="Nunito"/>
              <a:cs typeface="Nunito"/>
              <a:sym typeface="Nunito"/>
            </a:endParaRPr>
          </a:p>
          <a:p>
            <a:pPr indent="-323850" lvl="0" marL="457200" rtl="0" algn="l">
              <a:lnSpc>
                <a:spcPct val="115000"/>
              </a:lnSpc>
              <a:spcBef>
                <a:spcPts val="0"/>
              </a:spcBef>
              <a:spcAft>
                <a:spcPts val="0"/>
              </a:spcAft>
              <a:buClr>
                <a:srgbClr val="7F6000"/>
              </a:buClr>
              <a:buSzPts val="1500"/>
              <a:buFont typeface="Nunito"/>
              <a:buChar char="●"/>
            </a:pPr>
            <a:r>
              <a:rPr b="1" lang="en-GB" sz="1500">
                <a:solidFill>
                  <a:srgbClr val="7F6000"/>
                </a:solidFill>
                <a:latin typeface="Nunito"/>
                <a:ea typeface="Nunito"/>
                <a:cs typeface="Nunito"/>
                <a:sym typeface="Nunito"/>
              </a:rPr>
              <a:t>Méthodologie agiles</a:t>
            </a:r>
            <a:endParaRPr b="1" sz="1500">
              <a:solidFill>
                <a:srgbClr val="7F6000"/>
              </a:solidFill>
              <a:latin typeface="Nunito"/>
              <a:ea typeface="Nunito"/>
              <a:cs typeface="Nunito"/>
              <a:sym typeface="Nunito"/>
            </a:endParaRPr>
          </a:p>
        </p:txBody>
      </p:sp>
      <p:sp>
        <p:nvSpPr>
          <p:cNvPr id="134" name="Google Shape;134;p22"/>
          <p:cNvSpPr txBox="1"/>
          <p:nvPr/>
        </p:nvSpPr>
        <p:spPr>
          <a:xfrm>
            <a:off x="5472450" y="1019125"/>
            <a:ext cx="3000000" cy="946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rgbClr val="274E13"/>
              </a:buClr>
              <a:buSzPts val="1500"/>
              <a:buFont typeface="Nunito"/>
              <a:buChar char="●"/>
            </a:pPr>
            <a:r>
              <a:rPr b="1" lang="en-GB" sz="1500">
                <a:solidFill>
                  <a:srgbClr val="274E13"/>
                </a:solidFill>
                <a:latin typeface="Nunito"/>
                <a:ea typeface="Nunito"/>
                <a:cs typeface="Nunito"/>
                <a:sym typeface="Nunito"/>
              </a:rPr>
              <a:t>Collaboration</a:t>
            </a:r>
            <a:endParaRPr b="1" sz="1500">
              <a:solidFill>
                <a:srgbClr val="274E13"/>
              </a:solidFill>
              <a:latin typeface="Nunito"/>
              <a:ea typeface="Nunito"/>
              <a:cs typeface="Nunito"/>
              <a:sym typeface="Nunito"/>
            </a:endParaRPr>
          </a:p>
          <a:p>
            <a:pPr indent="-323850" lvl="0" marL="457200" rtl="0" algn="l">
              <a:lnSpc>
                <a:spcPct val="115000"/>
              </a:lnSpc>
              <a:spcBef>
                <a:spcPts val="0"/>
              </a:spcBef>
              <a:spcAft>
                <a:spcPts val="0"/>
              </a:spcAft>
              <a:buClr>
                <a:srgbClr val="274E13"/>
              </a:buClr>
              <a:buSzPts val="1500"/>
              <a:buFont typeface="Nunito"/>
              <a:buChar char="●"/>
            </a:pPr>
            <a:r>
              <a:rPr b="1" lang="en-GB" sz="1500">
                <a:solidFill>
                  <a:srgbClr val="274E13"/>
                </a:solidFill>
                <a:latin typeface="Nunito"/>
                <a:ea typeface="Nunito"/>
                <a:cs typeface="Nunito"/>
                <a:sym typeface="Nunito"/>
              </a:rPr>
              <a:t>Culture</a:t>
            </a:r>
            <a:endParaRPr b="1" sz="1500">
              <a:solidFill>
                <a:srgbClr val="274E13"/>
              </a:solidFill>
              <a:latin typeface="Nunito"/>
              <a:ea typeface="Nunito"/>
              <a:cs typeface="Nunito"/>
              <a:sym typeface="Nunito"/>
            </a:endParaRPr>
          </a:p>
          <a:p>
            <a:pPr indent="-323850" lvl="0" marL="457200" rtl="0" algn="l">
              <a:lnSpc>
                <a:spcPct val="115000"/>
              </a:lnSpc>
              <a:spcBef>
                <a:spcPts val="0"/>
              </a:spcBef>
              <a:spcAft>
                <a:spcPts val="0"/>
              </a:spcAft>
              <a:buClr>
                <a:srgbClr val="274E13"/>
              </a:buClr>
              <a:buSzPts val="1500"/>
              <a:buFont typeface="Nunito"/>
              <a:buChar char="●"/>
            </a:pPr>
            <a:r>
              <a:rPr b="1" lang="en-GB" sz="1500">
                <a:solidFill>
                  <a:srgbClr val="274E13"/>
                </a:solidFill>
                <a:latin typeface="Nunito"/>
                <a:ea typeface="Nunito"/>
                <a:cs typeface="Nunito"/>
                <a:sym typeface="Nunito"/>
              </a:rPr>
              <a:t>Compétences et formation</a:t>
            </a:r>
            <a:endParaRPr b="1" sz="1500">
              <a:solidFill>
                <a:srgbClr val="274E13"/>
              </a:solidFill>
              <a:latin typeface="Nunito"/>
              <a:ea typeface="Nunito"/>
              <a:cs typeface="Nunito"/>
              <a:sym typeface="Nunito"/>
            </a:endParaRPr>
          </a:p>
        </p:txBody>
      </p:sp>
      <p:sp>
        <p:nvSpPr>
          <p:cNvPr id="135" name="Google Shape;13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41" name="Google Shape;141;p2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DevOps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Piliers fondamentaux</a:t>
            </a:r>
            <a:endParaRPr sz="2000">
              <a:solidFill>
                <a:srgbClr val="073763"/>
              </a:solidFill>
              <a:latin typeface="Maven Pro"/>
              <a:ea typeface="Maven Pro"/>
              <a:cs typeface="Maven Pro"/>
              <a:sym typeface="Maven Pro"/>
            </a:endParaRPr>
          </a:p>
        </p:txBody>
      </p:sp>
      <p:pic>
        <p:nvPicPr>
          <p:cNvPr id="142" name="Google Shape;142;p23"/>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43" name="Google Shape;143;p23"/>
          <p:cNvPicPr preferRelativeResize="0"/>
          <p:nvPr/>
        </p:nvPicPr>
        <p:blipFill>
          <a:blip r:embed="rId4">
            <a:alphaModFix/>
          </a:blip>
          <a:stretch>
            <a:fillRect/>
          </a:stretch>
        </p:blipFill>
        <p:spPr>
          <a:xfrm>
            <a:off x="2471401" y="885825"/>
            <a:ext cx="4201175" cy="3945299"/>
          </a:xfrm>
          <a:prstGeom prst="rect">
            <a:avLst/>
          </a:prstGeom>
          <a:noFill/>
          <a:ln>
            <a:noFill/>
          </a:ln>
        </p:spPr>
      </p:pic>
      <p:sp>
        <p:nvSpPr>
          <p:cNvPr id="144" name="Google Shape;144;p23"/>
          <p:cNvSpPr txBox="1"/>
          <p:nvPr/>
        </p:nvSpPr>
        <p:spPr>
          <a:xfrm>
            <a:off x="6454450" y="3103050"/>
            <a:ext cx="3000000" cy="8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rgbClr val="4C1130"/>
              </a:buClr>
              <a:buSzPts val="1400"/>
              <a:buFont typeface="Nunito"/>
              <a:buChar char="●"/>
            </a:pPr>
            <a:r>
              <a:rPr b="1" lang="en-GB">
                <a:solidFill>
                  <a:srgbClr val="4C1130"/>
                </a:solidFill>
                <a:latin typeface="Nunito"/>
                <a:ea typeface="Nunito"/>
                <a:cs typeface="Nunito"/>
                <a:sym typeface="Nunito"/>
              </a:rPr>
              <a:t>Outils d’Automatisation</a:t>
            </a:r>
            <a:endParaRPr b="1">
              <a:solidFill>
                <a:srgbClr val="4C1130"/>
              </a:solidFill>
              <a:latin typeface="Nunito"/>
              <a:ea typeface="Nunito"/>
              <a:cs typeface="Nunito"/>
              <a:sym typeface="Nunito"/>
            </a:endParaRPr>
          </a:p>
          <a:p>
            <a:pPr indent="-317500" lvl="0" marL="457200" rtl="0" algn="l">
              <a:lnSpc>
                <a:spcPct val="115000"/>
              </a:lnSpc>
              <a:spcBef>
                <a:spcPts val="0"/>
              </a:spcBef>
              <a:spcAft>
                <a:spcPts val="0"/>
              </a:spcAft>
              <a:buClr>
                <a:srgbClr val="4C1130"/>
              </a:buClr>
              <a:buSzPts val="1400"/>
              <a:buFont typeface="Nunito"/>
              <a:buChar char="●"/>
            </a:pPr>
            <a:r>
              <a:rPr b="1" lang="en-GB">
                <a:solidFill>
                  <a:srgbClr val="4C1130"/>
                </a:solidFill>
                <a:latin typeface="Nunito"/>
                <a:ea typeface="Nunito"/>
                <a:cs typeface="Nunito"/>
                <a:sym typeface="Nunito"/>
              </a:rPr>
              <a:t>Surveillance et Feedback</a:t>
            </a:r>
            <a:endParaRPr b="1">
              <a:solidFill>
                <a:srgbClr val="4C1130"/>
              </a:solidFill>
              <a:latin typeface="Nunito"/>
              <a:ea typeface="Nunito"/>
              <a:cs typeface="Nunito"/>
              <a:sym typeface="Nunito"/>
            </a:endParaRPr>
          </a:p>
          <a:p>
            <a:pPr indent="-317500" lvl="0" marL="457200" rtl="0" algn="l">
              <a:lnSpc>
                <a:spcPct val="115000"/>
              </a:lnSpc>
              <a:spcBef>
                <a:spcPts val="0"/>
              </a:spcBef>
              <a:spcAft>
                <a:spcPts val="0"/>
              </a:spcAft>
              <a:buClr>
                <a:srgbClr val="4C1130"/>
              </a:buClr>
              <a:buSzPts val="1400"/>
              <a:buFont typeface="Nunito"/>
              <a:buChar char="●"/>
            </a:pPr>
            <a:r>
              <a:rPr b="1" lang="en-GB">
                <a:solidFill>
                  <a:srgbClr val="4C1130"/>
                </a:solidFill>
                <a:latin typeface="Nunito"/>
                <a:ea typeface="Nunito"/>
                <a:cs typeface="Nunito"/>
                <a:sym typeface="Nunito"/>
              </a:rPr>
              <a:t>Scalabilité et résilience</a:t>
            </a:r>
            <a:endParaRPr b="1">
              <a:solidFill>
                <a:srgbClr val="4C1130"/>
              </a:solidFill>
              <a:latin typeface="Nunito"/>
              <a:ea typeface="Nunito"/>
              <a:cs typeface="Nunito"/>
              <a:sym typeface="Nunito"/>
            </a:endParaRPr>
          </a:p>
        </p:txBody>
      </p:sp>
      <p:sp>
        <p:nvSpPr>
          <p:cNvPr id="145" name="Google Shape;145;p23"/>
          <p:cNvSpPr txBox="1"/>
          <p:nvPr/>
        </p:nvSpPr>
        <p:spPr>
          <a:xfrm>
            <a:off x="-76275" y="3067825"/>
            <a:ext cx="2646000" cy="946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rgbClr val="7F6000"/>
              </a:buClr>
              <a:buSzPts val="1500"/>
              <a:buFont typeface="Nunito"/>
              <a:buChar char="●"/>
            </a:pPr>
            <a:r>
              <a:rPr b="1" lang="en-GB" sz="1500">
                <a:solidFill>
                  <a:srgbClr val="7F6000"/>
                </a:solidFill>
                <a:latin typeface="Nunito"/>
                <a:ea typeface="Nunito"/>
                <a:cs typeface="Nunito"/>
                <a:sym typeface="Nunito"/>
              </a:rPr>
              <a:t>Automatisation</a:t>
            </a:r>
            <a:endParaRPr b="1" sz="1500">
              <a:solidFill>
                <a:srgbClr val="7F6000"/>
              </a:solidFill>
              <a:latin typeface="Nunito"/>
              <a:ea typeface="Nunito"/>
              <a:cs typeface="Nunito"/>
              <a:sym typeface="Nunito"/>
            </a:endParaRPr>
          </a:p>
          <a:p>
            <a:pPr indent="-323850" lvl="0" marL="457200" rtl="0" algn="l">
              <a:lnSpc>
                <a:spcPct val="115000"/>
              </a:lnSpc>
              <a:spcBef>
                <a:spcPts val="0"/>
              </a:spcBef>
              <a:spcAft>
                <a:spcPts val="0"/>
              </a:spcAft>
              <a:buClr>
                <a:srgbClr val="7F6000"/>
              </a:buClr>
              <a:buSzPts val="1500"/>
              <a:buFont typeface="Nunito"/>
              <a:buChar char="●"/>
            </a:pPr>
            <a:r>
              <a:rPr b="1" lang="en-GB" sz="1500">
                <a:solidFill>
                  <a:srgbClr val="7F6000"/>
                </a:solidFill>
                <a:latin typeface="Nunito"/>
                <a:ea typeface="Nunito"/>
                <a:cs typeface="Nunito"/>
                <a:sym typeface="Nunito"/>
              </a:rPr>
              <a:t>Amélioration continue</a:t>
            </a:r>
            <a:endParaRPr b="1" sz="1500">
              <a:solidFill>
                <a:srgbClr val="7F6000"/>
              </a:solidFill>
              <a:latin typeface="Nunito"/>
              <a:ea typeface="Nunito"/>
              <a:cs typeface="Nunito"/>
              <a:sym typeface="Nunito"/>
            </a:endParaRPr>
          </a:p>
          <a:p>
            <a:pPr indent="-323850" lvl="0" marL="457200" rtl="0" algn="l">
              <a:lnSpc>
                <a:spcPct val="115000"/>
              </a:lnSpc>
              <a:spcBef>
                <a:spcPts val="0"/>
              </a:spcBef>
              <a:spcAft>
                <a:spcPts val="0"/>
              </a:spcAft>
              <a:buClr>
                <a:srgbClr val="7F6000"/>
              </a:buClr>
              <a:buSzPts val="1500"/>
              <a:buFont typeface="Nunito"/>
              <a:buChar char="●"/>
            </a:pPr>
            <a:r>
              <a:rPr b="1" lang="en-GB" sz="1500">
                <a:solidFill>
                  <a:srgbClr val="7F6000"/>
                </a:solidFill>
                <a:latin typeface="Nunito"/>
                <a:ea typeface="Nunito"/>
                <a:cs typeface="Nunito"/>
                <a:sym typeface="Nunito"/>
              </a:rPr>
              <a:t>Méthodologie agiles</a:t>
            </a:r>
            <a:endParaRPr b="1" sz="1500">
              <a:solidFill>
                <a:srgbClr val="7F6000"/>
              </a:solidFill>
              <a:latin typeface="Nunito"/>
              <a:ea typeface="Nunito"/>
              <a:cs typeface="Nunito"/>
              <a:sym typeface="Nunito"/>
            </a:endParaRPr>
          </a:p>
        </p:txBody>
      </p:sp>
      <p:sp>
        <p:nvSpPr>
          <p:cNvPr id="146" name="Google Shape;146;p23"/>
          <p:cNvSpPr txBox="1"/>
          <p:nvPr/>
        </p:nvSpPr>
        <p:spPr>
          <a:xfrm>
            <a:off x="5472450" y="1019125"/>
            <a:ext cx="3000000" cy="9465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rgbClr val="274E13"/>
              </a:buClr>
              <a:buSzPts val="1500"/>
              <a:buFont typeface="Nunito"/>
              <a:buChar char="●"/>
            </a:pPr>
            <a:r>
              <a:rPr b="1" lang="en-GB" sz="1500">
                <a:solidFill>
                  <a:srgbClr val="274E13"/>
                </a:solidFill>
                <a:latin typeface="Nunito"/>
                <a:ea typeface="Nunito"/>
                <a:cs typeface="Nunito"/>
                <a:sym typeface="Nunito"/>
              </a:rPr>
              <a:t>Collaboration</a:t>
            </a:r>
            <a:endParaRPr b="1" sz="1500">
              <a:solidFill>
                <a:srgbClr val="274E13"/>
              </a:solidFill>
              <a:latin typeface="Nunito"/>
              <a:ea typeface="Nunito"/>
              <a:cs typeface="Nunito"/>
              <a:sym typeface="Nunito"/>
            </a:endParaRPr>
          </a:p>
          <a:p>
            <a:pPr indent="-323850" lvl="0" marL="457200" rtl="0" algn="l">
              <a:lnSpc>
                <a:spcPct val="115000"/>
              </a:lnSpc>
              <a:spcBef>
                <a:spcPts val="0"/>
              </a:spcBef>
              <a:spcAft>
                <a:spcPts val="0"/>
              </a:spcAft>
              <a:buClr>
                <a:srgbClr val="274E13"/>
              </a:buClr>
              <a:buSzPts val="1500"/>
              <a:buFont typeface="Nunito"/>
              <a:buChar char="●"/>
            </a:pPr>
            <a:r>
              <a:rPr b="1" lang="en-GB" sz="1500">
                <a:solidFill>
                  <a:srgbClr val="274E13"/>
                </a:solidFill>
                <a:latin typeface="Nunito"/>
                <a:ea typeface="Nunito"/>
                <a:cs typeface="Nunito"/>
                <a:sym typeface="Nunito"/>
              </a:rPr>
              <a:t>Culture</a:t>
            </a:r>
            <a:endParaRPr b="1" sz="1500">
              <a:solidFill>
                <a:srgbClr val="274E13"/>
              </a:solidFill>
              <a:latin typeface="Nunito"/>
              <a:ea typeface="Nunito"/>
              <a:cs typeface="Nunito"/>
              <a:sym typeface="Nunito"/>
            </a:endParaRPr>
          </a:p>
          <a:p>
            <a:pPr indent="-323850" lvl="0" marL="457200" rtl="0" algn="l">
              <a:lnSpc>
                <a:spcPct val="115000"/>
              </a:lnSpc>
              <a:spcBef>
                <a:spcPts val="0"/>
              </a:spcBef>
              <a:spcAft>
                <a:spcPts val="0"/>
              </a:spcAft>
              <a:buClr>
                <a:srgbClr val="274E13"/>
              </a:buClr>
              <a:buSzPts val="1500"/>
              <a:buFont typeface="Nunito"/>
              <a:buChar char="●"/>
            </a:pPr>
            <a:r>
              <a:rPr b="1" lang="en-GB" sz="1500">
                <a:solidFill>
                  <a:srgbClr val="274E13"/>
                </a:solidFill>
                <a:latin typeface="Nunito"/>
                <a:ea typeface="Nunito"/>
                <a:cs typeface="Nunito"/>
                <a:sym typeface="Nunito"/>
              </a:rPr>
              <a:t>Compétences et formation</a:t>
            </a:r>
            <a:endParaRPr b="1" sz="1500">
              <a:solidFill>
                <a:srgbClr val="274E13"/>
              </a:solidFill>
              <a:latin typeface="Nunito"/>
              <a:ea typeface="Nunito"/>
              <a:cs typeface="Nunito"/>
              <a:sym typeface="Nunito"/>
            </a:endParaRPr>
          </a:p>
        </p:txBody>
      </p:sp>
      <p:sp>
        <p:nvSpPr>
          <p:cNvPr id="147" name="Google Shape;14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53" name="Google Shape;153;p2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DevOps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Bénéfices et Défis</a:t>
            </a:r>
            <a:endParaRPr sz="2000">
              <a:solidFill>
                <a:srgbClr val="073763"/>
              </a:solidFill>
              <a:latin typeface="Maven Pro"/>
              <a:ea typeface="Maven Pro"/>
              <a:cs typeface="Maven Pro"/>
              <a:sym typeface="Maven Pro"/>
            </a:endParaRPr>
          </a:p>
        </p:txBody>
      </p:sp>
      <p:pic>
        <p:nvPicPr>
          <p:cNvPr id="154" name="Google Shape;154;p2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55" name="Google Shape;155;p24"/>
          <p:cNvSpPr txBox="1"/>
          <p:nvPr/>
        </p:nvSpPr>
        <p:spPr>
          <a:xfrm>
            <a:off x="777150" y="1298625"/>
            <a:ext cx="7589700" cy="1477500"/>
          </a:xfrm>
          <a:prstGeom prst="rect">
            <a:avLst/>
          </a:prstGeom>
          <a:noFill/>
          <a:ln>
            <a:noFill/>
          </a:ln>
        </p:spPr>
        <p:txBody>
          <a:bodyPr anchorCtr="0" anchor="t" bIns="91425" lIns="91425" spcFirstLastPara="1" rIns="91425" wrap="square" tIns="91425">
            <a:spAutoFit/>
          </a:bodyPr>
          <a:lstStyle/>
          <a:p>
            <a:pPr indent="-304800" lvl="0" marL="45720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Livraison plus rapide :</a:t>
            </a:r>
            <a:r>
              <a:rPr lang="en-GB" sz="1100">
                <a:solidFill>
                  <a:schemeClr val="dk1"/>
                </a:solidFill>
              </a:rPr>
              <a:t> </a:t>
            </a:r>
            <a:r>
              <a:rPr lang="en-GB" sz="1200">
                <a:solidFill>
                  <a:srgbClr val="073763"/>
                </a:solidFill>
                <a:latin typeface="Maven Pro"/>
                <a:ea typeface="Maven Pro"/>
                <a:cs typeface="Maven Pro"/>
                <a:sym typeface="Maven Pro"/>
              </a:rPr>
              <a:t>Réduction du temps entre l'idée et la mise en production.</a:t>
            </a:r>
            <a:endParaRPr sz="1200">
              <a:solidFill>
                <a:srgbClr val="073763"/>
              </a:solidFill>
              <a:latin typeface="Maven Pro"/>
              <a:ea typeface="Maven Pro"/>
              <a:cs typeface="Maven Pro"/>
              <a:sym typeface="Maven Pro"/>
            </a:endParaRPr>
          </a:p>
          <a:p>
            <a:pPr indent="-304800" lvl="0" marL="45720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Qualité accrue :</a:t>
            </a:r>
            <a:r>
              <a:rPr lang="en-GB" sz="1200">
                <a:solidFill>
                  <a:srgbClr val="073763"/>
                </a:solidFill>
                <a:latin typeface="Maven Pro"/>
                <a:ea typeface="Maven Pro"/>
                <a:cs typeface="Maven Pro"/>
                <a:sym typeface="Maven Pro"/>
              </a:rPr>
              <a:t> Moins de bugs grâce aux tests automatisés.</a:t>
            </a:r>
            <a:endParaRPr sz="1200">
              <a:solidFill>
                <a:srgbClr val="073763"/>
              </a:solidFill>
              <a:latin typeface="Maven Pro"/>
              <a:ea typeface="Maven Pro"/>
              <a:cs typeface="Maven Pro"/>
              <a:sym typeface="Maven Pro"/>
            </a:endParaRPr>
          </a:p>
          <a:p>
            <a:pPr indent="-304800" lvl="0" marL="45720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Fiabilité :</a:t>
            </a:r>
            <a:r>
              <a:rPr lang="en-GB" sz="1200">
                <a:solidFill>
                  <a:srgbClr val="073763"/>
                </a:solidFill>
                <a:latin typeface="Maven Pro"/>
                <a:ea typeface="Maven Pro"/>
                <a:cs typeface="Maven Pro"/>
                <a:sym typeface="Maven Pro"/>
              </a:rPr>
              <a:t> Des déploiements fréquents et sécurisés.</a:t>
            </a:r>
            <a:endParaRPr sz="1200">
              <a:solidFill>
                <a:srgbClr val="073763"/>
              </a:solidFill>
              <a:latin typeface="Maven Pro"/>
              <a:ea typeface="Maven Pro"/>
              <a:cs typeface="Maven Pro"/>
              <a:sym typeface="Maven Pro"/>
            </a:endParaRPr>
          </a:p>
          <a:p>
            <a:pPr indent="-304800" lvl="0" marL="45720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Coût réduit :</a:t>
            </a:r>
            <a:r>
              <a:rPr lang="en-GB" sz="1200">
                <a:solidFill>
                  <a:srgbClr val="073763"/>
                </a:solidFill>
                <a:latin typeface="Maven Pro"/>
                <a:ea typeface="Maven Pro"/>
                <a:cs typeface="Maven Pro"/>
                <a:sym typeface="Maven Pro"/>
              </a:rPr>
              <a:t> Automatisation et amélioration des processus opérationnels.</a:t>
            </a:r>
            <a:endParaRPr sz="1200">
              <a:solidFill>
                <a:srgbClr val="073763"/>
              </a:solidFill>
              <a:latin typeface="Maven Pro"/>
              <a:ea typeface="Maven Pro"/>
              <a:cs typeface="Maven Pro"/>
              <a:sym typeface="Maven Pro"/>
            </a:endParaRPr>
          </a:p>
          <a:p>
            <a:pPr indent="-304800" lvl="0" marL="45720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Flexibilité :</a:t>
            </a:r>
            <a:r>
              <a:rPr lang="en-GB" sz="1200">
                <a:solidFill>
                  <a:srgbClr val="073763"/>
                </a:solidFill>
                <a:latin typeface="Maven Pro"/>
                <a:ea typeface="Maven Pro"/>
                <a:cs typeface="Maven Pro"/>
                <a:sym typeface="Maven Pro"/>
              </a:rPr>
              <a:t> Adaptation rapide aux changements de marché ou aux nouvelles technologies.</a:t>
            </a:r>
            <a:endParaRPr sz="1200">
              <a:solidFill>
                <a:srgbClr val="073763"/>
              </a:solidFill>
              <a:latin typeface="Maven Pro"/>
              <a:ea typeface="Maven Pro"/>
              <a:cs typeface="Maven Pro"/>
              <a:sym typeface="Maven Pro"/>
            </a:endParaRPr>
          </a:p>
        </p:txBody>
      </p:sp>
      <p:sp>
        <p:nvSpPr>
          <p:cNvPr id="156" name="Google Shape;156;p24"/>
          <p:cNvSpPr txBox="1"/>
          <p:nvPr/>
        </p:nvSpPr>
        <p:spPr>
          <a:xfrm>
            <a:off x="777150" y="3188400"/>
            <a:ext cx="7589700" cy="923400"/>
          </a:xfrm>
          <a:prstGeom prst="rect">
            <a:avLst/>
          </a:prstGeom>
          <a:noFill/>
          <a:ln>
            <a:noFill/>
          </a:ln>
        </p:spPr>
        <p:txBody>
          <a:bodyPr anchorCtr="0" anchor="t" bIns="91425" lIns="91425" spcFirstLastPara="1" rIns="91425" wrap="square" tIns="91425">
            <a:spAutoFit/>
          </a:bodyPr>
          <a:lstStyle/>
          <a:p>
            <a:pPr indent="-304800" lvl="0" marL="457200" marR="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Changement culturel : </a:t>
            </a:r>
            <a:r>
              <a:rPr lang="en-GB" sz="1200">
                <a:solidFill>
                  <a:srgbClr val="073763"/>
                </a:solidFill>
                <a:latin typeface="Maven Pro"/>
                <a:ea typeface="Maven Pro"/>
                <a:cs typeface="Maven Pro"/>
                <a:sym typeface="Maven Pro"/>
              </a:rPr>
              <a:t>Briser les silos peut être difficile.</a:t>
            </a:r>
            <a:endParaRPr sz="1200">
              <a:solidFill>
                <a:srgbClr val="073763"/>
              </a:solidFill>
              <a:latin typeface="Maven Pro"/>
              <a:ea typeface="Maven Pro"/>
              <a:cs typeface="Maven Pro"/>
              <a:sym typeface="Maven Pro"/>
            </a:endParaRPr>
          </a:p>
          <a:p>
            <a:pPr indent="-304800" lvl="0" marL="457200" marR="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Complexité : </a:t>
            </a:r>
            <a:r>
              <a:rPr lang="en-GB" sz="1200">
                <a:solidFill>
                  <a:srgbClr val="073763"/>
                </a:solidFill>
                <a:latin typeface="Maven Pro"/>
                <a:ea typeface="Maven Pro"/>
                <a:cs typeface="Maven Pro"/>
                <a:sym typeface="Maven Pro"/>
              </a:rPr>
              <a:t>Les outils et processus DevOps nécessitent un apprentissage approfondi.</a:t>
            </a:r>
            <a:endParaRPr sz="1200">
              <a:solidFill>
                <a:srgbClr val="073763"/>
              </a:solidFill>
              <a:latin typeface="Maven Pro"/>
              <a:ea typeface="Maven Pro"/>
              <a:cs typeface="Maven Pro"/>
              <a:sym typeface="Maven Pro"/>
            </a:endParaRPr>
          </a:p>
          <a:p>
            <a:pPr indent="-304800" lvl="0" marL="457200" marR="0" rtl="0" algn="just">
              <a:lnSpc>
                <a:spcPct val="150000"/>
              </a:lnSpc>
              <a:spcBef>
                <a:spcPts val="0"/>
              </a:spcBef>
              <a:spcAft>
                <a:spcPts val="0"/>
              </a:spcAft>
              <a:buClr>
                <a:srgbClr val="073763"/>
              </a:buClr>
              <a:buSzPts val="1200"/>
              <a:buFont typeface="Maven Pro"/>
              <a:buChar char="●"/>
            </a:pPr>
            <a:r>
              <a:rPr b="1" lang="en-GB" sz="1200">
                <a:solidFill>
                  <a:srgbClr val="073763"/>
                </a:solidFill>
                <a:latin typeface="Maven Pro"/>
                <a:ea typeface="Maven Pro"/>
                <a:cs typeface="Maven Pro"/>
                <a:sym typeface="Maven Pro"/>
              </a:rPr>
              <a:t>Résistance au changement : </a:t>
            </a:r>
            <a:r>
              <a:rPr lang="en-GB" sz="1200">
                <a:solidFill>
                  <a:srgbClr val="073763"/>
                </a:solidFill>
                <a:latin typeface="Maven Pro"/>
                <a:ea typeface="Maven Pro"/>
                <a:cs typeface="Maven Pro"/>
                <a:sym typeface="Maven Pro"/>
              </a:rPr>
              <a:t>Les équipes traditionnelles peuvent être réticentes.</a:t>
            </a:r>
            <a:endParaRPr sz="1200">
              <a:solidFill>
                <a:srgbClr val="073763"/>
              </a:solidFill>
              <a:latin typeface="Maven Pro"/>
              <a:ea typeface="Maven Pro"/>
              <a:cs typeface="Maven Pro"/>
              <a:sym typeface="Maven Pro"/>
            </a:endParaRPr>
          </a:p>
        </p:txBody>
      </p:sp>
      <p:sp>
        <p:nvSpPr>
          <p:cNvPr id="157" name="Google Shape;15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p:nvPr/>
        </p:nvSpPr>
        <p:spPr>
          <a:xfrm>
            <a:off x="-75" y="0"/>
            <a:ext cx="9144000" cy="5143500"/>
          </a:xfrm>
          <a:prstGeom prst="rect">
            <a:avLst/>
          </a:prstGeom>
          <a:solidFill>
            <a:srgbClr val="E5F2FC"/>
          </a:solidFill>
          <a:ln cap="flat" cmpd="sng" w="9525">
            <a:solidFill>
              <a:srgbClr val="E6E5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5"/>
          <p:cNvSpPr txBox="1"/>
          <p:nvPr/>
        </p:nvSpPr>
        <p:spPr>
          <a:xfrm>
            <a:off x="461450" y="882300"/>
            <a:ext cx="54375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7000">
                <a:solidFill>
                  <a:srgbClr val="1D63ED"/>
                </a:solidFill>
                <a:latin typeface="Nunito"/>
                <a:ea typeface="Nunito"/>
                <a:cs typeface="Nunito"/>
                <a:sym typeface="Nunito"/>
              </a:rPr>
              <a:t>Genèse</a:t>
            </a:r>
            <a:endParaRPr b="1" sz="7000">
              <a:solidFill>
                <a:srgbClr val="1D63ED"/>
              </a:solidFill>
              <a:latin typeface="Nunito"/>
              <a:ea typeface="Nunito"/>
              <a:cs typeface="Nunito"/>
              <a:sym typeface="Nunito"/>
            </a:endParaRPr>
          </a:p>
          <a:p>
            <a:pPr indent="0" lvl="0" marL="0" rtl="0" algn="l">
              <a:spcBef>
                <a:spcPts val="0"/>
              </a:spcBef>
              <a:spcAft>
                <a:spcPts val="0"/>
              </a:spcAft>
              <a:buNone/>
            </a:pPr>
            <a:r>
              <a:rPr b="1" lang="en-GB" sz="7000">
                <a:solidFill>
                  <a:srgbClr val="1D63ED"/>
                </a:solidFill>
                <a:latin typeface="Nunito"/>
                <a:ea typeface="Nunito"/>
                <a:cs typeface="Nunito"/>
                <a:sym typeface="Nunito"/>
              </a:rPr>
              <a:t>DevOps</a:t>
            </a:r>
            <a:endParaRPr b="1" sz="7000">
              <a:solidFill>
                <a:srgbClr val="1D63ED"/>
              </a:solidFill>
              <a:latin typeface="Nunito"/>
              <a:ea typeface="Nunito"/>
              <a:cs typeface="Nunito"/>
              <a:sym typeface="Nunito"/>
            </a:endParaRPr>
          </a:p>
        </p:txBody>
      </p:sp>
      <p:sp>
        <p:nvSpPr>
          <p:cNvPr id="164" name="Google Shape;16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70" name="Google Shape;170;p2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1D63ED"/>
                </a:solidFill>
                <a:latin typeface="Maven Pro"/>
                <a:ea typeface="Maven Pro"/>
                <a:cs typeface="Maven Pro"/>
                <a:sym typeface="Maven Pro"/>
              </a:rPr>
              <a:t>La Genèse de DevOps</a:t>
            </a:r>
            <a:endParaRPr sz="1500">
              <a:solidFill>
                <a:srgbClr val="1D63ED"/>
              </a:solidFill>
              <a:latin typeface="Maven Pro"/>
              <a:ea typeface="Maven Pro"/>
              <a:cs typeface="Maven Pro"/>
              <a:sym typeface="Maven Pro"/>
            </a:endParaRPr>
          </a:p>
          <a:p>
            <a:pPr indent="0" lvl="0" marL="0" rtl="0" algn="l">
              <a:spcBef>
                <a:spcPts val="0"/>
              </a:spcBef>
              <a:spcAft>
                <a:spcPts val="0"/>
              </a:spcAft>
              <a:buNone/>
            </a:pPr>
            <a:r>
              <a:rPr b="1" lang="en-GB" sz="2000">
                <a:solidFill>
                  <a:srgbClr val="1D63ED"/>
                </a:solidFill>
                <a:latin typeface="Maven Pro"/>
                <a:ea typeface="Maven Pro"/>
                <a:cs typeface="Maven Pro"/>
                <a:sym typeface="Maven Pro"/>
              </a:rPr>
              <a:t>Introduction</a:t>
            </a:r>
            <a:endParaRPr sz="2000">
              <a:solidFill>
                <a:srgbClr val="1D63ED"/>
              </a:solidFill>
              <a:latin typeface="Maven Pro"/>
              <a:ea typeface="Maven Pro"/>
              <a:cs typeface="Maven Pro"/>
              <a:sym typeface="Maven Pro"/>
            </a:endParaRPr>
          </a:p>
        </p:txBody>
      </p:sp>
      <p:pic>
        <p:nvPicPr>
          <p:cNvPr id="171" name="Google Shape;171;p2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2" name="Google Shape;172;p26"/>
          <p:cNvSpPr txBox="1"/>
          <p:nvPr/>
        </p:nvSpPr>
        <p:spPr>
          <a:xfrm>
            <a:off x="777150" y="1298625"/>
            <a:ext cx="7589700" cy="923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1000"/>
              </a:spcAft>
              <a:buNone/>
            </a:pPr>
            <a:r>
              <a:rPr lang="en-GB" sz="1200">
                <a:solidFill>
                  <a:srgbClr val="00084D"/>
                </a:solidFill>
                <a:latin typeface="Maven Pro"/>
                <a:ea typeface="Maven Pro"/>
                <a:cs typeface="Maven Pro"/>
                <a:sym typeface="Maven Pro"/>
              </a:rPr>
              <a:t>La genèse de DevOps remonte aux défis rencontrés dans les méthodologies traditionnelles de développement et de gestion des opérations informatiques, notamment les approches en cascade (waterfall). Voici les étapes théoriques qui ont conduit à l'émergence de DevOps :</a:t>
            </a:r>
            <a:endParaRPr sz="1200">
              <a:solidFill>
                <a:srgbClr val="00084D"/>
              </a:solidFill>
              <a:latin typeface="Maven Pro"/>
              <a:ea typeface="Maven Pro"/>
              <a:cs typeface="Maven Pro"/>
              <a:sym typeface="Maven Pro"/>
            </a:endParaRPr>
          </a:p>
        </p:txBody>
      </p:sp>
      <p:sp>
        <p:nvSpPr>
          <p:cNvPr id="173" name="Google Shape;17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79" name="Google Shape;179;p27"/>
          <p:cNvSpPr txBox="1"/>
          <p:nvPr/>
        </p:nvSpPr>
        <p:spPr>
          <a:xfrm>
            <a:off x="548400" y="446150"/>
            <a:ext cx="69963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1D63ED"/>
                </a:solidFill>
                <a:latin typeface="Maven Pro"/>
                <a:ea typeface="Maven Pro"/>
                <a:cs typeface="Maven Pro"/>
                <a:sym typeface="Maven Pro"/>
              </a:rPr>
              <a:t>La Genèse de DevOps</a:t>
            </a:r>
            <a:endParaRPr sz="1500">
              <a:solidFill>
                <a:srgbClr val="1D63ED"/>
              </a:solidFill>
              <a:latin typeface="Maven Pro"/>
              <a:ea typeface="Maven Pro"/>
              <a:cs typeface="Maven Pro"/>
              <a:sym typeface="Maven Pro"/>
            </a:endParaRPr>
          </a:p>
          <a:p>
            <a:pPr indent="0" lvl="0" marL="0" rtl="0" algn="l">
              <a:spcBef>
                <a:spcPts val="0"/>
              </a:spcBef>
              <a:spcAft>
                <a:spcPts val="0"/>
              </a:spcAft>
              <a:buNone/>
            </a:pPr>
            <a:r>
              <a:rPr b="1" lang="en-GB" sz="2000">
                <a:solidFill>
                  <a:srgbClr val="1D63ED"/>
                </a:solidFill>
                <a:latin typeface="Maven Pro"/>
                <a:ea typeface="Maven Pro"/>
                <a:cs typeface="Maven Pro"/>
                <a:sym typeface="Maven Pro"/>
              </a:rPr>
              <a:t>Contexte des Années 1990 - Développement et Opérations Cloisonnés</a:t>
            </a:r>
            <a:endParaRPr sz="2000">
              <a:solidFill>
                <a:srgbClr val="1D63ED"/>
              </a:solidFill>
              <a:latin typeface="Maven Pro"/>
              <a:ea typeface="Maven Pro"/>
              <a:cs typeface="Maven Pro"/>
              <a:sym typeface="Maven Pro"/>
            </a:endParaRPr>
          </a:p>
        </p:txBody>
      </p:sp>
      <p:pic>
        <p:nvPicPr>
          <p:cNvPr id="180" name="Google Shape;180;p2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81" name="Google Shape;181;p27"/>
          <p:cNvSpPr txBox="1"/>
          <p:nvPr/>
        </p:nvSpPr>
        <p:spPr>
          <a:xfrm>
            <a:off x="777150" y="1477550"/>
            <a:ext cx="7589700" cy="3268200"/>
          </a:xfrm>
          <a:prstGeom prst="rect">
            <a:avLst/>
          </a:prstGeom>
          <a:noFill/>
          <a:ln>
            <a:noFill/>
          </a:ln>
        </p:spPr>
        <p:txBody>
          <a:bodyPr anchorCtr="0" anchor="t" bIns="91425" lIns="91425" spcFirstLastPara="1" rIns="91425" wrap="square" tIns="91425">
            <a:spAutoFit/>
          </a:bodyPr>
          <a:lstStyle/>
          <a:p>
            <a:pPr indent="-304800" lvl="0" marL="457200" marR="0" rtl="0" algn="just">
              <a:lnSpc>
                <a:spcPct val="150000"/>
              </a:lnSpc>
              <a:spcBef>
                <a:spcPts val="0"/>
              </a:spcBef>
              <a:spcAft>
                <a:spcPts val="0"/>
              </a:spcAft>
              <a:buClr>
                <a:srgbClr val="00084D"/>
              </a:buClr>
              <a:buSzPts val="1200"/>
              <a:buFont typeface="Maven Pro"/>
              <a:buChar char="●"/>
            </a:pPr>
            <a:r>
              <a:rPr b="1" lang="en-GB" sz="1200">
                <a:solidFill>
                  <a:srgbClr val="00084D"/>
                </a:solidFill>
                <a:latin typeface="Maven Pro"/>
                <a:ea typeface="Maven Pro"/>
                <a:cs typeface="Maven Pro"/>
                <a:sym typeface="Maven Pro"/>
              </a:rPr>
              <a:t>Méthodologie en cascade (Waterfall) :</a:t>
            </a:r>
            <a:br>
              <a:rPr lang="en-GB" sz="1200">
                <a:solidFill>
                  <a:srgbClr val="00084D"/>
                </a:solidFill>
                <a:latin typeface="Maven Pro"/>
                <a:ea typeface="Maven Pro"/>
                <a:cs typeface="Maven Pro"/>
                <a:sym typeface="Maven Pro"/>
              </a:rPr>
            </a:br>
            <a:r>
              <a:rPr lang="en-GB" sz="1200">
                <a:solidFill>
                  <a:srgbClr val="00084D"/>
                </a:solidFill>
                <a:latin typeface="Maven Pro"/>
                <a:ea typeface="Maven Pro"/>
                <a:cs typeface="Maven Pro"/>
                <a:sym typeface="Maven Pro"/>
              </a:rPr>
              <a:t>Les projets étaient divisés en phases linéaires : conception, développement, test et déploiement. Chaque étape devait être terminée avant de passer à la suivante.</a:t>
            </a:r>
            <a:endParaRPr sz="1200">
              <a:solidFill>
                <a:srgbClr val="00084D"/>
              </a:solidFill>
              <a:latin typeface="Maven Pro"/>
              <a:ea typeface="Maven Pro"/>
              <a:cs typeface="Maven Pro"/>
              <a:sym typeface="Maven Pro"/>
            </a:endParaRPr>
          </a:p>
          <a:p>
            <a:pPr indent="-304800" lvl="1" marL="914400" marR="0" rtl="0" algn="just">
              <a:lnSpc>
                <a:spcPct val="150000"/>
              </a:lnSpc>
              <a:spcBef>
                <a:spcPts val="0"/>
              </a:spcBef>
              <a:spcAft>
                <a:spcPts val="0"/>
              </a:spcAft>
              <a:buClr>
                <a:srgbClr val="00084D"/>
              </a:buClr>
              <a:buSzPts val="1200"/>
              <a:buFont typeface="Maven Pro"/>
              <a:buChar char="○"/>
            </a:pPr>
            <a:r>
              <a:rPr lang="en-GB" sz="1200">
                <a:solidFill>
                  <a:srgbClr val="00084D"/>
                </a:solidFill>
                <a:latin typeface="Maven Pro Medium"/>
                <a:ea typeface="Maven Pro Medium"/>
                <a:cs typeface="Maven Pro Medium"/>
                <a:sym typeface="Maven Pro Medium"/>
              </a:rPr>
              <a:t>Inconvénients :</a:t>
            </a:r>
            <a:endParaRPr sz="1200">
              <a:solidFill>
                <a:srgbClr val="00084D"/>
              </a:solidFill>
              <a:latin typeface="Maven Pro Medium"/>
              <a:ea typeface="Maven Pro Medium"/>
              <a:cs typeface="Maven Pro Medium"/>
              <a:sym typeface="Maven Pro Medium"/>
            </a:endParaRPr>
          </a:p>
          <a:p>
            <a:pPr indent="-304800" lvl="2" marL="1371600" marR="0" rtl="0" algn="just">
              <a:lnSpc>
                <a:spcPct val="15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Délais importants entre le développement et la mise en production.</a:t>
            </a:r>
            <a:endParaRPr sz="1200">
              <a:solidFill>
                <a:srgbClr val="00084D"/>
              </a:solidFill>
              <a:latin typeface="Maven Pro"/>
              <a:ea typeface="Maven Pro"/>
              <a:cs typeface="Maven Pro"/>
              <a:sym typeface="Maven Pro"/>
            </a:endParaRPr>
          </a:p>
          <a:p>
            <a:pPr indent="-304800" lvl="2" marL="1371600" marR="0" rtl="0" algn="just">
              <a:lnSpc>
                <a:spcPct val="15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Manque de collaboration entre équipes.</a:t>
            </a:r>
            <a:endParaRPr sz="1200">
              <a:solidFill>
                <a:srgbClr val="00084D"/>
              </a:solidFill>
              <a:latin typeface="Maven Pro"/>
              <a:ea typeface="Maven Pro"/>
              <a:cs typeface="Maven Pro"/>
              <a:sym typeface="Maven Pro"/>
            </a:endParaRPr>
          </a:p>
          <a:p>
            <a:pPr indent="-304800" lvl="2" marL="1371600" marR="0" rtl="0" algn="just">
              <a:lnSpc>
                <a:spcPct val="15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Difficulté à intégrer des changements en cours de projet.</a:t>
            </a:r>
            <a:endParaRPr sz="1200">
              <a:solidFill>
                <a:srgbClr val="00084D"/>
              </a:solidFill>
              <a:latin typeface="Maven Pro"/>
              <a:ea typeface="Maven Pro"/>
              <a:cs typeface="Maven Pro"/>
              <a:sym typeface="Maven Pro"/>
            </a:endParaRPr>
          </a:p>
          <a:p>
            <a:pPr indent="-304800" lvl="0" marL="457200" marR="0" rtl="0" algn="just">
              <a:lnSpc>
                <a:spcPct val="150000"/>
              </a:lnSpc>
              <a:spcBef>
                <a:spcPts val="0"/>
              </a:spcBef>
              <a:spcAft>
                <a:spcPts val="0"/>
              </a:spcAft>
              <a:buClr>
                <a:srgbClr val="00084D"/>
              </a:buClr>
              <a:buSzPts val="1200"/>
              <a:buFont typeface="Maven Pro"/>
              <a:buChar char="●"/>
            </a:pPr>
            <a:r>
              <a:rPr b="1" lang="en-GB" sz="1200">
                <a:solidFill>
                  <a:srgbClr val="00084D"/>
                </a:solidFill>
                <a:latin typeface="Maven Pro"/>
                <a:ea typeface="Maven Pro"/>
                <a:cs typeface="Maven Pro"/>
                <a:sym typeface="Maven Pro"/>
              </a:rPr>
              <a:t>Approches traditionnelles des opérations :</a:t>
            </a:r>
            <a:br>
              <a:rPr lang="en-GB" sz="1200">
                <a:solidFill>
                  <a:srgbClr val="00084D"/>
                </a:solidFill>
                <a:latin typeface="Maven Pro"/>
                <a:ea typeface="Maven Pro"/>
                <a:cs typeface="Maven Pro"/>
                <a:sym typeface="Maven Pro"/>
              </a:rPr>
            </a:br>
            <a:r>
              <a:rPr lang="en-GB" sz="1200">
                <a:solidFill>
                  <a:srgbClr val="00084D"/>
                </a:solidFill>
                <a:latin typeface="Maven Pro"/>
                <a:ea typeface="Maven Pro"/>
                <a:cs typeface="Maven Pro"/>
                <a:sym typeface="Maven Pro"/>
              </a:rPr>
              <a:t>Les équipes d'opérations étaient focalisées sur </a:t>
            </a:r>
            <a:r>
              <a:rPr lang="en-GB" sz="1200">
                <a:solidFill>
                  <a:srgbClr val="00084D"/>
                </a:solidFill>
                <a:latin typeface="Maven Pro SemiBold"/>
                <a:ea typeface="Maven Pro SemiBold"/>
                <a:cs typeface="Maven Pro SemiBold"/>
                <a:sym typeface="Maven Pro SemiBold"/>
              </a:rPr>
              <a:t>la stabilité</a:t>
            </a:r>
            <a:r>
              <a:rPr lang="en-GB" sz="1200">
                <a:solidFill>
                  <a:srgbClr val="00084D"/>
                </a:solidFill>
                <a:latin typeface="Maven Pro"/>
                <a:ea typeface="Maven Pro"/>
                <a:cs typeface="Maven Pro"/>
                <a:sym typeface="Maven Pro"/>
              </a:rPr>
              <a:t> et </a:t>
            </a:r>
            <a:r>
              <a:rPr lang="en-GB" sz="1200">
                <a:solidFill>
                  <a:srgbClr val="00084D"/>
                </a:solidFill>
                <a:latin typeface="Maven Pro SemiBold"/>
                <a:ea typeface="Maven Pro SemiBold"/>
                <a:cs typeface="Maven Pro SemiBold"/>
                <a:sym typeface="Maven Pro SemiBold"/>
              </a:rPr>
              <a:t>la fiabilité</a:t>
            </a:r>
            <a:r>
              <a:rPr lang="en-GB" sz="1200">
                <a:solidFill>
                  <a:srgbClr val="00084D"/>
                </a:solidFill>
                <a:latin typeface="Maven Pro"/>
                <a:ea typeface="Maven Pro"/>
                <a:cs typeface="Maven Pro"/>
                <a:sym typeface="Maven Pro"/>
              </a:rPr>
              <a:t> des systèmes, ce qui entrait souvent en conflit avec l'objectif des développeurs de livrer rapidement des fonctionnalités.</a:t>
            </a:r>
            <a:endParaRPr sz="1200">
              <a:solidFill>
                <a:srgbClr val="00084D"/>
              </a:solidFill>
              <a:latin typeface="Maven Pro"/>
              <a:ea typeface="Maven Pro"/>
              <a:cs typeface="Maven Pro"/>
              <a:sym typeface="Maven Pro"/>
            </a:endParaRPr>
          </a:p>
          <a:p>
            <a:pPr indent="0" lvl="0" marL="0" marR="0" rtl="0" algn="just">
              <a:lnSpc>
                <a:spcPct val="150000"/>
              </a:lnSpc>
              <a:spcBef>
                <a:spcPts val="1000"/>
              </a:spcBef>
              <a:spcAft>
                <a:spcPts val="1000"/>
              </a:spcAft>
              <a:buNone/>
            </a:pPr>
            <a:r>
              <a:rPr lang="en-GB" sz="1200">
                <a:solidFill>
                  <a:srgbClr val="00084D"/>
                </a:solidFill>
                <a:latin typeface="Maven Pro"/>
                <a:ea typeface="Maven Pro"/>
                <a:cs typeface="Maven Pro"/>
                <a:sym typeface="Maven Pro"/>
              </a:rPr>
              <a:t>Ce cloisonnement créait des </a:t>
            </a:r>
            <a:r>
              <a:rPr b="1" lang="en-GB" sz="1200">
                <a:solidFill>
                  <a:srgbClr val="00084D"/>
                </a:solidFill>
                <a:latin typeface="Maven Pro"/>
                <a:ea typeface="Maven Pro"/>
                <a:cs typeface="Maven Pro"/>
                <a:sym typeface="Maven Pro"/>
              </a:rPr>
              <a:t>goulets d'étranglement</a:t>
            </a:r>
            <a:r>
              <a:rPr lang="en-GB" sz="1200">
                <a:solidFill>
                  <a:srgbClr val="00084D"/>
                </a:solidFill>
                <a:latin typeface="Maven Pro"/>
                <a:ea typeface="Maven Pro"/>
                <a:cs typeface="Maven Pro"/>
                <a:sym typeface="Maven Pro"/>
              </a:rPr>
              <a:t> et une </a:t>
            </a:r>
            <a:r>
              <a:rPr b="1" lang="en-GB" sz="1200">
                <a:solidFill>
                  <a:srgbClr val="00084D"/>
                </a:solidFill>
                <a:latin typeface="Maven Pro"/>
                <a:ea typeface="Maven Pro"/>
                <a:cs typeface="Maven Pro"/>
                <a:sym typeface="Maven Pro"/>
              </a:rPr>
              <a:t>friction organisationnelle</a:t>
            </a:r>
            <a:r>
              <a:rPr lang="en-GB" sz="1200">
                <a:solidFill>
                  <a:srgbClr val="00084D"/>
                </a:solidFill>
                <a:latin typeface="Maven Pro"/>
                <a:ea typeface="Maven Pro"/>
                <a:cs typeface="Maven Pro"/>
                <a:sym typeface="Maven Pro"/>
              </a:rPr>
              <a:t>.</a:t>
            </a:r>
            <a:endParaRPr sz="1200">
              <a:solidFill>
                <a:srgbClr val="00084D"/>
              </a:solidFill>
              <a:latin typeface="Maven Pro"/>
              <a:ea typeface="Maven Pro"/>
              <a:cs typeface="Maven Pro"/>
              <a:sym typeface="Maven Pro"/>
            </a:endParaRPr>
          </a:p>
        </p:txBody>
      </p:sp>
      <p:sp>
        <p:nvSpPr>
          <p:cNvPr id="182" name="Google Shape;182;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88" name="Google Shape;188;p28"/>
          <p:cNvSpPr txBox="1"/>
          <p:nvPr/>
        </p:nvSpPr>
        <p:spPr>
          <a:xfrm>
            <a:off x="548400" y="446150"/>
            <a:ext cx="69963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1D63ED"/>
                </a:solidFill>
                <a:latin typeface="Maven Pro"/>
                <a:ea typeface="Maven Pro"/>
                <a:cs typeface="Maven Pro"/>
                <a:sym typeface="Maven Pro"/>
              </a:rPr>
              <a:t>La Genèse de DevOps</a:t>
            </a:r>
            <a:endParaRPr sz="1500">
              <a:solidFill>
                <a:srgbClr val="1D63ED"/>
              </a:solidFill>
              <a:latin typeface="Maven Pro"/>
              <a:ea typeface="Maven Pro"/>
              <a:cs typeface="Maven Pro"/>
              <a:sym typeface="Maven Pro"/>
            </a:endParaRPr>
          </a:p>
          <a:p>
            <a:pPr indent="0" lvl="0" marL="0" rtl="0" algn="l">
              <a:spcBef>
                <a:spcPts val="0"/>
              </a:spcBef>
              <a:spcAft>
                <a:spcPts val="0"/>
              </a:spcAft>
              <a:buNone/>
            </a:pPr>
            <a:r>
              <a:rPr b="1" lang="en-GB" sz="2000">
                <a:solidFill>
                  <a:srgbClr val="1D63ED"/>
                </a:solidFill>
                <a:latin typeface="Maven Pro"/>
                <a:ea typeface="Maven Pro"/>
                <a:cs typeface="Maven Pro"/>
                <a:sym typeface="Maven Pro"/>
              </a:rPr>
              <a:t>Montée en Puissance des Méthodes Agiles (Début des Années 2000)</a:t>
            </a:r>
            <a:endParaRPr sz="2000">
              <a:solidFill>
                <a:srgbClr val="1D63ED"/>
              </a:solidFill>
              <a:latin typeface="Maven Pro"/>
              <a:ea typeface="Maven Pro"/>
              <a:cs typeface="Maven Pro"/>
              <a:sym typeface="Maven Pro"/>
            </a:endParaRPr>
          </a:p>
        </p:txBody>
      </p:sp>
      <p:pic>
        <p:nvPicPr>
          <p:cNvPr id="189" name="Google Shape;189;p2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90" name="Google Shape;190;p28"/>
          <p:cNvSpPr txBox="1"/>
          <p:nvPr/>
        </p:nvSpPr>
        <p:spPr>
          <a:xfrm>
            <a:off x="777150" y="1477550"/>
            <a:ext cx="7589700" cy="2714100"/>
          </a:xfrm>
          <a:prstGeom prst="rect">
            <a:avLst/>
          </a:prstGeom>
          <a:noFill/>
          <a:ln>
            <a:noFill/>
          </a:ln>
        </p:spPr>
        <p:txBody>
          <a:bodyPr anchorCtr="0" anchor="t" bIns="91425" lIns="91425" spcFirstLastPara="1" rIns="91425" wrap="square" tIns="91425">
            <a:spAutoFit/>
          </a:bodyPr>
          <a:lstStyle/>
          <a:p>
            <a:pPr indent="-304800" lvl="0" marL="457200" marR="0" rtl="0" algn="just">
              <a:lnSpc>
                <a:spcPct val="150000"/>
              </a:lnSpc>
              <a:spcBef>
                <a:spcPts val="0"/>
              </a:spcBef>
              <a:spcAft>
                <a:spcPts val="0"/>
              </a:spcAft>
              <a:buClr>
                <a:srgbClr val="00084D"/>
              </a:buClr>
              <a:buSzPts val="1200"/>
              <a:buFont typeface="Maven Pro"/>
              <a:buChar char="●"/>
            </a:pPr>
            <a:r>
              <a:rPr b="1" lang="en-GB" sz="1200">
                <a:solidFill>
                  <a:srgbClr val="00084D"/>
                </a:solidFill>
                <a:latin typeface="Maven Pro"/>
                <a:ea typeface="Maven Pro"/>
                <a:cs typeface="Maven Pro"/>
                <a:sym typeface="Maven Pro"/>
              </a:rPr>
              <a:t>Manifeste Agile (2001) :</a:t>
            </a:r>
            <a:br>
              <a:rPr lang="en-GB" sz="1200">
                <a:solidFill>
                  <a:srgbClr val="00084D"/>
                </a:solidFill>
                <a:latin typeface="Maven Pro"/>
                <a:ea typeface="Maven Pro"/>
                <a:cs typeface="Maven Pro"/>
                <a:sym typeface="Maven Pro"/>
              </a:rPr>
            </a:br>
            <a:r>
              <a:rPr lang="en-GB" sz="1200">
                <a:solidFill>
                  <a:srgbClr val="00084D"/>
                </a:solidFill>
                <a:latin typeface="Maven Pro"/>
                <a:ea typeface="Maven Pro"/>
                <a:cs typeface="Maven Pro"/>
                <a:sym typeface="Maven Pro"/>
              </a:rPr>
              <a:t>Les méthodologies agiles ont introduit des approches itératives et incrémentales pour le développement logiciel.</a:t>
            </a:r>
            <a:endParaRPr sz="1200">
              <a:solidFill>
                <a:srgbClr val="00084D"/>
              </a:solidFill>
              <a:latin typeface="Maven Pro"/>
              <a:ea typeface="Maven Pro"/>
              <a:cs typeface="Maven Pro"/>
              <a:sym typeface="Maven Pro"/>
            </a:endParaRPr>
          </a:p>
          <a:p>
            <a:pPr indent="-304800" lvl="1" marL="914400" marR="0" rtl="0" algn="just">
              <a:lnSpc>
                <a:spcPct val="150000"/>
              </a:lnSpc>
              <a:spcBef>
                <a:spcPts val="0"/>
              </a:spcBef>
              <a:spcAft>
                <a:spcPts val="0"/>
              </a:spcAft>
              <a:buClr>
                <a:srgbClr val="00084D"/>
              </a:buClr>
              <a:buSzPts val="1200"/>
              <a:buFont typeface="Maven Pro"/>
              <a:buChar char="○"/>
            </a:pPr>
            <a:r>
              <a:rPr lang="en-GB" sz="1200">
                <a:solidFill>
                  <a:srgbClr val="00084D"/>
                </a:solidFill>
                <a:latin typeface="Maven Pro Medium"/>
                <a:ea typeface="Maven Pro Medium"/>
                <a:cs typeface="Maven Pro Medium"/>
                <a:sym typeface="Maven Pro Medium"/>
              </a:rPr>
              <a:t>Principes</a:t>
            </a:r>
            <a:r>
              <a:rPr lang="en-GB" sz="1200">
                <a:solidFill>
                  <a:srgbClr val="00084D"/>
                </a:solidFill>
                <a:latin typeface="Maven Pro Medium"/>
                <a:ea typeface="Maven Pro Medium"/>
                <a:cs typeface="Maven Pro Medium"/>
                <a:sym typeface="Maven Pro Medium"/>
              </a:rPr>
              <a:t> :</a:t>
            </a:r>
            <a:endParaRPr sz="1200">
              <a:solidFill>
                <a:srgbClr val="00084D"/>
              </a:solidFill>
              <a:latin typeface="Maven Pro Medium"/>
              <a:ea typeface="Maven Pro Medium"/>
              <a:cs typeface="Maven Pro Medium"/>
              <a:sym typeface="Maven Pro Medium"/>
            </a:endParaRPr>
          </a:p>
          <a:p>
            <a:pPr indent="-304800" lvl="2" marL="1371600" marR="0" rtl="0" algn="just">
              <a:lnSpc>
                <a:spcPct val="15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Priorité à la satisfaction du client grâce à des livraisons fréquentes.</a:t>
            </a:r>
            <a:endParaRPr sz="1200">
              <a:solidFill>
                <a:srgbClr val="00084D"/>
              </a:solidFill>
              <a:latin typeface="Maven Pro"/>
              <a:ea typeface="Maven Pro"/>
              <a:cs typeface="Maven Pro"/>
              <a:sym typeface="Maven Pro"/>
            </a:endParaRPr>
          </a:p>
          <a:p>
            <a:pPr indent="-304800" lvl="2" marL="1371600" marR="0" rtl="0" algn="just">
              <a:lnSpc>
                <a:spcPct val="15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Collaboration entre équipes et adaptation au changement</a:t>
            </a:r>
            <a:r>
              <a:rPr lang="en-GB" sz="1200">
                <a:solidFill>
                  <a:srgbClr val="00084D"/>
                </a:solidFill>
                <a:latin typeface="Maven Pro"/>
                <a:ea typeface="Maven Pro"/>
                <a:cs typeface="Maven Pro"/>
                <a:sym typeface="Maven Pro"/>
              </a:rPr>
              <a:t>.</a:t>
            </a:r>
            <a:endParaRPr sz="1200">
              <a:solidFill>
                <a:srgbClr val="00084D"/>
              </a:solidFill>
              <a:latin typeface="Maven Pro"/>
              <a:ea typeface="Maven Pro"/>
              <a:cs typeface="Maven Pro"/>
              <a:sym typeface="Maven Pro"/>
            </a:endParaRPr>
          </a:p>
          <a:p>
            <a:pPr indent="-304800" lvl="2" marL="1371600" marR="0" rtl="0" algn="just">
              <a:lnSpc>
                <a:spcPct val="15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Difficulté à intégrer des changements en cours de projet.</a:t>
            </a:r>
            <a:endParaRPr sz="1200">
              <a:solidFill>
                <a:srgbClr val="00084D"/>
              </a:solidFill>
              <a:latin typeface="Maven Pro"/>
              <a:ea typeface="Maven Pro"/>
              <a:cs typeface="Maven Pro"/>
              <a:sym typeface="Maven Pro"/>
            </a:endParaRPr>
          </a:p>
          <a:p>
            <a:pPr indent="0" lvl="0" marL="0" marR="0" rtl="0" algn="just">
              <a:lnSpc>
                <a:spcPct val="150000"/>
              </a:lnSpc>
              <a:spcBef>
                <a:spcPts val="1000"/>
              </a:spcBef>
              <a:spcAft>
                <a:spcPts val="1000"/>
              </a:spcAft>
              <a:buNone/>
            </a:pPr>
            <a:r>
              <a:rPr lang="en-GB" sz="1200">
                <a:solidFill>
                  <a:srgbClr val="00084D"/>
                </a:solidFill>
                <a:latin typeface="Maven Pro"/>
                <a:ea typeface="Maven Pro"/>
                <a:cs typeface="Maven Pro"/>
                <a:sym typeface="Maven Pro"/>
              </a:rPr>
              <a:t>Cependant, Agile se concentrait principalement sur le développement logiciel, laissant de côté la partie opérationnelle et les déploiements en production, ce qui générait toujours des tensions.</a:t>
            </a:r>
            <a:endParaRPr sz="1200">
              <a:solidFill>
                <a:srgbClr val="00084D"/>
              </a:solidFill>
              <a:latin typeface="Maven Pro"/>
              <a:ea typeface="Maven Pro"/>
              <a:cs typeface="Maven Pro"/>
              <a:sym typeface="Maven Pro"/>
            </a:endParaRPr>
          </a:p>
        </p:txBody>
      </p:sp>
      <p:sp>
        <p:nvSpPr>
          <p:cNvPr id="191" name="Google Shape;19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97" name="Google Shape;197;p2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1D63ED"/>
                </a:solidFill>
                <a:latin typeface="Maven Pro"/>
                <a:ea typeface="Maven Pro"/>
                <a:cs typeface="Maven Pro"/>
                <a:sym typeface="Maven Pro"/>
              </a:rPr>
              <a:t>La Genèse de DevOps</a:t>
            </a:r>
            <a:endParaRPr sz="1500">
              <a:solidFill>
                <a:srgbClr val="1D63ED"/>
              </a:solidFill>
              <a:latin typeface="Maven Pro"/>
              <a:ea typeface="Maven Pro"/>
              <a:cs typeface="Maven Pro"/>
              <a:sym typeface="Maven Pro"/>
            </a:endParaRPr>
          </a:p>
          <a:p>
            <a:pPr indent="0" lvl="0" marL="0" rtl="0" algn="l">
              <a:spcBef>
                <a:spcPts val="0"/>
              </a:spcBef>
              <a:spcAft>
                <a:spcPts val="0"/>
              </a:spcAft>
              <a:buNone/>
            </a:pPr>
            <a:r>
              <a:rPr b="1" lang="en-GB" sz="2000">
                <a:solidFill>
                  <a:srgbClr val="1D63ED"/>
                </a:solidFill>
                <a:latin typeface="Maven Pro"/>
                <a:ea typeface="Maven Pro"/>
                <a:cs typeface="Maven Pro"/>
                <a:sym typeface="Maven Pro"/>
              </a:rPr>
              <a:t>L'Émergence du Besoin de DevOps</a:t>
            </a:r>
            <a:endParaRPr sz="2000">
              <a:solidFill>
                <a:srgbClr val="1D63ED"/>
              </a:solidFill>
              <a:latin typeface="Maven Pro"/>
              <a:ea typeface="Maven Pro"/>
              <a:cs typeface="Maven Pro"/>
              <a:sym typeface="Maven Pro"/>
            </a:endParaRPr>
          </a:p>
        </p:txBody>
      </p:sp>
      <p:pic>
        <p:nvPicPr>
          <p:cNvPr id="198" name="Google Shape;198;p2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99" name="Google Shape;199;p29"/>
          <p:cNvSpPr txBox="1"/>
          <p:nvPr/>
        </p:nvSpPr>
        <p:spPr>
          <a:xfrm>
            <a:off x="777150" y="1477550"/>
            <a:ext cx="7589700" cy="1985700"/>
          </a:xfrm>
          <a:prstGeom prst="rect">
            <a:avLst/>
          </a:prstGeom>
          <a:noFill/>
          <a:ln>
            <a:noFill/>
          </a:ln>
        </p:spPr>
        <p:txBody>
          <a:bodyPr anchorCtr="0" anchor="t" bIns="91425" lIns="91425" spcFirstLastPara="1" rIns="91425" wrap="square" tIns="91425">
            <a:spAutoFit/>
          </a:bodyPr>
          <a:lstStyle/>
          <a:p>
            <a:pPr indent="-304800" lvl="0" marL="457200" marR="0" rtl="0" algn="just">
              <a:lnSpc>
                <a:spcPct val="150000"/>
              </a:lnSpc>
              <a:spcBef>
                <a:spcPts val="0"/>
              </a:spcBef>
              <a:spcAft>
                <a:spcPts val="0"/>
              </a:spcAft>
              <a:buClr>
                <a:srgbClr val="00084D"/>
              </a:buClr>
              <a:buSzPts val="1200"/>
              <a:buFont typeface="Maven Pro"/>
              <a:buChar char="●"/>
            </a:pPr>
            <a:r>
              <a:rPr b="1" lang="en-GB" sz="1200">
                <a:solidFill>
                  <a:srgbClr val="00084D"/>
                </a:solidFill>
                <a:latin typeface="Maven Pro"/>
                <a:ea typeface="Maven Pro"/>
                <a:cs typeface="Maven Pro"/>
                <a:sym typeface="Maven Pro"/>
              </a:rPr>
              <a:t>Problèmes persistants malgré Agile :</a:t>
            </a:r>
            <a:endParaRPr sz="1200">
              <a:solidFill>
                <a:srgbClr val="00084D"/>
              </a:solidFill>
              <a:latin typeface="Maven Pro"/>
              <a:ea typeface="Maven Pro"/>
              <a:cs typeface="Maven Pro"/>
              <a:sym typeface="Maven Pro"/>
            </a:endParaRPr>
          </a:p>
          <a:p>
            <a:pPr indent="-304800" lvl="1" marL="914400" rtl="0" algn="just">
              <a:lnSpc>
                <a:spcPct val="115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Les équipes de développement </a:t>
            </a:r>
            <a:r>
              <a:rPr lang="en-GB" sz="1200">
                <a:solidFill>
                  <a:srgbClr val="00084D"/>
                </a:solidFill>
                <a:latin typeface="Maven Pro"/>
                <a:ea typeface="Maven Pro"/>
                <a:cs typeface="Maven Pro"/>
                <a:sym typeface="Maven Pro"/>
              </a:rPr>
              <a:t>continuent</a:t>
            </a:r>
            <a:r>
              <a:rPr lang="en-GB" sz="1200">
                <a:solidFill>
                  <a:srgbClr val="00084D"/>
                </a:solidFill>
                <a:latin typeface="Maven Pro"/>
                <a:ea typeface="Maven Pro"/>
                <a:cs typeface="Maven Pro"/>
                <a:sym typeface="Maven Pro"/>
              </a:rPr>
              <a:t> de livrer rapidement des logiciels, mais les équipes d'opérations avaient du mal à suivre le rythme, provoquant des retards en production.</a:t>
            </a:r>
            <a:endParaRPr sz="1200">
              <a:solidFill>
                <a:srgbClr val="00084D"/>
              </a:solidFill>
              <a:latin typeface="Maven Pro"/>
              <a:ea typeface="Maven Pro"/>
              <a:cs typeface="Maven Pro"/>
              <a:sym typeface="Maven Pro"/>
            </a:endParaRPr>
          </a:p>
          <a:p>
            <a:pPr indent="-304800" lvl="1" marL="914400" rtl="0" algn="just">
              <a:lnSpc>
                <a:spcPct val="115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Les incidents dus à des livraisons fréquentes, mal coordonnées, </a:t>
            </a:r>
            <a:r>
              <a:rPr lang="en-GB" sz="1200">
                <a:solidFill>
                  <a:srgbClr val="00084D"/>
                </a:solidFill>
                <a:latin typeface="Maven Pro"/>
                <a:ea typeface="Maven Pro"/>
                <a:cs typeface="Maven Pro"/>
                <a:sym typeface="Maven Pro"/>
              </a:rPr>
              <a:t>entraînent</a:t>
            </a:r>
            <a:r>
              <a:rPr lang="en-GB" sz="1200">
                <a:solidFill>
                  <a:srgbClr val="00084D"/>
                </a:solidFill>
                <a:latin typeface="Maven Pro"/>
                <a:ea typeface="Maven Pro"/>
                <a:cs typeface="Maven Pro"/>
                <a:sym typeface="Maven Pro"/>
              </a:rPr>
              <a:t> des instabilités.</a:t>
            </a:r>
            <a:endParaRPr sz="1200">
              <a:solidFill>
                <a:srgbClr val="00084D"/>
              </a:solidFill>
              <a:latin typeface="Maven Pro"/>
              <a:ea typeface="Maven Pro"/>
              <a:cs typeface="Maven Pro"/>
              <a:sym typeface="Maven Pro"/>
            </a:endParaRPr>
          </a:p>
          <a:p>
            <a:pPr indent="-304800" lvl="0" marL="457200" marR="0" rtl="0" algn="just">
              <a:lnSpc>
                <a:spcPct val="150000"/>
              </a:lnSpc>
              <a:spcBef>
                <a:spcPts val="0"/>
              </a:spcBef>
              <a:spcAft>
                <a:spcPts val="0"/>
              </a:spcAft>
              <a:buClr>
                <a:srgbClr val="00084D"/>
              </a:buClr>
              <a:buSzPts val="1200"/>
              <a:buFont typeface="Maven Pro"/>
              <a:buChar char="●"/>
            </a:pPr>
            <a:r>
              <a:rPr b="1" lang="en-GB" sz="1200">
                <a:solidFill>
                  <a:srgbClr val="00084D"/>
                </a:solidFill>
                <a:latin typeface="Maven Pro"/>
                <a:ea typeface="Maven Pro"/>
                <a:cs typeface="Maven Pro"/>
                <a:sym typeface="Maven Pro"/>
              </a:rPr>
              <a:t>Croissance des géants du web (Google, Amazon, Netflix) :</a:t>
            </a:r>
            <a:endParaRPr sz="1100">
              <a:solidFill>
                <a:schemeClr val="dk1"/>
              </a:solidFill>
            </a:endParaRPr>
          </a:p>
          <a:p>
            <a:pPr indent="-304800" lvl="1" marL="914400" marR="0" rtl="0" algn="just">
              <a:lnSpc>
                <a:spcPct val="115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Ces entreprises avaient besoin de déployer rapidement des fonctionnalités tout en garantissant la stabilité de leurs services. Elles ont adopté des pratiques novatrices pour intégrer les équipes et automatiser les processus.</a:t>
            </a:r>
            <a:endParaRPr sz="1200">
              <a:solidFill>
                <a:srgbClr val="00084D"/>
              </a:solidFill>
              <a:latin typeface="Maven Pro"/>
              <a:ea typeface="Maven Pro"/>
              <a:cs typeface="Maven Pro"/>
              <a:sym typeface="Maven Pro"/>
            </a:endParaRPr>
          </a:p>
        </p:txBody>
      </p:sp>
      <p:sp>
        <p:nvSpPr>
          <p:cNvPr id="200" name="Google Shape;20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206" name="Google Shape;206;p3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1D63ED"/>
                </a:solidFill>
                <a:latin typeface="Maven Pro"/>
                <a:ea typeface="Maven Pro"/>
                <a:cs typeface="Maven Pro"/>
                <a:sym typeface="Maven Pro"/>
              </a:rPr>
              <a:t>La Genèse de DevOps</a:t>
            </a:r>
            <a:endParaRPr sz="1500">
              <a:solidFill>
                <a:srgbClr val="1D63ED"/>
              </a:solidFill>
              <a:latin typeface="Maven Pro"/>
              <a:ea typeface="Maven Pro"/>
              <a:cs typeface="Maven Pro"/>
              <a:sym typeface="Maven Pro"/>
            </a:endParaRPr>
          </a:p>
          <a:p>
            <a:pPr indent="0" lvl="0" marL="0" rtl="0" algn="l">
              <a:spcBef>
                <a:spcPts val="0"/>
              </a:spcBef>
              <a:spcAft>
                <a:spcPts val="0"/>
              </a:spcAft>
              <a:buNone/>
            </a:pPr>
            <a:r>
              <a:rPr b="1" lang="en-GB" sz="2000">
                <a:solidFill>
                  <a:srgbClr val="1D63ED"/>
                </a:solidFill>
                <a:latin typeface="Maven Pro"/>
                <a:ea typeface="Maven Pro"/>
                <a:cs typeface="Maven Pro"/>
                <a:sym typeface="Maven Pro"/>
              </a:rPr>
              <a:t>Les Étapes Clés dans la Naissance de DevOps</a:t>
            </a:r>
            <a:endParaRPr sz="2000">
              <a:solidFill>
                <a:srgbClr val="1D63ED"/>
              </a:solidFill>
              <a:latin typeface="Maven Pro"/>
              <a:ea typeface="Maven Pro"/>
              <a:cs typeface="Maven Pro"/>
              <a:sym typeface="Maven Pro"/>
            </a:endParaRPr>
          </a:p>
        </p:txBody>
      </p:sp>
      <p:pic>
        <p:nvPicPr>
          <p:cNvPr id="207" name="Google Shape;207;p3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208" name="Google Shape;208;p30"/>
          <p:cNvSpPr txBox="1"/>
          <p:nvPr/>
        </p:nvSpPr>
        <p:spPr>
          <a:xfrm>
            <a:off x="777150" y="1477550"/>
            <a:ext cx="7589700" cy="2862900"/>
          </a:xfrm>
          <a:prstGeom prst="rect">
            <a:avLst/>
          </a:prstGeom>
          <a:noFill/>
          <a:ln>
            <a:noFill/>
          </a:ln>
        </p:spPr>
        <p:txBody>
          <a:bodyPr anchorCtr="0" anchor="t" bIns="91425" lIns="91425" spcFirstLastPara="1" rIns="91425" wrap="square" tIns="91425">
            <a:spAutoFit/>
          </a:bodyPr>
          <a:lstStyle/>
          <a:p>
            <a:pPr indent="-304800" lvl="0" marL="457200" rtl="0" algn="just">
              <a:lnSpc>
                <a:spcPct val="150000"/>
              </a:lnSpc>
              <a:spcBef>
                <a:spcPts val="0"/>
              </a:spcBef>
              <a:spcAft>
                <a:spcPts val="0"/>
              </a:spcAft>
              <a:buClr>
                <a:srgbClr val="00084D"/>
              </a:buClr>
              <a:buSzPts val="1200"/>
              <a:buFont typeface="Maven Pro"/>
              <a:buChar char="●"/>
            </a:pPr>
            <a:r>
              <a:rPr b="1" lang="en-GB" sz="1200">
                <a:solidFill>
                  <a:srgbClr val="00084D"/>
                </a:solidFill>
                <a:latin typeface="Maven Pro"/>
                <a:ea typeface="Maven Pro"/>
                <a:cs typeface="Maven Pro"/>
                <a:sym typeface="Maven Pro"/>
              </a:rPr>
              <a:t>2007 - Conférence Agile :</a:t>
            </a:r>
            <a:br>
              <a:rPr b="1" lang="en-GB" sz="1200">
                <a:solidFill>
                  <a:srgbClr val="00084D"/>
                </a:solidFill>
                <a:latin typeface="Maven Pro"/>
                <a:ea typeface="Maven Pro"/>
                <a:cs typeface="Maven Pro"/>
                <a:sym typeface="Maven Pro"/>
              </a:rPr>
            </a:br>
            <a:r>
              <a:rPr lang="en-GB" sz="1200">
                <a:solidFill>
                  <a:srgbClr val="00084D"/>
                </a:solidFill>
                <a:latin typeface="Maven Pro"/>
                <a:ea typeface="Maven Pro"/>
                <a:cs typeface="Maven Pro"/>
                <a:sym typeface="Maven Pro"/>
              </a:rPr>
              <a:t>Patrick Debois, souvent considéré comme le "père de DevOps", a commencé à explorer comment les principes Agile pourraient être étendus aux opérations informatiques.</a:t>
            </a:r>
            <a:endParaRPr sz="1100">
              <a:solidFill>
                <a:schemeClr val="dk1"/>
              </a:solidFill>
            </a:endParaRPr>
          </a:p>
          <a:p>
            <a:pPr indent="-304800" lvl="0" marL="457200" rtl="0" algn="just">
              <a:lnSpc>
                <a:spcPct val="150000"/>
              </a:lnSpc>
              <a:spcBef>
                <a:spcPts val="0"/>
              </a:spcBef>
              <a:spcAft>
                <a:spcPts val="0"/>
              </a:spcAft>
              <a:buClr>
                <a:srgbClr val="00084D"/>
              </a:buClr>
              <a:buSzPts val="1200"/>
              <a:buFont typeface="Maven Pro"/>
              <a:buChar char="●"/>
            </a:pPr>
            <a:r>
              <a:rPr b="1" lang="en-GB" sz="1200">
                <a:solidFill>
                  <a:srgbClr val="00084D"/>
                </a:solidFill>
                <a:latin typeface="Maven Pro"/>
                <a:ea typeface="Maven Pro"/>
                <a:cs typeface="Maven Pro"/>
                <a:sym typeface="Maven Pro"/>
              </a:rPr>
              <a:t>2008 - Velocity Conference :</a:t>
            </a:r>
            <a:br>
              <a:rPr b="1" lang="en-GB" sz="1200">
                <a:solidFill>
                  <a:srgbClr val="00084D"/>
                </a:solidFill>
                <a:latin typeface="Maven Pro"/>
                <a:ea typeface="Maven Pro"/>
                <a:cs typeface="Maven Pro"/>
                <a:sym typeface="Maven Pro"/>
              </a:rPr>
            </a:br>
            <a:r>
              <a:rPr lang="en-GB" sz="1200">
                <a:solidFill>
                  <a:srgbClr val="00084D"/>
                </a:solidFill>
                <a:latin typeface="Maven Pro"/>
                <a:ea typeface="Maven Pro"/>
                <a:cs typeface="Maven Pro"/>
                <a:sym typeface="Maven Pro"/>
              </a:rPr>
              <a:t>John Allspaw et Paul Hammond, lors de leur présentation "</a:t>
            </a:r>
            <a:r>
              <a:rPr i="1" lang="en-GB" sz="1200">
                <a:solidFill>
                  <a:srgbClr val="00084D"/>
                </a:solidFill>
                <a:latin typeface="Maven Pro"/>
                <a:ea typeface="Maven Pro"/>
                <a:cs typeface="Maven Pro"/>
                <a:sym typeface="Maven Pro"/>
              </a:rPr>
              <a:t>10+ Deploys per Day: Dev and Ops Cooperation at Flickr</a:t>
            </a:r>
            <a:r>
              <a:rPr lang="en-GB" sz="1200">
                <a:solidFill>
                  <a:srgbClr val="00084D"/>
                </a:solidFill>
                <a:latin typeface="Maven Pro"/>
                <a:ea typeface="Maven Pro"/>
                <a:cs typeface="Maven Pro"/>
                <a:sym typeface="Maven Pro"/>
              </a:rPr>
              <a:t>", ont démontré comment une collaboration étroite entre développement et opérations permettait d'accélérer les déploiements tout en maintenant la stabilité.</a:t>
            </a:r>
            <a:endParaRPr sz="1100">
              <a:solidFill>
                <a:schemeClr val="dk1"/>
              </a:solidFill>
            </a:endParaRPr>
          </a:p>
          <a:p>
            <a:pPr indent="-304800" lvl="0" marL="457200" rtl="0" algn="just">
              <a:lnSpc>
                <a:spcPct val="150000"/>
              </a:lnSpc>
              <a:spcBef>
                <a:spcPts val="0"/>
              </a:spcBef>
              <a:spcAft>
                <a:spcPts val="0"/>
              </a:spcAft>
              <a:buClr>
                <a:srgbClr val="00084D"/>
              </a:buClr>
              <a:buSzPts val="1200"/>
              <a:buFont typeface="Maven Pro"/>
              <a:buChar char="●"/>
            </a:pPr>
            <a:r>
              <a:rPr b="1" lang="en-GB" sz="1200">
                <a:solidFill>
                  <a:srgbClr val="00084D"/>
                </a:solidFill>
                <a:latin typeface="Maven Pro"/>
                <a:ea typeface="Maven Pro"/>
                <a:cs typeface="Maven Pro"/>
                <a:sym typeface="Maven Pro"/>
              </a:rPr>
              <a:t>2009 - Premier événement DevOpsDays :</a:t>
            </a:r>
            <a:br>
              <a:rPr b="1" lang="en-GB" sz="1200">
                <a:solidFill>
                  <a:srgbClr val="00084D"/>
                </a:solidFill>
                <a:latin typeface="Maven Pro"/>
                <a:ea typeface="Maven Pro"/>
                <a:cs typeface="Maven Pro"/>
                <a:sym typeface="Maven Pro"/>
              </a:rPr>
            </a:br>
            <a:r>
              <a:rPr lang="en-GB" sz="1200">
                <a:solidFill>
                  <a:srgbClr val="00084D"/>
                </a:solidFill>
                <a:latin typeface="Maven Pro"/>
                <a:ea typeface="Maven Pro"/>
                <a:cs typeface="Maven Pro"/>
                <a:sym typeface="Maven Pro"/>
              </a:rPr>
              <a:t>Patrick Debois a organisé la première conférence </a:t>
            </a:r>
            <a:r>
              <a:rPr i="1" lang="en-GB" sz="1200">
                <a:solidFill>
                  <a:srgbClr val="00084D"/>
                </a:solidFill>
                <a:latin typeface="Maven Pro Medium"/>
                <a:ea typeface="Maven Pro Medium"/>
                <a:cs typeface="Maven Pro Medium"/>
                <a:sym typeface="Maven Pro Medium"/>
              </a:rPr>
              <a:t>DevOpsDays</a:t>
            </a:r>
            <a:r>
              <a:rPr lang="en-GB" sz="1200">
                <a:solidFill>
                  <a:srgbClr val="00084D"/>
                </a:solidFill>
                <a:latin typeface="Maven Pro"/>
                <a:ea typeface="Maven Pro"/>
                <a:cs typeface="Maven Pro"/>
                <a:sym typeface="Maven Pro"/>
              </a:rPr>
              <a:t> en Belgique, marquant officiellement la naissance du mouvement DevOps.</a:t>
            </a:r>
            <a:endParaRPr sz="1200">
              <a:solidFill>
                <a:srgbClr val="00084D"/>
              </a:solidFill>
              <a:latin typeface="Maven Pro"/>
              <a:ea typeface="Maven Pro"/>
              <a:cs typeface="Maven Pro"/>
              <a:sym typeface="Maven Pro"/>
            </a:endParaRPr>
          </a:p>
        </p:txBody>
      </p:sp>
      <p:sp>
        <p:nvSpPr>
          <p:cNvPr id="209" name="Google Shape;20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p:nvPr/>
        </p:nvSpPr>
        <p:spPr>
          <a:xfrm>
            <a:off x="-75" y="0"/>
            <a:ext cx="9144000" cy="5143500"/>
          </a:xfrm>
          <a:prstGeom prst="rect">
            <a:avLst/>
          </a:prstGeom>
          <a:solidFill>
            <a:srgbClr val="E5F2FC"/>
          </a:solidFill>
          <a:ln cap="flat" cmpd="sng" w="9525">
            <a:solidFill>
              <a:srgbClr val="E6E5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31"/>
          <p:cNvSpPr txBox="1"/>
          <p:nvPr/>
        </p:nvSpPr>
        <p:spPr>
          <a:xfrm>
            <a:off x="385250" y="615600"/>
            <a:ext cx="5437500" cy="3224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GB" sz="2500">
                <a:solidFill>
                  <a:srgbClr val="00084D"/>
                </a:solidFill>
                <a:latin typeface="Maven Pro"/>
                <a:ea typeface="Maven Pro"/>
                <a:cs typeface="Maven Pro"/>
                <a:sym typeface="Maven Pro"/>
              </a:rPr>
              <a:t>En résumé, </a:t>
            </a:r>
            <a:r>
              <a:rPr b="1" lang="en-GB" sz="2500">
                <a:solidFill>
                  <a:srgbClr val="00084D"/>
                </a:solidFill>
                <a:latin typeface="Maven Pro"/>
                <a:ea typeface="Maven Pro"/>
                <a:cs typeface="Maven Pro"/>
                <a:sym typeface="Maven Pro"/>
              </a:rPr>
              <a:t>DevOps est une philosophie</a:t>
            </a:r>
            <a:r>
              <a:rPr lang="en-GB" sz="2500">
                <a:solidFill>
                  <a:srgbClr val="00084D"/>
                </a:solidFill>
                <a:latin typeface="Maven Pro"/>
                <a:ea typeface="Maven Pro"/>
                <a:cs typeface="Maven Pro"/>
                <a:sym typeface="Maven Pro"/>
              </a:rPr>
              <a:t> qui fusionne les rôles et automatise les processus pour permettre une meilleure synergie entre développement et opérations, tout en répondant rapidement aux besoins des utilisateurs.</a:t>
            </a:r>
            <a:endParaRPr b="1" sz="2500">
              <a:solidFill>
                <a:srgbClr val="00084D"/>
              </a:solidFill>
              <a:latin typeface="Maven Pro"/>
              <a:ea typeface="Maven Pro"/>
              <a:cs typeface="Maven Pro"/>
              <a:sym typeface="Maven Pro"/>
            </a:endParaRPr>
          </a:p>
        </p:txBody>
      </p:sp>
      <p:sp>
        <p:nvSpPr>
          <p:cNvPr id="216" name="Google Shape;216;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p:nvPr/>
        </p:nvSpPr>
        <p:spPr>
          <a:xfrm>
            <a:off x="-75" y="0"/>
            <a:ext cx="9144000" cy="5143500"/>
          </a:xfrm>
          <a:prstGeom prst="rect">
            <a:avLst/>
          </a:prstGeom>
          <a:solidFill>
            <a:srgbClr val="E5F2FC"/>
          </a:solidFill>
          <a:ln cap="flat" cmpd="sng" w="9525">
            <a:solidFill>
              <a:srgbClr val="E6E5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32"/>
          <p:cNvSpPr txBox="1"/>
          <p:nvPr/>
        </p:nvSpPr>
        <p:spPr>
          <a:xfrm>
            <a:off x="461450" y="882300"/>
            <a:ext cx="54375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7000">
                <a:solidFill>
                  <a:srgbClr val="1D63ED"/>
                </a:solidFill>
                <a:latin typeface="Nunito"/>
                <a:ea typeface="Nunito"/>
                <a:cs typeface="Nunito"/>
                <a:sym typeface="Nunito"/>
              </a:rPr>
              <a:t>DevOps et principes scientifiques</a:t>
            </a:r>
            <a:endParaRPr b="1" sz="7000">
              <a:solidFill>
                <a:srgbClr val="1D63ED"/>
              </a:solidFill>
              <a:latin typeface="Nunito"/>
              <a:ea typeface="Nunito"/>
              <a:cs typeface="Nunito"/>
              <a:sym typeface="Nunito"/>
            </a:endParaRPr>
          </a:p>
        </p:txBody>
      </p:sp>
      <p:sp>
        <p:nvSpPr>
          <p:cNvPr id="223" name="Google Shape;223;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229" name="Google Shape;229;p3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1D63ED"/>
                </a:solidFill>
                <a:latin typeface="Maven Pro"/>
                <a:ea typeface="Maven Pro"/>
                <a:cs typeface="Maven Pro"/>
                <a:sym typeface="Maven Pro"/>
              </a:rPr>
              <a:t>DevOps et principes scientifiques</a:t>
            </a:r>
            <a:endParaRPr sz="1500">
              <a:solidFill>
                <a:srgbClr val="1D63ED"/>
              </a:solidFill>
              <a:latin typeface="Maven Pro"/>
              <a:ea typeface="Maven Pro"/>
              <a:cs typeface="Maven Pro"/>
              <a:sym typeface="Maven Pro"/>
            </a:endParaRPr>
          </a:p>
          <a:p>
            <a:pPr indent="0" lvl="0" marL="0" rtl="0" algn="l">
              <a:spcBef>
                <a:spcPts val="0"/>
              </a:spcBef>
              <a:spcAft>
                <a:spcPts val="0"/>
              </a:spcAft>
              <a:buNone/>
            </a:pPr>
            <a:r>
              <a:rPr b="1" lang="en-GB" sz="2000">
                <a:solidFill>
                  <a:srgbClr val="1D63ED"/>
                </a:solidFill>
                <a:latin typeface="Maven Pro"/>
                <a:ea typeface="Maven Pro"/>
                <a:cs typeface="Maven Pro"/>
                <a:sym typeface="Maven Pro"/>
              </a:rPr>
              <a:t>Loi de Conway (1968)</a:t>
            </a:r>
            <a:endParaRPr sz="2000">
              <a:solidFill>
                <a:srgbClr val="1D63ED"/>
              </a:solidFill>
              <a:latin typeface="Maven Pro"/>
              <a:ea typeface="Maven Pro"/>
              <a:cs typeface="Maven Pro"/>
              <a:sym typeface="Maven Pro"/>
            </a:endParaRPr>
          </a:p>
        </p:txBody>
      </p:sp>
      <p:pic>
        <p:nvPicPr>
          <p:cNvPr id="230" name="Google Shape;230;p3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231" name="Google Shape;231;p33"/>
          <p:cNvSpPr txBox="1"/>
          <p:nvPr/>
        </p:nvSpPr>
        <p:spPr>
          <a:xfrm>
            <a:off x="777150" y="2971075"/>
            <a:ext cx="7589700" cy="1328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None/>
            </a:pPr>
            <a:r>
              <a:rPr lang="en-GB" sz="1200">
                <a:solidFill>
                  <a:srgbClr val="00084D"/>
                </a:solidFill>
                <a:latin typeface="Maven Pro"/>
                <a:ea typeface="Maven Pro"/>
                <a:cs typeface="Maven Pro"/>
                <a:sym typeface="Maven Pro"/>
              </a:rPr>
              <a:t>En contexte DevOps :</a:t>
            </a:r>
            <a:endParaRPr sz="1200">
              <a:solidFill>
                <a:srgbClr val="00084D"/>
              </a:solidFill>
              <a:latin typeface="Maven Pro"/>
              <a:ea typeface="Maven Pro"/>
              <a:cs typeface="Maven Pro"/>
              <a:sym typeface="Maven Pro"/>
            </a:endParaRPr>
          </a:p>
          <a:p>
            <a:pPr indent="-304800" lvl="0" marL="457200" marR="0" rtl="0" algn="just">
              <a:lnSpc>
                <a:spcPct val="150000"/>
              </a:lnSpc>
              <a:spcBef>
                <a:spcPts val="100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Une organisation cloisonnée (silos entre Dev et Ops) produira des systèmes fragmentés et inefficaces.</a:t>
            </a:r>
            <a:endParaRPr sz="1200">
              <a:solidFill>
                <a:srgbClr val="00084D"/>
              </a:solidFill>
              <a:latin typeface="Maven Pro"/>
              <a:ea typeface="Maven Pro"/>
              <a:cs typeface="Maven Pro"/>
              <a:sym typeface="Maven Pro"/>
            </a:endParaRPr>
          </a:p>
          <a:p>
            <a:pPr indent="-304800" lvl="0" marL="457200" marR="0" rtl="0" algn="just">
              <a:lnSpc>
                <a:spcPct val="15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Une structure collaborative produit des systèmes intégrés et fluides.</a:t>
            </a:r>
            <a:endParaRPr sz="1200">
              <a:solidFill>
                <a:srgbClr val="00084D"/>
              </a:solidFill>
              <a:latin typeface="Maven Pro"/>
              <a:ea typeface="Maven Pro"/>
              <a:cs typeface="Maven Pro"/>
              <a:sym typeface="Maven Pro"/>
            </a:endParaRPr>
          </a:p>
        </p:txBody>
      </p:sp>
      <p:sp>
        <p:nvSpPr>
          <p:cNvPr id="232" name="Google Shape;232;p33"/>
          <p:cNvSpPr txBox="1"/>
          <p:nvPr/>
        </p:nvSpPr>
        <p:spPr>
          <a:xfrm>
            <a:off x="670475" y="1169450"/>
            <a:ext cx="7589700" cy="3693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1000"/>
              </a:spcAft>
              <a:buNone/>
            </a:pPr>
            <a:r>
              <a:rPr lang="en-GB" sz="1200">
                <a:solidFill>
                  <a:srgbClr val="00084D"/>
                </a:solidFill>
                <a:latin typeface="Maven Pro"/>
                <a:ea typeface="Maven Pro"/>
                <a:cs typeface="Maven Pro"/>
                <a:sym typeface="Maven Pro"/>
              </a:rPr>
              <a:t>La </a:t>
            </a:r>
            <a:r>
              <a:rPr lang="en-GB" sz="1200">
                <a:solidFill>
                  <a:srgbClr val="00084D"/>
                </a:solidFill>
                <a:latin typeface="Maven Pro Medium"/>
                <a:ea typeface="Maven Pro Medium"/>
                <a:cs typeface="Maven Pro Medium"/>
                <a:sym typeface="Maven Pro Medium"/>
              </a:rPr>
              <a:t>Loi de Conway</a:t>
            </a:r>
            <a:r>
              <a:rPr lang="en-GB" sz="1200">
                <a:solidFill>
                  <a:srgbClr val="00084D"/>
                </a:solidFill>
                <a:latin typeface="Maven Pro"/>
                <a:ea typeface="Maven Pro"/>
                <a:cs typeface="Maven Pro"/>
                <a:sym typeface="Maven Pro"/>
              </a:rPr>
              <a:t> affirme:</a:t>
            </a:r>
            <a:endParaRPr sz="1200">
              <a:solidFill>
                <a:srgbClr val="00084D"/>
              </a:solidFill>
              <a:latin typeface="Maven Pro"/>
              <a:ea typeface="Maven Pro"/>
              <a:cs typeface="Maven Pro"/>
              <a:sym typeface="Maven Pro"/>
            </a:endParaRPr>
          </a:p>
        </p:txBody>
      </p:sp>
      <p:sp>
        <p:nvSpPr>
          <p:cNvPr id="233" name="Google Shape;233;p33"/>
          <p:cNvSpPr/>
          <p:nvPr/>
        </p:nvSpPr>
        <p:spPr>
          <a:xfrm>
            <a:off x="777150" y="1538750"/>
            <a:ext cx="26700" cy="831000"/>
          </a:xfrm>
          <a:prstGeom prst="roundRect">
            <a:avLst>
              <a:gd fmla="val 16667" name="adj"/>
            </a:avLst>
          </a:prstGeom>
          <a:solidFill>
            <a:srgbClr val="B7B7B7"/>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t/>
            </a:r>
            <a:endParaRPr b="1" sz="1200">
              <a:solidFill>
                <a:srgbClr val="17191E"/>
              </a:solidFill>
              <a:latin typeface="Courier New"/>
              <a:ea typeface="Courier New"/>
              <a:cs typeface="Courier New"/>
              <a:sym typeface="Courier New"/>
            </a:endParaRPr>
          </a:p>
        </p:txBody>
      </p:sp>
      <p:sp>
        <p:nvSpPr>
          <p:cNvPr id="234" name="Google Shape;234;p33"/>
          <p:cNvSpPr txBox="1"/>
          <p:nvPr/>
        </p:nvSpPr>
        <p:spPr>
          <a:xfrm>
            <a:off x="1165850" y="1607900"/>
            <a:ext cx="4937700" cy="646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b="1" lang="en-GB" sz="1000">
                <a:solidFill>
                  <a:srgbClr val="434343"/>
                </a:solidFill>
                <a:latin typeface="Courier New"/>
                <a:ea typeface="Courier New"/>
                <a:cs typeface="Courier New"/>
                <a:sym typeface="Courier New"/>
              </a:rPr>
              <a:t>“</a:t>
            </a:r>
            <a:r>
              <a:rPr b="1" lang="en-GB" sz="1000">
                <a:solidFill>
                  <a:srgbClr val="434343"/>
                </a:solidFill>
                <a:latin typeface="Courier New"/>
                <a:ea typeface="Courier New"/>
                <a:cs typeface="Courier New"/>
                <a:sym typeface="Courier New"/>
              </a:rPr>
              <a:t>Toute organisation qui conçoit un système, au sens large, concevra une structure qui sera la copie de la structure de communication de l’organisation.”</a:t>
            </a:r>
            <a:endParaRPr b="1" sz="1000">
              <a:solidFill>
                <a:srgbClr val="434343"/>
              </a:solidFill>
              <a:latin typeface="Courier New"/>
              <a:ea typeface="Courier New"/>
              <a:cs typeface="Courier New"/>
              <a:sym typeface="Courier New"/>
            </a:endParaRPr>
          </a:p>
        </p:txBody>
      </p:sp>
      <p:sp>
        <p:nvSpPr>
          <p:cNvPr id="235" name="Google Shape;235;p33"/>
          <p:cNvSpPr txBox="1"/>
          <p:nvPr/>
        </p:nvSpPr>
        <p:spPr>
          <a:xfrm>
            <a:off x="803850" y="2268863"/>
            <a:ext cx="4937700" cy="276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b="1" lang="en-GB" sz="600">
                <a:solidFill>
                  <a:srgbClr val="434343"/>
                </a:solidFill>
                <a:latin typeface="Courier New"/>
                <a:ea typeface="Courier New"/>
                <a:cs typeface="Courier New"/>
                <a:sym typeface="Courier New"/>
              </a:rPr>
              <a:t>Source: https://www.melconway.com/Home/Committees_Paper.html</a:t>
            </a:r>
            <a:endParaRPr b="1" sz="600">
              <a:solidFill>
                <a:srgbClr val="434343"/>
              </a:solidFill>
              <a:latin typeface="Courier New"/>
              <a:ea typeface="Courier New"/>
              <a:cs typeface="Courier New"/>
              <a:sym typeface="Courier New"/>
            </a:endParaRPr>
          </a:p>
        </p:txBody>
      </p:sp>
      <p:sp>
        <p:nvSpPr>
          <p:cNvPr id="236" name="Google Shape;23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4"/>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242" name="Google Shape;242;p3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1D63ED"/>
                </a:solidFill>
                <a:latin typeface="Maven Pro"/>
                <a:ea typeface="Maven Pro"/>
                <a:cs typeface="Maven Pro"/>
                <a:sym typeface="Maven Pro"/>
              </a:rPr>
              <a:t>DevOps et principes scientifiques</a:t>
            </a:r>
            <a:endParaRPr sz="1500">
              <a:solidFill>
                <a:srgbClr val="1D63ED"/>
              </a:solidFill>
              <a:latin typeface="Maven Pro"/>
              <a:ea typeface="Maven Pro"/>
              <a:cs typeface="Maven Pro"/>
              <a:sym typeface="Maven Pro"/>
            </a:endParaRPr>
          </a:p>
          <a:p>
            <a:pPr indent="0" lvl="0" marL="0" rtl="0" algn="l">
              <a:spcBef>
                <a:spcPts val="0"/>
              </a:spcBef>
              <a:spcAft>
                <a:spcPts val="0"/>
              </a:spcAft>
              <a:buNone/>
            </a:pPr>
            <a:r>
              <a:rPr b="1" lang="en-GB" sz="2000">
                <a:solidFill>
                  <a:srgbClr val="1D63ED"/>
                </a:solidFill>
                <a:latin typeface="Maven Pro"/>
                <a:ea typeface="Maven Pro"/>
                <a:cs typeface="Maven Pro"/>
                <a:sym typeface="Maven Pro"/>
              </a:rPr>
              <a:t>Théorème de Little</a:t>
            </a:r>
            <a:endParaRPr sz="2000">
              <a:solidFill>
                <a:srgbClr val="1D63ED"/>
              </a:solidFill>
              <a:latin typeface="Maven Pro"/>
              <a:ea typeface="Maven Pro"/>
              <a:cs typeface="Maven Pro"/>
              <a:sym typeface="Maven Pro"/>
            </a:endParaRPr>
          </a:p>
        </p:txBody>
      </p:sp>
      <p:pic>
        <p:nvPicPr>
          <p:cNvPr id="243" name="Google Shape;243;p3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244" name="Google Shape;244;p34"/>
          <p:cNvSpPr txBox="1"/>
          <p:nvPr/>
        </p:nvSpPr>
        <p:spPr>
          <a:xfrm>
            <a:off x="803850" y="3220460"/>
            <a:ext cx="7589700" cy="1283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None/>
            </a:pPr>
            <a:r>
              <a:rPr b="1" lang="en-GB" sz="1200">
                <a:solidFill>
                  <a:srgbClr val="00084D"/>
                </a:solidFill>
                <a:latin typeface="Maven Pro"/>
                <a:ea typeface="Maven Pro"/>
                <a:cs typeface="Maven Pro"/>
                <a:sym typeface="Maven Pro"/>
              </a:rPr>
              <a:t>Application DevOps :</a:t>
            </a:r>
            <a:endParaRPr b="1" sz="1200">
              <a:solidFill>
                <a:srgbClr val="00084D"/>
              </a:solidFill>
              <a:latin typeface="Maven Pro"/>
              <a:ea typeface="Maven Pro"/>
              <a:cs typeface="Maven Pro"/>
              <a:sym typeface="Maven Pro"/>
            </a:endParaRPr>
          </a:p>
          <a:p>
            <a:pPr indent="-304800" lvl="0" marL="457200" marR="0" rtl="0" algn="just">
              <a:lnSpc>
                <a:spcPct val="115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Minimiser </a:t>
            </a:r>
            <a:r>
              <a:rPr b="1" lang="en-GB" sz="1200">
                <a:solidFill>
                  <a:srgbClr val="00084D"/>
                </a:solidFill>
                <a:latin typeface="Maven Pro"/>
                <a:ea typeface="Maven Pro"/>
                <a:cs typeface="Maven Pro"/>
                <a:sym typeface="Maven Pro"/>
              </a:rPr>
              <a:t>W</a:t>
            </a:r>
            <a:r>
              <a:rPr lang="en-GB" sz="1200">
                <a:solidFill>
                  <a:srgbClr val="00084D"/>
                </a:solidFill>
                <a:latin typeface="Maven Pro"/>
                <a:ea typeface="Maven Pro"/>
                <a:cs typeface="Maven Pro"/>
                <a:sym typeface="Maven Pro"/>
              </a:rPr>
              <a:t> (temps moyen pour livrer une fonctionnalité) permet de réduire les délais tout en augmentant la productivité.</a:t>
            </a:r>
            <a:endParaRPr sz="1200">
              <a:solidFill>
                <a:srgbClr val="00084D"/>
              </a:solidFill>
              <a:latin typeface="Maven Pro"/>
              <a:ea typeface="Maven Pro"/>
              <a:cs typeface="Maven Pro"/>
              <a:sym typeface="Maven Pro"/>
            </a:endParaRPr>
          </a:p>
          <a:p>
            <a:pPr indent="-304800" lvl="0" marL="457200" marR="0" rtl="0" algn="just">
              <a:lnSpc>
                <a:spcPct val="115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Automatisation et intégration continue aident à réduire le temps total nécessaire pour passer de l’idée à la livraison.</a:t>
            </a:r>
            <a:endParaRPr sz="1200">
              <a:solidFill>
                <a:srgbClr val="00084D"/>
              </a:solidFill>
              <a:latin typeface="Maven Pro"/>
              <a:ea typeface="Maven Pro"/>
              <a:cs typeface="Maven Pro"/>
              <a:sym typeface="Maven Pro"/>
            </a:endParaRPr>
          </a:p>
        </p:txBody>
      </p:sp>
      <p:sp>
        <p:nvSpPr>
          <p:cNvPr id="245" name="Google Shape;245;p34"/>
          <p:cNvSpPr txBox="1"/>
          <p:nvPr/>
        </p:nvSpPr>
        <p:spPr>
          <a:xfrm>
            <a:off x="670475" y="1169450"/>
            <a:ext cx="7589700" cy="3693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1000"/>
              </a:spcAft>
              <a:buNone/>
            </a:pPr>
            <a:r>
              <a:rPr lang="en-GB" sz="1200">
                <a:solidFill>
                  <a:srgbClr val="00084D"/>
                </a:solidFill>
                <a:latin typeface="Maven Pro"/>
                <a:ea typeface="Maven Pro"/>
                <a:cs typeface="Maven Pro"/>
                <a:sym typeface="Maven Pro"/>
              </a:rPr>
              <a:t>Le </a:t>
            </a:r>
            <a:r>
              <a:rPr lang="en-GB" sz="1200">
                <a:solidFill>
                  <a:srgbClr val="00084D"/>
                </a:solidFill>
                <a:latin typeface="Maven Pro SemiBold"/>
                <a:ea typeface="Maven Pro SemiBold"/>
                <a:cs typeface="Maven Pro SemiBold"/>
                <a:sym typeface="Maven Pro SemiBold"/>
              </a:rPr>
              <a:t>Théorème de Little</a:t>
            </a:r>
            <a:r>
              <a:rPr lang="en-GB" sz="1200">
                <a:solidFill>
                  <a:srgbClr val="00084D"/>
                </a:solidFill>
                <a:latin typeface="Maven Pro"/>
                <a:ea typeface="Maven Pro"/>
                <a:cs typeface="Maven Pro"/>
                <a:sym typeface="Maven Pro"/>
              </a:rPr>
              <a:t>, issu de la théorie des files d'attente, est formulé ainsi :</a:t>
            </a:r>
            <a:endParaRPr sz="1200">
              <a:solidFill>
                <a:srgbClr val="00084D"/>
              </a:solidFill>
              <a:latin typeface="Maven Pro"/>
              <a:ea typeface="Maven Pro"/>
              <a:cs typeface="Maven Pro"/>
              <a:sym typeface="Maven Pro"/>
            </a:endParaRPr>
          </a:p>
        </p:txBody>
      </p:sp>
      <p:sp>
        <p:nvSpPr>
          <p:cNvPr id="246" name="Google Shape;246;p34"/>
          <p:cNvSpPr/>
          <p:nvPr/>
        </p:nvSpPr>
        <p:spPr>
          <a:xfrm>
            <a:off x="777150" y="1538750"/>
            <a:ext cx="26700" cy="531000"/>
          </a:xfrm>
          <a:prstGeom prst="roundRect">
            <a:avLst>
              <a:gd fmla="val 16667" name="adj"/>
            </a:avLst>
          </a:prstGeom>
          <a:solidFill>
            <a:srgbClr val="B7B7B7"/>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t/>
            </a:r>
            <a:endParaRPr b="1" sz="1200">
              <a:solidFill>
                <a:srgbClr val="17191E"/>
              </a:solidFill>
              <a:latin typeface="Courier New"/>
              <a:ea typeface="Courier New"/>
              <a:cs typeface="Courier New"/>
              <a:sym typeface="Courier New"/>
            </a:endParaRPr>
          </a:p>
        </p:txBody>
      </p:sp>
      <p:sp>
        <p:nvSpPr>
          <p:cNvPr id="247" name="Google Shape;247;p34"/>
          <p:cNvSpPr txBox="1"/>
          <p:nvPr/>
        </p:nvSpPr>
        <p:spPr>
          <a:xfrm>
            <a:off x="1165850" y="1554560"/>
            <a:ext cx="49377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b="1" lang="en-GB" sz="1800">
                <a:solidFill>
                  <a:srgbClr val="434343"/>
                </a:solidFill>
                <a:latin typeface="Courier New"/>
                <a:ea typeface="Courier New"/>
                <a:cs typeface="Courier New"/>
                <a:sym typeface="Courier New"/>
              </a:rPr>
              <a:t>L = λ ⋅ W</a:t>
            </a:r>
            <a:endParaRPr b="1" sz="1800">
              <a:solidFill>
                <a:srgbClr val="434343"/>
              </a:solidFill>
              <a:latin typeface="Courier New"/>
              <a:ea typeface="Courier New"/>
              <a:cs typeface="Courier New"/>
              <a:sym typeface="Courier New"/>
            </a:endParaRPr>
          </a:p>
        </p:txBody>
      </p:sp>
      <p:sp>
        <p:nvSpPr>
          <p:cNvPr id="248" name="Google Shape;248;p34"/>
          <p:cNvSpPr txBox="1"/>
          <p:nvPr/>
        </p:nvSpPr>
        <p:spPr>
          <a:xfrm>
            <a:off x="803850" y="2099090"/>
            <a:ext cx="7589700" cy="985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GB" sz="1200">
                <a:solidFill>
                  <a:srgbClr val="00084D"/>
                </a:solidFill>
                <a:latin typeface="Maven Pro"/>
                <a:ea typeface="Maven Pro"/>
                <a:cs typeface="Maven Pro"/>
                <a:sym typeface="Maven Pro"/>
              </a:rPr>
              <a:t>Où :</a:t>
            </a:r>
            <a:endParaRPr sz="1200">
              <a:solidFill>
                <a:srgbClr val="00084D"/>
              </a:solidFill>
              <a:latin typeface="Maven Pro"/>
              <a:ea typeface="Maven Pro"/>
              <a:cs typeface="Maven Pro"/>
              <a:sym typeface="Maven Pro"/>
            </a:endParaRPr>
          </a:p>
          <a:p>
            <a:pPr indent="-304800" lvl="0" marL="457200" rtl="0" algn="l">
              <a:lnSpc>
                <a:spcPct val="10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L : Nombre moyen d'éléments dans un système (en cours de traitement).</a:t>
            </a:r>
            <a:endParaRPr sz="1200">
              <a:solidFill>
                <a:srgbClr val="00084D"/>
              </a:solidFill>
              <a:latin typeface="Maven Pro"/>
              <a:ea typeface="Maven Pro"/>
              <a:cs typeface="Maven Pro"/>
              <a:sym typeface="Maven Pro"/>
            </a:endParaRPr>
          </a:p>
          <a:p>
            <a:pPr indent="-304800" lvl="0" marL="457200" rtl="0" algn="l">
              <a:lnSpc>
                <a:spcPct val="100000"/>
              </a:lnSpc>
              <a:spcBef>
                <a:spcPts val="0"/>
              </a:spcBef>
              <a:spcAft>
                <a:spcPts val="0"/>
              </a:spcAft>
              <a:buClr>
                <a:srgbClr val="00084D"/>
              </a:buClr>
              <a:buSzPts val="1200"/>
              <a:buFont typeface="Maven Pro"/>
              <a:buChar char="●"/>
            </a:pPr>
            <a:r>
              <a:rPr lang="en-GB" sz="1600">
                <a:solidFill>
                  <a:srgbClr val="00084D"/>
                </a:solidFill>
                <a:latin typeface="Maven Pro"/>
                <a:ea typeface="Maven Pro"/>
                <a:cs typeface="Maven Pro"/>
                <a:sym typeface="Maven Pro"/>
              </a:rPr>
              <a:t>λ</a:t>
            </a:r>
            <a:r>
              <a:rPr lang="en-GB" sz="1200">
                <a:solidFill>
                  <a:srgbClr val="00084D"/>
                </a:solidFill>
                <a:latin typeface="Maven Pro"/>
                <a:ea typeface="Maven Pro"/>
                <a:cs typeface="Maven Pro"/>
                <a:sym typeface="Maven Pro"/>
              </a:rPr>
              <a:t>: Taux moyen d'arrivée des éléments (exemple : nouvelles fonctionnalités ou tâches).</a:t>
            </a:r>
            <a:endParaRPr sz="1200">
              <a:solidFill>
                <a:srgbClr val="00084D"/>
              </a:solidFill>
              <a:latin typeface="Maven Pro"/>
              <a:ea typeface="Maven Pro"/>
              <a:cs typeface="Maven Pro"/>
              <a:sym typeface="Maven Pro"/>
            </a:endParaRPr>
          </a:p>
          <a:p>
            <a:pPr indent="-304800" lvl="0" marL="457200" rtl="0" algn="l">
              <a:lnSpc>
                <a:spcPct val="10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W : Temps moyen passé dans le système (cycle de vie d'une tâche).</a:t>
            </a:r>
            <a:endParaRPr sz="1200">
              <a:solidFill>
                <a:srgbClr val="00084D"/>
              </a:solidFill>
              <a:latin typeface="Maven Pro"/>
              <a:ea typeface="Maven Pro"/>
              <a:cs typeface="Maven Pro"/>
              <a:sym typeface="Maven Pro"/>
            </a:endParaRPr>
          </a:p>
        </p:txBody>
      </p:sp>
      <p:sp>
        <p:nvSpPr>
          <p:cNvPr id="249" name="Google Shape;249;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5"/>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255" name="Google Shape;255;p3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1D63ED"/>
                </a:solidFill>
                <a:latin typeface="Maven Pro"/>
                <a:ea typeface="Maven Pro"/>
                <a:cs typeface="Maven Pro"/>
                <a:sym typeface="Maven Pro"/>
              </a:rPr>
              <a:t>DevOps et principes scientifiques</a:t>
            </a:r>
            <a:endParaRPr sz="1500">
              <a:solidFill>
                <a:srgbClr val="1D63ED"/>
              </a:solidFill>
              <a:latin typeface="Maven Pro"/>
              <a:ea typeface="Maven Pro"/>
              <a:cs typeface="Maven Pro"/>
              <a:sym typeface="Maven Pro"/>
            </a:endParaRPr>
          </a:p>
          <a:p>
            <a:pPr indent="0" lvl="0" marL="0" rtl="0" algn="l">
              <a:spcBef>
                <a:spcPts val="0"/>
              </a:spcBef>
              <a:spcAft>
                <a:spcPts val="0"/>
              </a:spcAft>
              <a:buNone/>
            </a:pPr>
            <a:r>
              <a:rPr b="1" lang="en-GB" sz="2000">
                <a:solidFill>
                  <a:srgbClr val="1D63ED"/>
                </a:solidFill>
                <a:latin typeface="Maven Pro"/>
                <a:ea typeface="Maven Pro"/>
                <a:cs typeface="Maven Pro"/>
                <a:sym typeface="Maven Pro"/>
              </a:rPr>
              <a:t>Lean et Théorie des Contraintes</a:t>
            </a:r>
            <a:endParaRPr sz="2000">
              <a:solidFill>
                <a:srgbClr val="1D63ED"/>
              </a:solidFill>
              <a:latin typeface="Maven Pro"/>
              <a:ea typeface="Maven Pro"/>
              <a:cs typeface="Maven Pro"/>
              <a:sym typeface="Maven Pro"/>
            </a:endParaRPr>
          </a:p>
        </p:txBody>
      </p:sp>
      <p:pic>
        <p:nvPicPr>
          <p:cNvPr id="256" name="Google Shape;256;p3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257" name="Google Shape;257;p35"/>
          <p:cNvSpPr txBox="1"/>
          <p:nvPr/>
        </p:nvSpPr>
        <p:spPr>
          <a:xfrm>
            <a:off x="601900" y="2117650"/>
            <a:ext cx="7589700" cy="6465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None/>
            </a:pPr>
            <a:r>
              <a:rPr lang="en-GB" sz="1200">
                <a:solidFill>
                  <a:srgbClr val="00084D"/>
                </a:solidFill>
                <a:latin typeface="Maven Pro"/>
                <a:ea typeface="Maven Pro"/>
                <a:cs typeface="Maven Pro"/>
                <a:sym typeface="Maven Pro"/>
              </a:rPr>
              <a:t>La Théorie des Contraintes (TOC) de Goldratt se concentre sur l'identification et la résolution des goulets d'étranglement dans un système pour optimiser le flux.</a:t>
            </a:r>
            <a:endParaRPr sz="1200">
              <a:solidFill>
                <a:srgbClr val="00084D"/>
              </a:solidFill>
              <a:latin typeface="Maven Pro"/>
              <a:ea typeface="Maven Pro"/>
              <a:cs typeface="Maven Pro"/>
              <a:sym typeface="Maven Pro"/>
            </a:endParaRPr>
          </a:p>
        </p:txBody>
      </p:sp>
      <p:sp>
        <p:nvSpPr>
          <p:cNvPr id="258" name="Google Shape;258;p35"/>
          <p:cNvSpPr txBox="1"/>
          <p:nvPr/>
        </p:nvSpPr>
        <p:spPr>
          <a:xfrm>
            <a:off x="670475" y="1169450"/>
            <a:ext cx="7589700" cy="3693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1000"/>
              </a:spcAft>
              <a:buNone/>
            </a:pPr>
            <a:r>
              <a:rPr lang="en-GB" sz="1200">
                <a:solidFill>
                  <a:srgbClr val="00084D"/>
                </a:solidFill>
                <a:latin typeface="Maven Pro"/>
                <a:ea typeface="Maven Pro"/>
                <a:cs typeface="Maven Pro"/>
                <a:sym typeface="Maven Pro"/>
              </a:rPr>
              <a:t>La </a:t>
            </a:r>
            <a:r>
              <a:rPr lang="en-GB" sz="1200">
                <a:solidFill>
                  <a:srgbClr val="00084D"/>
                </a:solidFill>
                <a:latin typeface="Maven Pro Medium"/>
                <a:ea typeface="Maven Pro Medium"/>
                <a:cs typeface="Maven Pro Medium"/>
                <a:sym typeface="Maven Pro Medium"/>
              </a:rPr>
              <a:t>Théorie des Contraintes:</a:t>
            </a:r>
            <a:endParaRPr sz="1200">
              <a:solidFill>
                <a:srgbClr val="00084D"/>
              </a:solidFill>
              <a:latin typeface="Maven Pro"/>
              <a:ea typeface="Maven Pro"/>
              <a:cs typeface="Maven Pro"/>
              <a:sym typeface="Maven Pro"/>
            </a:endParaRPr>
          </a:p>
        </p:txBody>
      </p:sp>
      <p:sp>
        <p:nvSpPr>
          <p:cNvPr id="259" name="Google Shape;259;p35"/>
          <p:cNvSpPr/>
          <p:nvPr/>
        </p:nvSpPr>
        <p:spPr>
          <a:xfrm>
            <a:off x="777150" y="1538750"/>
            <a:ext cx="26700" cy="495900"/>
          </a:xfrm>
          <a:prstGeom prst="roundRect">
            <a:avLst>
              <a:gd fmla="val 16667" name="adj"/>
            </a:avLst>
          </a:prstGeom>
          <a:solidFill>
            <a:srgbClr val="B7B7B7"/>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t/>
            </a:r>
            <a:endParaRPr b="1" sz="1200">
              <a:solidFill>
                <a:srgbClr val="17191E"/>
              </a:solidFill>
              <a:latin typeface="Courier New"/>
              <a:ea typeface="Courier New"/>
              <a:cs typeface="Courier New"/>
              <a:sym typeface="Courier New"/>
            </a:endParaRPr>
          </a:p>
        </p:txBody>
      </p:sp>
      <p:sp>
        <p:nvSpPr>
          <p:cNvPr id="260" name="Google Shape;260;p35"/>
          <p:cNvSpPr txBox="1"/>
          <p:nvPr/>
        </p:nvSpPr>
        <p:spPr>
          <a:xfrm>
            <a:off x="1066790" y="1592660"/>
            <a:ext cx="4937700" cy="369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b="1" lang="en-GB" sz="1200">
                <a:solidFill>
                  <a:srgbClr val="434343"/>
                </a:solidFill>
                <a:latin typeface="Courier New"/>
                <a:ea typeface="Courier New"/>
                <a:cs typeface="Courier New"/>
                <a:sym typeface="Courier New"/>
              </a:rPr>
              <a:t>Flux total = min(capacité des étapes individuelles)</a:t>
            </a:r>
            <a:endParaRPr b="1" sz="1200">
              <a:solidFill>
                <a:srgbClr val="434343"/>
              </a:solidFill>
              <a:latin typeface="Courier New"/>
              <a:ea typeface="Courier New"/>
              <a:cs typeface="Courier New"/>
              <a:sym typeface="Courier New"/>
            </a:endParaRPr>
          </a:p>
        </p:txBody>
      </p:sp>
      <p:sp>
        <p:nvSpPr>
          <p:cNvPr id="261" name="Google Shape;261;p35"/>
          <p:cNvSpPr txBox="1"/>
          <p:nvPr/>
        </p:nvSpPr>
        <p:spPr>
          <a:xfrm>
            <a:off x="803850" y="3220460"/>
            <a:ext cx="7589700" cy="10713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None/>
            </a:pPr>
            <a:r>
              <a:rPr b="1" lang="en-GB" sz="1200">
                <a:solidFill>
                  <a:srgbClr val="00084D"/>
                </a:solidFill>
                <a:latin typeface="Maven Pro"/>
                <a:ea typeface="Maven Pro"/>
                <a:cs typeface="Maven Pro"/>
                <a:sym typeface="Maven Pro"/>
              </a:rPr>
              <a:t>Application DevOps :</a:t>
            </a:r>
            <a:endParaRPr b="1" sz="1200">
              <a:solidFill>
                <a:srgbClr val="00084D"/>
              </a:solidFill>
              <a:latin typeface="Maven Pro"/>
              <a:ea typeface="Maven Pro"/>
              <a:cs typeface="Maven Pro"/>
              <a:sym typeface="Maven Pro"/>
            </a:endParaRPr>
          </a:p>
          <a:p>
            <a:pPr indent="-304800" lvl="0" marL="457200" rtl="0" algn="just">
              <a:lnSpc>
                <a:spcPct val="115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Les goulets d'étranglement (par exemple, un long processus de validation manuelle) limitent la capacité totale du pipeline.</a:t>
            </a:r>
            <a:endParaRPr sz="1200">
              <a:solidFill>
                <a:srgbClr val="00084D"/>
              </a:solidFill>
              <a:latin typeface="Maven Pro"/>
              <a:ea typeface="Maven Pro"/>
              <a:cs typeface="Maven Pro"/>
              <a:sym typeface="Maven Pro"/>
            </a:endParaRPr>
          </a:p>
          <a:p>
            <a:pPr indent="-304800" lvl="0" marL="457200" rtl="0" algn="just">
              <a:lnSpc>
                <a:spcPct val="115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DevOps vise à identifier ces points faibles et à les éliminer via l’automatisation et la standardisation.</a:t>
            </a:r>
            <a:endParaRPr sz="1200">
              <a:solidFill>
                <a:srgbClr val="00084D"/>
              </a:solidFill>
              <a:latin typeface="Maven Pro"/>
              <a:ea typeface="Maven Pro"/>
              <a:cs typeface="Maven Pro"/>
              <a:sym typeface="Maven Pro"/>
            </a:endParaRPr>
          </a:p>
        </p:txBody>
      </p:sp>
      <p:sp>
        <p:nvSpPr>
          <p:cNvPr id="262" name="Google Shape;262;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268" name="Google Shape;268;p3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1D63ED"/>
                </a:solidFill>
                <a:latin typeface="Maven Pro"/>
                <a:ea typeface="Maven Pro"/>
                <a:cs typeface="Maven Pro"/>
                <a:sym typeface="Maven Pro"/>
              </a:rPr>
              <a:t>DevOps et principes scientifiques</a:t>
            </a:r>
            <a:endParaRPr sz="1500">
              <a:solidFill>
                <a:srgbClr val="1D63ED"/>
              </a:solidFill>
              <a:latin typeface="Maven Pro"/>
              <a:ea typeface="Maven Pro"/>
              <a:cs typeface="Maven Pro"/>
              <a:sym typeface="Maven Pro"/>
            </a:endParaRPr>
          </a:p>
          <a:p>
            <a:pPr indent="0" lvl="0" marL="0" rtl="0" algn="l">
              <a:spcBef>
                <a:spcPts val="0"/>
              </a:spcBef>
              <a:spcAft>
                <a:spcPts val="0"/>
              </a:spcAft>
              <a:buNone/>
            </a:pPr>
            <a:r>
              <a:rPr b="1" lang="en-GB" sz="2000">
                <a:solidFill>
                  <a:srgbClr val="1D63ED"/>
                </a:solidFill>
                <a:latin typeface="Maven Pro"/>
                <a:ea typeface="Maven Pro"/>
                <a:cs typeface="Maven Pro"/>
                <a:sym typeface="Maven Pro"/>
              </a:rPr>
              <a:t>Loi </a:t>
            </a:r>
            <a:r>
              <a:rPr b="1" lang="en-GB" sz="2000">
                <a:solidFill>
                  <a:srgbClr val="1D63ED"/>
                </a:solidFill>
                <a:latin typeface="Maven Pro"/>
                <a:ea typeface="Maven Pro"/>
                <a:cs typeface="Maven Pro"/>
                <a:sym typeface="Maven Pro"/>
              </a:rPr>
              <a:t>de Amdahl</a:t>
            </a:r>
            <a:r>
              <a:rPr b="1" lang="en-GB" sz="2000">
                <a:solidFill>
                  <a:srgbClr val="1D63ED"/>
                </a:solidFill>
                <a:latin typeface="Maven Pro"/>
                <a:ea typeface="Maven Pro"/>
                <a:cs typeface="Maven Pro"/>
                <a:sym typeface="Maven Pro"/>
              </a:rPr>
              <a:t> (Optimisation de la performance)</a:t>
            </a:r>
            <a:endParaRPr sz="2000">
              <a:solidFill>
                <a:srgbClr val="1D63ED"/>
              </a:solidFill>
              <a:latin typeface="Maven Pro"/>
              <a:ea typeface="Maven Pro"/>
              <a:cs typeface="Maven Pro"/>
              <a:sym typeface="Maven Pro"/>
            </a:endParaRPr>
          </a:p>
        </p:txBody>
      </p:sp>
      <p:pic>
        <p:nvPicPr>
          <p:cNvPr id="269" name="Google Shape;269;p3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270" name="Google Shape;270;p36"/>
          <p:cNvSpPr txBox="1"/>
          <p:nvPr/>
        </p:nvSpPr>
        <p:spPr>
          <a:xfrm>
            <a:off x="601900" y="2117650"/>
            <a:ext cx="7589700" cy="923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GB" sz="1200">
                <a:solidFill>
                  <a:srgbClr val="00084D"/>
                </a:solidFill>
                <a:latin typeface="Maven Pro"/>
                <a:ea typeface="Maven Pro"/>
                <a:cs typeface="Maven Pro"/>
                <a:sym typeface="Maven Pro"/>
              </a:rPr>
              <a:t>Où :</a:t>
            </a:r>
            <a:endParaRPr sz="1200">
              <a:solidFill>
                <a:srgbClr val="00084D"/>
              </a:solidFill>
              <a:latin typeface="Maven Pro"/>
              <a:ea typeface="Maven Pro"/>
              <a:cs typeface="Maven Pro"/>
              <a:sym typeface="Maven Pro"/>
            </a:endParaRPr>
          </a:p>
          <a:p>
            <a:pPr indent="-304800" lvl="0" marL="457200" rtl="0" algn="l">
              <a:lnSpc>
                <a:spcPct val="10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S : Accélération globale.</a:t>
            </a:r>
            <a:endParaRPr sz="1200">
              <a:solidFill>
                <a:srgbClr val="00084D"/>
              </a:solidFill>
              <a:latin typeface="Maven Pro"/>
              <a:ea typeface="Maven Pro"/>
              <a:cs typeface="Maven Pro"/>
              <a:sym typeface="Maven Pro"/>
            </a:endParaRPr>
          </a:p>
          <a:p>
            <a:pPr indent="-304800" lvl="0" marL="457200" rtl="0" algn="l">
              <a:lnSpc>
                <a:spcPct val="100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P : Proportion du système qui peut être optimisée.</a:t>
            </a:r>
            <a:endParaRPr sz="1200">
              <a:solidFill>
                <a:srgbClr val="00084D"/>
              </a:solidFill>
              <a:latin typeface="Maven Pro"/>
              <a:ea typeface="Maven Pro"/>
              <a:cs typeface="Maven Pro"/>
              <a:sym typeface="Maven Pro"/>
            </a:endParaRPr>
          </a:p>
          <a:p>
            <a:pPr indent="-304800" lvl="0" marL="457200" rtl="0" algn="l">
              <a:lnSpc>
                <a:spcPct val="100000"/>
              </a:lnSpc>
              <a:spcBef>
                <a:spcPts val="0"/>
              </a:spcBef>
              <a:spcAft>
                <a:spcPts val="1200"/>
              </a:spcAft>
              <a:buClr>
                <a:srgbClr val="00084D"/>
              </a:buClr>
              <a:buSzPts val="1200"/>
              <a:buFont typeface="Maven Pro"/>
              <a:buChar char="●"/>
            </a:pPr>
            <a:r>
              <a:rPr lang="en-GB" sz="1200">
                <a:solidFill>
                  <a:srgbClr val="00084D"/>
                </a:solidFill>
                <a:latin typeface="Maven Pro"/>
                <a:ea typeface="Maven Pro"/>
                <a:cs typeface="Maven Pro"/>
                <a:sym typeface="Maven Pro"/>
              </a:rPr>
              <a:t>n : Facteur d'amélioration sur la partie optimisée</a:t>
            </a:r>
            <a:endParaRPr sz="1200">
              <a:solidFill>
                <a:srgbClr val="00084D"/>
              </a:solidFill>
              <a:latin typeface="Maven Pro"/>
              <a:ea typeface="Maven Pro"/>
              <a:cs typeface="Maven Pro"/>
              <a:sym typeface="Maven Pro"/>
            </a:endParaRPr>
          </a:p>
        </p:txBody>
      </p:sp>
      <p:sp>
        <p:nvSpPr>
          <p:cNvPr id="271" name="Google Shape;271;p36"/>
          <p:cNvSpPr txBox="1"/>
          <p:nvPr/>
        </p:nvSpPr>
        <p:spPr>
          <a:xfrm>
            <a:off x="670475" y="1169450"/>
            <a:ext cx="7589700" cy="3693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1000"/>
              </a:spcAft>
              <a:buNone/>
            </a:pPr>
            <a:r>
              <a:rPr lang="en-GB" sz="1200">
                <a:solidFill>
                  <a:srgbClr val="00084D"/>
                </a:solidFill>
                <a:latin typeface="Maven Pro"/>
                <a:ea typeface="Maven Pro"/>
                <a:cs typeface="Maven Pro"/>
                <a:sym typeface="Maven Pro"/>
              </a:rPr>
              <a:t>La </a:t>
            </a:r>
            <a:r>
              <a:rPr lang="en-GB" sz="1200">
                <a:solidFill>
                  <a:srgbClr val="00084D"/>
                </a:solidFill>
                <a:latin typeface="Maven Pro Medium"/>
                <a:ea typeface="Maven Pro Medium"/>
                <a:cs typeface="Maven Pro Medium"/>
                <a:sym typeface="Maven Pro Medium"/>
              </a:rPr>
              <a:t>Loi d’Amdahl </a:t>
            </a:r>
            <a:r>
              <a:rPr lang="en-GB" sz="1200">
                <a:solidFill>
                  <a:srgbClr val="00084D"/>
                </a:solidFill>
                <a:latin typeface="Maven Pro"/>
                <a:ea typeface="Maven Pro"/>
                <a:cs typeface="Maven Pro"/>
                <a:sym typeface="Maven Pro"/>
              </a:rPr>
              <a:t>décrit l'effet d'une optimisation locale dans un système global :</a:t>
            </a:r>
            <a:endParaRPr sz="1200">
              <a:solidFill>
                <a:srgbClr val="00084D"/>
              </a:solidFill>
              <a:latin typeface="Maven Pro"/>
              <a:ea typeface="Maven Pro"/>
              <a:cs typeface="Maven Pro"/>
              <a:sym typeface="Maven Pro"/>
            </a:endParaRPr>
          </a:p>
        </p:txBody>
      </p:sp>
      <p:sp>
        <p:nvSpPr>
          <p:cNvPr id="272" name="Google Shape;272;p36"/>
          <p:cNvSpPr/>
          <p:nvPr/>
        </p:nvSpPr>
        <p:spPr>
          <a:xfrm>
            <a:off x="777150" y="1538750"/>
            <a:ext cx="26700" cy="495900"/>
          </a:xfrm>
          <a:prstGeom prst="roundRect">
            <a:avLst>
              <a:gd fmla="val 16667" name="adj"/>
            </a:avLst>
          </a:prstGeom>
          <a:solidFill>
            <a:srgbClr val="B7B7B7"/>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t/>
            </a:r>
            <a:endParaRPr b="1" sz="1200">
              <a:solidFill>
                <a:srgbClr val="17191E"/>
              </a:solidFill>
              <a:latin typeface="Courier New"/>
              <a:ea typeface="Courier New"/>
              <a:cs typeface="Courier New"/>
              <a:sym typeface="Courier New"/>
            </a:endParaRPr>
          </a:p>
        </p:txBody>
      </p:sp>
      <p:sp>
        <p:nvSpPr>
          <p:cNvPr id="273" name="Google Shape;273;p36"/>
          <p:cNvSpPr txBox="1"/>
          <p:nvPr/>
        </p:nvSpPr>
        <p:spPr>
          <a:xfrm>
            <a:off x="803850" y="3220460"/>
            <a:ext cx="7589700" cy="1283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None/>
            </a:pPr>
            <a:r>
              <a:rPr b="1" lang="en-GB" sz="1200">
                <a:solidFill>
                  <a:srgbClr val="00084D"/>
                </a:solidFill>
                <a:latin typeface="Maven Pro"/>
                <a:ea typeface="Maven Pro"/>
                <a:cs typeface="Maven Pro"/>
                <a:sym typeface="Maven Pro"/>
              </a:rPr>
              <a:t>Application DevOps :</a:t>
            </a:r>
            <a:endParaRPr b="1" sz="1200">
              <a:solidFill>
                <a:srgbClr val="00084D"/>
              </a:solidFill>
              <a:latin typeface="Maven Pro"/>
              <a:ea typeface="Maven Pro"/>
              <a:cs typeface="Maven Pro"/>
              <a:sym typeface="Maven Pro"/>
            </a:endParaRPr>
          </a:p>
          <a:p>
            <a:pPr indent="-304800" lvl="0" marL="457200" marR="0" rtl="0" algn="just">
              <a:lnSpc>
                <a:spcPct val="115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L'amélioration d'une partie du processus (comme l'automatisation des tests) peut avoir un impact limité si d'autres parties restent manuelles (exemple : déploiement manuel).</a:t>
            </a:r>
            <a:endParaRPr sz="1200">
              <a:solidFill>
                <a:srgbClr val="00084D"/>
              </a:solidFill>
              <a:latin typeface="Maven Pro"/>
              <a:ea typeface="Maven Pro"/>
              <a:cs typeface="Maven Pro"/>
              <a:sym typeface="Maven Pro"/>
            </a:endParaRPr>
          </a:p>
          <a:p>
            <a:pPr indent="-304800" lvl="0" marL="457200" marR="0" rtl="0" algn="just">
              <a:lnSpc>
                <a:spcPct val="115000"/>
              </a:lnSpc>
              <a:spcBef>
                <a:spcPts val="0"/>
              </a:spcBef>
              <a:spcAft>
                <a:spcPts val="0"/>
              </a:spcAft>
              <a:buClr>
                <a:srgbClr val="00084D"/>
              </a:buClr>
              <a:buSzPts val="1200"/>
              <a:buFont typeface="Maven Pro"/>
              <a:buChar char="●"/>
            </a:pPr>
            <a:r>
              <a:rPr lang="en-GB" sz="1200">
                <a:solidFill>
                  <a:srgbClr val="00084D"/>
                </a:solidFill>
                <a:latin typeface="Maven Pro"/>
                <a:ea typeface="Maven Pro"/>
                <a:cs typeface="Maven Pro"/>
                <a:sym typeface="Maven Pro"/>
              </a:rPr>
              <a:t>Cela encourage une </a:t>
            </a:r>
            <a:r>
              <a:rPr lang="en-GB" sz="1200">
                <a:solidFill>
                  <a:srgbClr val="00084D"/>
                </a:solidFill>
                <a:latin typeface="Maven Pro Medium"/>
                <a:ea typeface="Maven Pro Medium"/>
                <a:cs typeface="Maven Pro Medium"/>
                <a:sym typeface="Maven Pro Medium"/>
              </a:rPr>
              <a:t>optimisation systémique</a:t>
            </a:r>
            <a:r>
              <a:rPr lang="en-GB" sz="1200">
                <a:solidFill>
                  <a:srgbClr val="00084D"/>
                </a:solidFill>
                <a:latin typeface="Maven Pro"/>
                <a:ea typeface="Maven Pro"/>
                <a:cs typeface="Maven Pro"/>
                <a:sym typeface="Maven Pro"/>
              </a:rPr>
              <a:t>, c’est-à-dire l’automatisation et l’amélioration continue de </a:t>
            </a:r>
            <a:r>
              <a:rPr lang="en-GB" sz="1200">
                <a:solidFill>
                  <a:srgbClr val="00084D"/>
                </a:solidFill>
                <a:latin typeface="Maven Pro Medium"/>
                <a:ea typeface="Maven Pro Medium"/>
                <a:cs typeface="Maven Pro Medium"/>
                <a:sym typeface="Maven Pro Medium"/>
              </a:rPr>
              <a:t>tout le pipeline CI/CD</a:t>
            </a:r>
            <a:r>
              <a:rPr lang="en-GB" sz="1200">
                <a:solidFill>
                  <a:srgbClr val="00084D"/>
                </a:solidFill>
                <a:latin typeface="Maven Pro"/>
                <a:ea typeface="Maven Pro"/>
                <a:cs typeface="Maven Pro"/>
                <a:sym typeface="Maven Pro"/>
              </a:rPr>
              <a:t>.</a:t>
            </a:r>
            <a:endParaRPr sz="1200">
              <a:solidFill>
                <a:srgbClr val="00084D"/>
              </a:solidFill>
              <a:latin typeface="Maven Pro"/>
              <a:ea typeface="Maven Pro"/>
              <a:cs typeface="Maven Pro"/>
              <a:sym typeface="Maven Pro"/>
            </a:endParaRPr>
          </a:p>
        </p:txBody>
      </p:sp>
      <p:pic>
        <p:nvPicPr>
          <p:cNvPr id="274" name="Google Shape;274;p36"/>
          <p:cNvPicPr preferRelativeResize="0"/>
          <p:nvPr/>
        </p:nvPicPr>
        <p:blipFill>
          <a:blip r:embed="rId4">
            <a:alphaModFix/>
          </a:blip>
          <a:stretch>
            <a:fillRect/>
          </a:stretch>
        </p:blipFill>
        <p:spPr>
          <a:xfrm>
            <a:off x="1918350" y="1474275"/>
            <a:ext cx="2561688" cy="723300"/>
          </a:xfrm>
          <a:prstGeom prst="rect">
            <a:avLst/>
          </a:prstGeom>
          <a:noFill/>
          <a:ln>
            <a:noFill/>
          </a:ln>
        </p:spPr>
      </p:pic>
      <p:sp>
        <p:nvSpPr>
          <p:cNvPr id="275" name="Google Shape;27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7"/>
          <p:cNvSpPr/>
          <p:nvPr/>
        </p:nvSpPr>
        <p:spPr>
          <a:xfrm>
            <a:off x="-75" y="0"/>
            <a:ext cx="9144000" cy="5143500"/>
          </a:xfrm>
          <a:prstGeom prst="rect">
            <a:avLst/>
          </a:prstGeom>
          <a:solidFill>
            <a:srgbClr val="E6E5DD"/>
          </a:solidFill>
          <a:ln cap="flat" cmpd="sng" w="9525">
            <a:solidFill>
              <a:srgbClr val="E6E5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82" name="Google Shape;282;p37"/>
          <p:cNvPicPr preferRelativeResize="0"/>
          <p:nvPr/>
        </p:nvPicPr>
        <p:blipFill>
          <a:blip r:embed="rId3">
            <a:alphaModFix amt="5000"/>
          </a:blip>
          <a:stretch>
            <a:fillRect/>
          </a:stretch>
        </p:blipFill>
        <p:spPr>
          <a:xfrm>
            <a:off x="4000425" y="0"/>
            <a:ext cx="5143500" cy="5143500"/>
          </a:xfrm>
          <a:prstGeom prst="rect">
            <a:avLst/>
          </a:prstGeom>
          <a:noFill/>
          <a:ln>
            <a:noFill/>
          </a:ln>
        </p:spPr>
      </p:pic>
      <p:sp>
        <p:nvSpPr>
          <p:cNvPr id="283" name="Google Shape;283;p37"/>
          <p:cNvSpPr txBox="1"/>
          <p:nvPr/>
        </p:nvSpPr>
        <p:spPr>
          <a:xfrm>
            <a:off x="548400" y="446150"/>
            <a:ext cx="4572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F74D27"/>
                </a:solidFill>
                <a:latin typeface="Maven Pro"/>
                <a:ea typeface="Maven Pro"/>
                <a:cs typeface="Maven Pro"/>
                <a:sym typeface="Maven Pro"/>
              </a:rPr>
              <a:t>CI/CD</a:t>
            </a:r>
            <a:endParaRPr sz="1500">
              <a:solidFill>
                <a:srgbClr val="F74D27"/>
              </a:solidFill>
              <a:latin typeface="Maven Pro"/>
              <a:ea typeface="Maven Pro"/>
              <a:cs typeface="Maven Pro"/>
              <a:sym typeface="Maven Pro"/>
            </a:endParaRPr>
          </a:p>
          <a:p>
            <a:pPr indent="0" lvl="0" marL="0" rtl="0" algn="l">
              <a:spcBef>
                <a:spcPts val="0"/>
              </a:spcBef>
              <a:spcAft>
                <a:spcPts val="0"/>
              </a:spcAft>
              <a:buNone/>
            </a:pPr>
            <a:r>
              <a:rPr lang="en-GB" sz="3000">
                <a:solidFill>
                  <a:srgbClr val="F74D27"/>
                </a:solidFill>
                <a:latin typeface="Maven Pro"/>
                <a:ea typeface="Maven Pro"/>
                <a:cs typeface="Maven Pro"/>
                <a:sym typeface="Maven Pro"/>
              </a:rPr>
              <a:t>Indicateurs clés</a:t>
            </a:r>
            <a:endParaRPr sz="3000">
              <a:solidFill>
                <a:srgbClr val="F74D27"/>
              </a:solidFill>
              <a:latin typeface="Maven Pro"/>
              <a:ea typeface="Maven Pro"/>
              <a:cs typeface="Maven Pro"/>
              <a:sym typeface="Maven Pro"/>
            </a:endParaRPr>
          </a:p>
        </p:txBody>
      </p:sp>
      <p:pic>
        <p:nvPicPr>
          <p:cNvPr id="284" name="Google Shape;284;p37"/>
          <p:cNvPicPr preferRelativeResize="0"/>
          <p:nvPr/>
        </p:nvPicPr>
        <p:blipFill>
          <a:blip r:embed="rId4">
            <a:alphaModFix/>
          </a:blip>
          <a:stretch>
            <a:fillRect/>
          </a:stretch>
        </p:blipFill>
        <p:spPr>
          <a:xfrm>
            <a:off x="854100" y="2052862"/>
            <a:ext cx="1037775" cy="1037775"/>
          </a:xfrm>
          <a:prstGeom prst="rect">
            <a:avLst/>
          </a:prstGeom>
          <a:noFill/>
          <a:ln>
            <a:noFill/>
          </a:ln>
        </p:spPr>
      </p:pic>
      <p:pic>
        <p:nvPicPr>
          <p:cNvPr id="285" name="Google Shape;285;p37"/>
          <p:cNvPicPr preferRelativeResize="0"/>
          <p:nvPr/>
        </p:nvPicPr>
        <p:blipFill>
          <a:blip r:embed="rId5">
            <a:alphaModFix/>
          </a:blip>
          <a:stretch>
            <a:fillRect/>
          </a:stretch>
        </p:blipFill>
        <p:spPr>
          <a:xfrm>
            <a:off x="2743800" y="1840513"/>
            <a:ext cx="1330400" cy="1330400"/>
          </a:xfrm>
          <a:prstGeom prst="rect">
            <a:avLst/>
          </a:prstGeom>
          <a:noFill/>
          <a:ln>
            <a:noFill/>
          </a:ln>
        </p:spPr>
      </p:pic>
      <p:pic>
        <p:nvPicPr>
          <p:cNvPr id="286" name="Google Shape;286;p37"/>
          <p:cNvPicPr preferRelativeResize="0"/>
          <p:nvPr/>
        </p:nvPicPr>
        <p:blipFill>
          <a:blip r:embed="rId6">
            <a:alphaModFix/>
          </a:blip>
          <a:stretch>
            <a:fillRect/>
          </a:stretch>
        </p:blipFill>
        <p:spPr>
          <a:xfrm>
            <a:off x="4788825" y="1840510"/>
            <a:ext cx="1330400" cy="1330400"/>
          </a:xfrm>
          <a:prstGeom prst="rect">
            <a:avLst/>
          </a:prstGeom>
          <a:noFill/>
          <a:ln>
            <a:noFill/>
          </a:ln>
        </p:spPr>
      </p:pic>
      <p:pic>
        <p:nvPicPr>
          <p:cNvPr id="287" name="Google Shape;287;p37"/>
          <p:cNvPicPr preferRelativeResize="0"/>
          <p:nvPr/>
        </p:nvPicPr>
        <p:blipFill>
          <a:blip r:embed="rId7">
            <a:alphaModFix/>
          </a:blip>
          <a:stretch>
            <a:fillRect/>
          </a:stretch>
        </p:blipFill>
        <p:spPr>
          <a:xfrm>
            <a:off x="6833850" y="1766900"/>
            <a:ext cx="1477626" cy="1477626"/>
          </a:xfrm>
          <a:prstGeom prst="rect">
            <a:avLst/>
          </a:prstGeom>
          <a:noFill/>
          <a:ln>
            <a:noFill/>
          </a:ln>
        </p:spPr>
      </p:pic>
      <p:sp>
        <p:nvSpPr>
          <p:cNvPr id="288" name="Google Shape;288;p37"/>
          <p:cNvSpPr txBox="1"/>
          <p:nvPr/>
        </p:nvSpPr>
        <p:spPr>
          <a:xfrm>
            <a:off x="666925" y="3339575"/>
            <a:ext cx="1412100" cy="461700"/>
          </a:xfrm>
          <a:prstGeom prst="rect">
            <a:avLst/>
          </a:prstGeom>
          <a:noFill/>
          <a:ln>
            <a:noFill/>
          </a:ln>
        </p:spPr>
        <p:txBody>
          <a:bodyPr anchorCtr="0" anchor="ctr" bIns="91425" lIns="91425" spcFirstLastPara="1" rIns="91425" wrap="square" tIns="91425">
            <a:noAutofit/>
          </a:bodyPr>
          <a:lstStyle/>
          <a:p>
            <a:pPr indent="0" lvl="0" marL="0" rtl="0" algn="ctr">
              <a:lnSpc>
                <a:spcPct val="147600"/>
              </a:lnSpc>
              <a:spcBef>
                <a:spcPts val="0"/>
              </a:spcBef>
              <a:spcAft>
                <a:spcPts val="1600"/>
              </a:spcAft>
              <a:buNone/>
            </a:pPr>
            <a:r>
              <a:rPr b="1" lang="en-GB" sz="1800">
                <a:solidFill>
                  <a:srgbClr val="073763"/>
                </a:solidFill>
                <a:latin typeface="Maven Pro"/>
                <a:ea typeface="Maven Pro"/>
                <a:cs typeface="Maven Pro"/>
                <a:sym typeface="Maven Pro"/>
              </a:rPr>
              <a:t>MTTR</a:t>
            </a:r>
            <a:endParaRPr b="1" sz="1800">
              <a:solidFill>
                <a:srgbClr val="073763"/>
              </a:solidFill>
              <a:latin typeface="Maven Pro"/>
              <a:ea typeface="Maven Pro"/>
              <a:cs typeface="Maven Pro"/>
              <a:sym typeface="Maven Pro"/>
            </a:endParaRPr>
          </a:p>
        </p:txBody>
      </p:sp>
      <p:sp>
        <p:nvSpPr>
          <p:cNvPr id="289" name="Google Shape;289;p37"/>
          <p:cNvSpPr txBox="1"/>
          <p:nvPr/>
        </p:nvSpPr>
        <p:spPr>
          <a:xfrm>
            <a:off x="2702950" y="3407650"/>
            <a:ext cx="1565700" cy="461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GB" sz="1800">
                <a:solidFill>
                  <a:srgbClr val="073763"/>
                </a:solidFill>
                <a:latin typeface="Maven Pro"/>
                <a:ea typeface="Maven Pro"/>
                <a:cs typeface="Maven Pro"/>
                <a:sym typeface="Maven Pro"/>
              </a:rPr>
              <a:t>Lead Time for Changes</a:t>
            </a:r>
            <a:endParaRPr b="1" sz="1800">
              <a:solidFill>
                <a:srgbClr val="073763"/>
              </a:solidFill>
              <a:latin typeface="Maven Pro"/>
              <a:ea typeface="Maven Pro"/>
              <a:cs typeface="Maven Pro"/>
              <a:sym typeface="Maven Pro"/>
            </a:endParaRPr>
          </a:p>
        </p:txBody>
      </p:sp>
      <p:sp>
        <p:nvSpPr>
          <p:cNvPr id="290" name="Google Shape;290;p37"/>
          <p:cNvSpPr txBox="1"/>
          <p:nvPr/>
        </p:nvSpPr>
        <p:spPr>
          <a:xfrm>
            <a:off x="4671175" y="3465175"/>
            <a:ext cx="1565700" cy="461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GB" sz="1800">
                <a:solidFill>
                  <a:srgbClr val="073763"/>
                </a:solidFill>
                <a:latin typeface="Maven Pro"/>
                <a:ea typeface="Maven Pro"/>
                <a:cs typeface="Maven Pro"/>
                <a:sym typeface="Maven Pro"/>
              </a:rPr>
              <a:t>Fréquence des déploiement</a:t>
            </a:r>
            <a:endParaRPr b="1" sz="1800">
              <a:solidFill>
                <a:srgbClr val="073763"/>
              </a:solidFill>
              <a:latin typeface="Maven Pro"/>
              <a:ea typeface="Maven Pro"/>
              <a:cs typeface="Maven Pro"/>
              <a:sym typeface="Maven Pro"/>
            </a:endParaRPr>
          </a:p>
        </p:txBody>
      </p:sp>
      <p:sp>
        <p:nvSpPr>
          <p:cNvPr id="291" name="Google Shape;291;p37"/>
          <p:cNvSpPr txBox="1"/>
          <p:nvPr/>
        </p:nvSpPr>
        <p:spPr>
          <a:xfrm>
            <a:off x="6789800" y="3465175"/>
            <a:ext cx="1779300" cy="461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GB" sz="1800">
                <a:solidFill>
                  <a:srgbClr val="073763"/>
                </a:solidFill>
                <a:latin typeface="Maven Pro"/>
                <a:ea typeface="Maven Pro"/>
                <a:cs typeface="Maven Pro"/>
                <a:sym typeface="Maven Pro"/>
              </a:rPr>
              <a:t>Taux de réussite des déploiements</a:t>
            </a:r>
            <a:endParaRPr b="1" sz="1800">
              <a:solidFill>
                <a:srgbClr val="073763"/>
              </a:solidFill>
              <a:latin typeface="Maven Pro"/>
              <a:ea typeface="Maven Pro"/>
              <a:cs typeface="Maven Pro"/>
              <a:sym typeface="Maven Pr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297" name="Google Shape;297;p38"/>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298" name="Google Shape;298;p38"/>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299" name="Google Shape;299;p38"/>
          <p:cNvSpPr txBox="1"/>
          <p:nvPr/>
        </p:nvSpPr>
        <p:spPr>
          <a:xfrm>
            <a:off x="478375" y="1786800"/>
            <a:ext cx="4572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Docker Intro</a:t>
            </a:r>
            <a:endParaRPr sz="4500">
              <a:solidFill>
                <a:srgbClr val="E5F2FC"/>
              </a:solidFill>
              <a:latin typeface="Nunito SemiBold"/>
              <a:ea typeface="Nunito SemiBold"/>
              <a:cs typeface="Nunito SemiBold"/>
              <a:sym typeface="Nunito SemiBold"/>
            </a:endParaRPr>
          </a:p>
        </p:txBody>
      </p:sp>
      <p:sp>
        <p:nvSpPr>
          <p:cNvPr id="300" name="Google Shape;300;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9"/>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306" name="Google Shape;306;p3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a:t>
            </a:r>
            <a:r>
              <a:rPr lang="en-GB" sz="1500">
                <a:solidFill>
                  <a:srgbClr val="073763"/>
                </a:solidFill>
                <a:latin typeface="Maven Pro"/>
                <a:ea typeface="Maven Pro"/>
                <a:cs typeface="Maven Pro"/>
                <a:sym typeface="Maven Pro"/>
              </a:rPr>
              <a:t>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Problématique et Évolution vers les Conteneurs</a:t>
            </a:r>
            <a:endParaRPr sz="2000">
              <a:solidFill>
                <a:srgbClr val="073763"/>
              </a:solidFill>
              <a:latin typeface="Maven Pro"/>
              <a:ea typeface="Maven Pro"/>
              <a:cs typeface="Maven Pro"/>
              <a:sym typeface="Maven Pro"/>
            </a:endParaRPr>
          </a:p>
        </p:txBody>
      </p:sp>
      <p:pic>
        <p:nvPicPr>
          <p:cNvPr id="307" name="Google Shape;307;p3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308" name="Google Shape;308;p39"/>
          <p:cNvSpPr txBox="1"/>
          <p:nvPr/>
        </p:nvSpPr>
        <p:spPr>
          <a:xfrm>
            <a:off x="670475" y="1169450"/>
            <a:ext cx="7589700" cy="1650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Medium"/>
                <a:ea typeface="Maven Pro Medium"/>
                <a:cs typeface="Maven Pro Medium"/>
                <a:sym typeface="Maven Pro Medium"/>
              </a:rPr>
              <a:t>Contexte et problématique initiale</a:t>
            </a:r>
            <a:endParaRPr sz="1100">
              <a:solidFill>
                <a:srgbClr val="00084D"/>
              </a:solidFill>
              <a:latin typeface="Maven Pro Medium"/>
              <a:ea typeface="Maven Pro Medium"/>
              <a:cs typeface="Maven Pro Medium"/>
              <a:sym typeface="Maven Pro Medium"/>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Dans les années 2000, les entreprises faisaient face à plusieurs défis dans le développement, la déploiement, et la maintenance des applications. Ces défis incluaient :</a:t>
            </a:r>
            <a:endParaRPr sz="1100">
              <a:solidFill>
                <a:srgbClr val="00084D"/>
              </a:solidFill>
              <a:latin typeface="Maven Pro"/>
              <a:ea typeface="Maven Pro"/>
              <a:cs typeface="Maven Pro"/>
              <a:sym typeface="Maven Pro"/>
            </a:endParaRPr>
          </a:p>
          <a:p>
            <a:pPr indent="-298450" lvl="0" marL="36576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Problèmes de portabilité entre environnements.</a:t>
            </a:r>
            <a:endParaRPr sz="1100">
              <a:solidFill>
                <a:srgbClr val="00084D"/>
              </a:solidFill>
              <a:latin typeface="Maven Pro"/>
              <a:ea typeface="Maven Pro"/>
              <a:cs typeface="Maven Pro"/>
              <a:sym typeface="Maven Pro"/>
            </a:endParaRPr>
          </a:p>
          <a:p>
            <a:pPr indent="-298450" lvl="0" marL="36576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Surprovisionnement et sous-utilisation des ressources</a:t>
            </a:r>
            <a:endParaRPr sz="1100">
              <a:solidFill>
                <a:srgbClr val="00084D"/>
              </a:solidFill>
              <a:latin typeface="Maven Pro"/>
              <a:ea typeface="Maven Pro"/>
              <a:cs typeface="Maven Pro"/>
              <a:sym typeface="Maven Pro"/>
            </a:endParaRPr>
          </a:p>
          <a:p>
            <a:pPr indent="-298450" lvl="0" marL="36576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Complexité croissante des environnements</a:t>
            </a:r>
            <a:endParaRPr sz="1100">
              <a:solidFill>
                <a:srgbClr val="00084D"/>
              </a:solidFill>
              <a:latin typeface="Maven Pro"/>
              <a:ea typeface="Maven Pro"/>
              <a:cs typeface="Maven Pro"/>
              <a:sym typeface="Maven Pro"/>
            </a:endParaRPr>
          </a:p>
          <a:p>
            <a:pPr indent="-298450" lvl="0" marL="36576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Temps de déploiement lent</a:t>
            </a:r>
            <a:endParaRPr sz="1100">
              <a:solidFill>
                <a:srgbClr val="00084D"/>
              </a:solidFill>
              <a:latin typeface="Maven Pro"/>
              <a:ea typeface="Maven Pro"/>
              <a:cs typeface="Maven Pro"/>
              <a:sym typeface="Maven Pro"/>
            </a:endParaRPr>
          </a:p>
        </p:txBody>
      </p:sp>
      <p:pic>
        <p:nvPicPr>
          <p:cNvPr id="309" name="Google Shape;309;p39"/>
          <p:cNvPicPr preferRelativeResize="0"/>
          <p:nvPr/>
        </p:nvPicPr>
        <p:blipFill>
          <a:blip r:embed="rId4">
            <a:alphaModFix/>
          </a:blip>
          <a:stretch>
            <a:fillRect/>
          </a:stretch>
        </p:blipFill>
        <p:spPr>
          <a:xfrm>
            <a:off x="1167520" y="2393700"/>
            <a:ext cx="1983350" cy="2749800"/>
          </a:xfrm>
          <a:prstGeom prst="rect">
            <a:avLst/>
          </a:prstGeom>
          <a:noFill/>
          <a:ln>
            <a:noFill/>
          </a:ln>
        </p:spPr>
      </p:pic>
      <p:sp>
        <p:nvSpPr>
          <p:cNvPr id="310" name="Google Shape;310;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316" name="Google Shape;316;p4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Problématique et Évolution vers les Conteneurs</a:t>
            </a:r>
            <a:endParaRPr sz="2000">
              <a:solidFill>
                <a:srgbClr val="073763"/>
              </a:solidFill>
              <a:latin typeface="Maven Pro"/>
              <a:ea typeface="Maven Pro"/>
              <a:cs typeface="Maven Pro"/>
              <a:sym typeface="Maven Pro"/>
            </a:endParaRPr>
          </a:p>
        </p:txBody>
      </p:sp>
      <p:pic>
        <p:nvPicPr>
          <p:cNvPr id="317" name="Google Shape;317;p4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318" name="Google Shape;318;p40"/>
          <p:cNvSpPr txBox="1"/>
          <p:nvPr/>
        </p:nvSpPr>
        <p:spPr>
          <a:xfrm>
            <a:off x="670475" y="1169450"/>
            <a:ext cx="7589700" cy="1261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Medium"/>
                <a:ea typeface="Maven Pro Medium"/>
                <a:cs typeface="Maven Pro Medium"/>
                <a:sym typeface="Maven Pro Medium"/>
              </a:rPr>
              <a:t>Première Solution : Virtualisation</a:t>
            </a:r>
            <a:endParaRPr sz="1100">
              <a:solidFill>
                <a:srgbClr val="00084D"/>
              </a:solidFill>
              <a:latin typeface="Maven Pro Medium"/>
              <a:ea typeface="Maven Pro Medium"/>
              <a:cs typeface="Maven Pro Medium"/>
              <a:sym typeface="Maven Pro Medium"/>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Pour répondre à ces problèmes, les organisations ont adopté la </a:t>
            </a:r>
            <a:r>
              <a:rPr lang="en-GB" sz="1100">
                <a:solidFill>
                  <a:srgbClr val="00084D"/>
                </a:solidFill>
                <a:latin typeface="Maven Pro SemiBold"/>
                <a:ea typeface="Maven Pro SemiBold"/>
                <a:cs typeface="Maven Pro SemiBold"/>
                <a:sym typeface="Maven Pro SemiBold"/>
              </a:rPr>
              <a:t>virtualisation</a:t>
            </a:r>
            <a:r>
              <a:rPr lang="en-GB" sz="1100">
                <a:solidFill>
                  <a:srgbClr val="00084D"/>
                </a:solidFill>
                <a:latin typeface="Maven Pro"/>
                <a:ea typeface="Maven Pro"/>
                <a:cs typeface="Maven Pro"/>
                <a:sym typeface="Maven Pro"/>
              </a:rPr>
              <a:t>.</a:t>
            </a:r>
            <a:endParaRPr sz="1100">
              <a:solidFill>
                <a:srgbClr val="00084D"/>
              </a:solidFill>
              <a:latin typeface="Maven Pro"/>
              <a:ea typeface="Maven Pro"/>
              <a:cs typeface="Maven Pro"/>
              <a:sym typeface="Maven Pro"/>
            </a:endParaRPr>
          </a:p>
          <a:p>
            <a:pPr indent="0" lvl="0" marL="0" marR="0" rtl="0" algn="just">
              <a:lnSpc>
                <a:spcPct val="115000"/>
              </a:lnSpc>
              <a:spcBef>
                <a:spcPts val="0"/>
              </a:spcBef>
              <a:spcAft>
                <a:spcPts val="0"/>
              </a:spcAft>
              <a:buNone/>
            </a:pPr>
            <a:r>
              <a:rPr lang="en-GB" sz="1100">
                <a:solidFill>
                  <a:srgbClr val="00084D"/>
                </a:solidFill>
                <a:latin typeface="Maven Pro"/>
                <a:ea typeface="Maven Pro"/>
                <a:cs typeface="Maven Pro"/>
                <a:sym typeface="Maven Pro"/>
              </a:rPr>
              <a:t>La virtualisation est un processus qui consiste à créer une couche d'abstraction au-dessus du matériel, permettant à un seul ordinateur d'être divisé en plusieurs ordinateurs virtuels. Chacun de ces ordinateurs virtuels (appelés "guests") utilise une partie des ressources matérielles de l'ordinateur principal (appelé "hôte").</a:t>
            </a:r>
            <a:endParaRPr sz="1100">
              <a:solidFill>
                <a:srgbClr val="00084D"/>
              </a:solidFill>
              <a:latin typeface="Maven Pro"/>
              <a:ea typeface="Maven Pro"/>
              <a:cs typeface="Maven Pro"/>
              <a:sym typeface="Maven Pro"/>
            </a:endParaRPr>
          </a:p>
        </p:txBody>
      </p:sp>
      <p:pic>
        <p:nvPicPr>
          <p:cNvPr id="319" name="Google Shape;319;p40"/>
          <p:cNvPicPr preferRelativeResize="0"/>
          <p:nvPr/>
        </p:nvPicPr>
        <p:blipFill>
          <a:blip r:embed="rId4">
            <a:alphaModFix amt="35000"/>
          </a:blip>
          <a:stretch>
            <a:fillRect/>
          </a:stretch>
        </p:blipFill>
        <p:spPr>
          <a:xfrm>
            <a:off x="1167520" y="2393700"/>
            <a:ext cx="1983350" cy="2749800"/>
          </a:xfrm>
          <a:prstGeom prst="rect">
            <a:avLst/>
          </a:prstGeom>
          <a:noFill/>
          <a:ln>
            <a:noFill/>
          </a:ln>
        </p:spPr>
      </p:pic>
      <p:pic>
        <p:nvPicPr>
          <p:cNvPr id="320" name="Google Shape;320;p40"/>
          <p:cNvPicPr preferRelativeResize="0"/>
          <p:nvPr/>
        </p:nvPicPr>
        <p:blipFill>
          <a:blip r:embed="rId5">
            <a:alphaModFix/>
          </a:blip>
          <a:stretch>
            <a:fillRect/>
          </a:stretch>
        </p:blipFill>
        <p:spPr>
          <a:xfrm>
            <a:off x="3180350" y="2393700"/>
            <a:ext cx="2303252" cy="2749800"/>
          </a:xfrm>
          <a:prstGeom prst="rect">
            <a:avLst/>
          </a:prstGeom>
          <a:noFill/>
          <a:ln>
            <a:noFill/>
          </a:ln>
        </p:spPr>
      </p:pic>
      <p:sp>
        <p:nvSpPr>
          <p:cNvPr id="321" name="Google Shape;321;p40"/>
          <p:cNvSpPr txBox="1"/>
          <p:nvPr/>
        </p:nvSpPr>
        <p:spPr>
          <a:xfrm>
            <a:off x="5483600" y="2364632"/>
            <a:ext cx="3463500" cy="24957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0084D"/>
              </a:buClr>
              <a:buSzPts val="1100"/>
              <a:buFont typeface="Maven Pro SemiBold"/>
              <a:buChar char="●"/>
            </a:pPr>
            <a:r>
              <a:rPr lang="en-GB" sz="1100">
                <a:solidFill>
                  <a:srgbClr val="00084D"/>
                </a:solidFill>
                <a:latin typeface="Maven Pro SemiBold"/>
                <a:ea typeface="Maven Pro SemiBold"/>
                <a:cs typeface="Maven Pro SemiBold"/>
                <a:sym typeface="Maven Pro SemiBold"/>
              </a:rPr>
              <a:t>Avantages :</a:t>
            </a:r>
            <a:endParaRPr sz="1100">
              <a:solidFill>
                <a:srgbClr val="00084D"/>
              </a:solidFill>
              <a:latin typeface="Maven Pro SemiBold"/>
              <a:ea typeface="Maven Pro SemiBold"/>
              <a:cs typeface="Maven Pro SemiBold"/>
              <a:sym typeface="Maven Pro SemiBold"/>
            </a:endParaRPr>
          </a:p>
          <a:p>
            <a:pPr indent="-298450" lvl="1" marL="914400" rtl="0" algn="just">
              <a:lnSpc>
                <a:spcPct val="115000"/>
              </a:lnSpc>
              <a:spcBef>
                <a:spcPts val="0"/>
              </a:spcBef>
              <a:spcAft>
                <a:spcPts val="0"/>
              </a:spcAft>
              <a:buClr>
                <a:schemeClr val="dk1"/>
              </a:buClr>
              <a:buSzPts val="1100"/>
              <a:buChar char="○"/>
            </a:pPr>
            <a:r>
              <a:rPr lang="en-GB" sz="1100">
                <a:solidFill>
                  <a:srgbClr val="00084D"/>
                </a:solidFill>
                <a:latin typeface="Maven Pro"/>
                <a:ea typeface="Maven Pro"/>
                <a:cs typeface="Maven Pro"/>
                <a:sym typeface="Maven Pro"/>
              </a:rPr>
              <a:t>Isolation totale des environnements.</a:t>
            </a:r>
            <a:endParaRPr sz="1100">
              <a:solidFill>
                <a:srgbClr val="00084D"/>
              </a:solidFill>
              <a:latin typeface="Maven Pro"/>
              <a:ea typeface="Maven Pro"/>
              <a:cs typeface="Maven Pro"/>
              <a:sym typeface="Maven Pro"/>
            </a:endParaRPr>
          </a:p>
          <a:p>
            <a:pPr indent="-298450" lvl="1" marL="914400" rtl="0" algn="just">
              <a:lnSpc>
                <a:spcPct val="115000"/>
              </a:lnSpc>
              <a:spcBef>
                <a:spcPts val="0"/>
              </a:spcBef>
              <a:spcAft>
                <a:spcPts val="0"/>
              </a:spcAft>
              <a:buClr>
                <a:schemeClr val="dk1"/>
              </a:buClr>
              <a:buSzPts val="1100"/>
              <a:buChar char="○"/>
            </a:pPr>
            <a:r>
              <a:rPr lang="en-GB" sz="1100">
                <a:solidFill>
                  <a:srgbClr val="00084D"/>
                </a:solidFill>
                <a:latin typeface="Maven Pro"/>
                <a:ea typeface="Maven Pro"/>
                <a:cs typeface="Maven Pro"/>
                <a:sym typeface="Maven Pro"/>
              </a:rPr>
              <a:t>Meilleure utilisation des ressources.</a:t>
            </a:r>
            <a:endParaRPr sz="1100">
              <a:solidFill>
                <a:srgbClr val="00084D"/>
              </a:solidFill>
              <a:latin typeface="Maven Pro"/>
              <a:ea typeface="Maven Pro"/>
              <a:cs typeface="Maven Pro"/>
              <a:sym typeface="Maven Pro"/>
            </a:endParaRPr>
          </a:p>
          <a:p>
            <a:pPr indent="-298450" lvl="1" marL="914400" rtl="0" algn="just">
              <a:lnSpc>
                <a:spcPct val="115000"/>
              </a:lnSpc>
              <a:spcBef>
                <a:spcPts val="0"/>
              </a:spcBef>
              <a:spcAft>
                <a:spcPts val="0"/>
              </a:spcAft>
              <a:buClr>
                <a:schemeClr val="dk1"/>
              </a:buClr>
              <a:buSzPts val="1100"/>
              <a:buChar char="○"/>
            </a:pPr>
            <a:r>
              <a:rPr lang="en-GB" sz="1100">
                <a:solidFill>
                  <a:srgbClr val="00084D"/>
                </a:solidFill>
                <a:latin typeface="Maven Pro"/>
                <a:ea typeface="Maven Pro"/>
                <a:cs typeface="Maven Pro"/>
                <a:sym typeface="Maven Pro"/>
              </a:rPr>
              <a:t>Portabilité accrue.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SemiBold"/>
              <a:buChar char="●"/>
            </a:pPr>
            <a:r>
              <a:rPr lang="en-GB" sz="1100">
                <a:solidFill>
                  <a:srgbClr val="00084D"/>
                </a:solidFill>
                <a:latin typeface="Maven Pro SemiBold"/>
                <a:ea typeface="Maven Pro SemiBold"/>
                <a:cs typeface="Maven Pro SemiBold"/>
                <a:sym typeface="Maven Pro SemiBold"/>
              </a:rPr>
              <a:t>Limites</a:t>
            </a:r>
            <a:r>
              <a:rPr lang="en-GB" sz="1100">
                <a:solidFill>
                  <a:srgbClr val="00084D"/>
                </a:solidFill>
                <a:latin typeface="Maven Pro SemiBold"/>
                <a:ea typeface="Maven Pro SemiBold"/>
                <a:cs typeface="Maven Pro SemiBold"/>
                <a:sym typeface="Maven Pro SemiBold"/>
              </a:rPr>
              <a:t> :</a:t>
            </a:r>
            <a:endParaRPr sz="1100">
              <a:solidFill>
                <a:srgbClr val="00084D"/>
              </a:solidFill>
              <a:latin typeface="Maven Pro SemiBold"/>
              <a:ea typeface="Maven Pro SemiBold"/>
              <a:cs typeface="Maven Pro SemiBold"/>
              <a:sym typeface="Maven Pro SemiBold"/>
            </a:endParaRPr>
          </a:p>
          <a:p>
            <a:pPr indent="-298450" lvl="1" marL="914400" rtl="0" algn="just">
              <a:lnSpc>
                <a:spcPct val="115000"/>
              </a:lnSpc>
              <a:spcBef>
                <a:spcPts val="0"/>
              </a:spcBef>
              <a:spcAft>
                <a:spcPts val="0"/>
              </a:spcAft>
              <a:buClr>
                <a:schemeClr val="dk1"/>
              </a:buClr>
              <a:buSzPts val="1100"/>
              <a:buChar char="○"/>
            </a:pPr>
            <a:r>
              <a:rPr lang="en-GB" sz="1100">
                <a:solidFill>
                  <a:srgbClr val="00084D"/>
                </a:solidFill>
                <a:latin typeface="Maven Pro"/>
                <a:ea typeface="Maven Pro"/>
                <a:cs typeface="Maven Pro"/>
                <a:sym typeface="Maven Pro"/>
              </a:rPr>
              <a:t>Les VMs sont lourdes en ressources (chaque VM nécessite un système d'exploitation complet).</a:t>
            </a:r>
            <a:endParaRPr sz="1100">
              <a:solidFill>
                <a:srgbClr val="00084D"/>
              </a:solidFill>
              <a:latin typeface="Maven Pro"/>
              <a:ea typeface="Maven Pro"/>
              <a:cs typeface="Maven Pro"/>
              <a:sym typeface="Maven Pro"/>
            </a:endParaRPr>
          </a:p>
          <a:p>
            <a:pPr indent="-298450" lvl="1" marL="914400" rtl="0" algn="just">
              <a:lnSpc>
                <a:spcPct val="115000"/>
              </a:lnSpc>
              <a:spcBef>
                <a:spcPts val="0"/>
              </a:spcBef>
              <a:spcAft>
                <a:spcPts val="0"/>
              </a:spcAft>
              <a:buClr>
                <a:schemeClr val="dk1"/>
              </a:buClr>
              <a:buSzPts val="1100"/>
              <a:buChar char="○"/>
            </a:pPr>
            <a:r>
              <a:rPr lang="en-GB" sz="1100">
                <a:solidFill>
                  <a:srgbClr val="00084D"/>
                </a:solidFill>
                <a:latin typeface="Maven Pro"/>
                <a:ea typeface="Maven Pro"/>
                <a:cs typeface="Maven Pro"/>
                <a:sym typeface="Maven Pro"/>
              </a:rPr>
              <a:t>Temps de démarrage lent des machines virtuelles.</a:t>
            </a:r>
            <a:endParaRPr sz="1100">
              <a:solidFill>
                <a:srgbClr val="00084D"/>
              </a:solidFill>
              <a:latin typeface="Maven Pro"/>
              <a:ea typeface="Maven Pro"/>
              <a:cs typeface="Maven Pro"/>
              <a:sym typeface="Maven Pro"/>
            </a:endParaRPr>
          </a:p>
          <a:p>
            <a:pPr indent="-298450" lvl="1" marL="914400" rtl="0" algn="just">
              <a:lnSpc>
                <a:spcPct val="115000"/>
              </a:lnSpc>
              <a:spcBef>
                <a:spcPts val="0"/>
              </a:spcBef>
              <a:spcAft>
                <a:spcPts val="0"/>
              </a:spcAft>
              <a:buClr>
                <a:schemeClr val="dk1"/>
              </a:buClr>
              <a:buSzPts val="1100"/>
              <a:buChar char="○"/>
            </a:pPr>
            <a:r>
              <a:rPr lang="en-GB" sz="1100">
                <a:solidFill>
                  <a:srgbClr val="00084D"/>
                </a:solidFill>
                <a:latin typeface="Maven Pro"/>
                <a:ea typeface="Maven Pro"/>
                <a:cs typeface="Maven Pro"/>
                <a:sym typeface="Maven Pro"/>
              </a:rPr>
              <a:t>Maintenance plus complexe à grande échelle.</a:t>
            </a:r>
            <a:endParaRPr/>
          </a:p>
        </p:txBody>
      </p:sp>
      <p:sp>
        <p:nvSpPr>
          <p:cNvPr id="322" name="Google Shape;32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1"/>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328" name="Google Shape;328;p4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Problématique et Évolution vers les Conteneurs</a:t>
            </a:r>
            <a:endParaRPr sz="2000">
              <a:solidFill>
                <a:srgbClr val="073763"/>
              </a:solidFill>
              <a:latin typeface="Maven Pro"/>
              <a:ea typeface="Maven Pro"/>
              <a:cs typeface="Maven Pro"/>
              <a:sym typeface="Maven Pro"/>
            </a:endParaRPr>
          </a:p>
        </p:txBody>
      </p:sp>
      <p:pic>
        <p:nvPicPr>
          <p:cNvPr id="329" name="Google Shape;329;p4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330" name="Google Shape;330;p41"/>
          <p:cNvSpPr txBox="1"/>
          <p:nvPr/>
        </p:nvSpPr>
        <p:spPr>
          <a:xfrm>
            <a:off x="670475" y="1169450"/>
            <a:ext cx="7589700" cy="871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Medium"/>
                <a:ea typeface="Maven Pro Medium"/>
                <a:cs typeface="Maven Pro Medium"/>
                <a:sym typeface="Maven Pro Medium"/>
              </a:rPr>
              <a:t>L'émergence des conteneurs</a:t>
            </a:r>
            <a:endParaRPr sz="1100">
              <a:solidFill>
                <a:srgbClr val="00084D"/>
              </a:solidFill>
              <a:latin typeface="Maven Pro Medium"/>
              <a:ea typeface="Maven Pro Medium"/>
              <a:cs typeface="Maven Pro Medium"/>
              <a:sym typeface="Maven Pro Medium"/>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Pour résoudre les limitations de la virtualisation, le concept de </a:t>
            </a:r>
            <a:r>
              <a:rPr lang="en-GB" sz="1100">
                <a:solidFill>
                  <a:srgbClr val="00084D"/>
                </a:solidFill>
                <a:latin typeface="Maven Pro Medium"/>
                <a:ea typeface="Maven Pro Medium"/>
                <a:cs typeface="Maven Pro Medium"/>
                <a:sym typeface="Maven Pro Medium"/>
              </a:rPr>
              <a:t>conteneurisation</a:t>
            </a:r>
            <a:r>
              <a:rPr lang="en-GB" sz="1100">
                <a:solidFill>
                  <a:srgbClr val="00084D"/>
                </a:solidFill>
                <a:latin typeface="Maven Pro"/>
                <a:ea typeface="Maven Pro"/>
                <a:cs typeface="Maven Pro"/>
                <a:sym typeface="Maven Pro"/>
              </a:rPr>
              <a:t> a émergé. Les conteneurs offrent une isolation des applications tout en étant plus légers et efficaces que les VMs.</a:t>
            </a:r>
            <a:endParaRPr sz="1100">
              <a:solidFill>
                <a:srgbClr val="00084D"/>
              </a:solidFill>
              <a:latin typeface="Maven Pro"/>
              <a:ea typeface="Maven Pro"/>
              <a:cs typeface="Maven Pro"/>
              <a:sym typeface="Maven Pro"/>
            </a:endParaRPr>
          </a:p>
        </p:txBody>
      </p:sp>
      <p:pic>
        <p:nvPicPr>
          <p:cNvPr id="331" name="Google Shape;331;p41"/>
          <p:cNvPicPr preferRelativeResize="0"/>
          <p:nvPr/>
        </p:nvPicPr>
        <p:blipFill>
          <a:blip r:embed="rId4">
            <a:alphaModFix amt="35000"/>
          </a:blip>
          <a:stretch>
            <a:fillRect/>
          </a:stretch>
        </p:blipFill>
        <p:spPr>
          <a:xfrm>
            <a:off x="1167520" y="2393700"/>
            <a:ext cx="1983350" cy="2749800"/>
          </a:xfrm>
          <a:prstGeom prst="rect">
            <a:avLst/>
          </a:prstGeom>
          <a:noFill/>
          <a:ln>
            <a:noFill/>
          </a:ln>
        </p:spPr>
      </p:pic>
      <p:pic>
        <p:nvPicPr>
          <p:cNvPr id="332" name="Google Shape;332;p41"/>
          <p:cNvPicPr preferRelativeResize="0"/>
          <p:nvPr/>
        </p:nvPicPr>
        <p:blipFill>
          <a:blip r:embed="rId5">
            <a:alphaModFix amt="35000"/>
          </a:blip>
          <a:stretch>
            <a:fillRect/>
          </a:stretch>
        </p:blipFill>
        <p:spPr>
          <a:xfrm>
            <a:off x="3180350" y="2393700"/>
            <a:ext cx="2303252" cy="2749800"/>
          </a:xfrm>
          <a:prstGeom prst="rect">
            <a:avLst/>
          </a:prstGeom>
          <a:noFill/>
          <a:ln>
            <a:noFill/>
          </a:ln>
        </p:spPr>
      </p:pic>
      <p:pic>
        <p:nvPicPr>
          <p:cNvPr id="333" name="Google Shape;333;p41"/>
          <p:cNvPicPr preferRelativeResize="0"/>
          <p:nvPr/>
        </p:nvPicPr>
        <p:blipFill>
          <a:blip r:embed="rId6">
            <a:alphaModFix/>
          </a:blip>
          <a:stretch>
            <a:fillRect/>
          </a:stretch>
        </p:blipFill>
        <p:spPr>
          <a:xfrm>
            <a:off x="5563575" y="2393699"/>
            <a:ext cx="2303250" cy="2749801"/>
          </a:xfrm>
          <a:prstGeom prst="rect">
            <a:avLst/>
          </a:prstGeom>
          <a:noFill/>
          <a:ln>
            <a:noFill/>
          </a:ln>
        </p:spPr>
      </p:pic>
      <p:sp>
        <p:nvSpPr>
          <p:cNvPr id="334" name="Google Shape;33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2"/>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340" name="Google Shape;340;p4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Problématique et Évolution vers les Conteneurs</a:t>
            </a:r>
            <a:endParaRPr sz="2000">
              <a:solidFill>
                <a:srgbClr val="073763"/>
              </a:solidFill>
              <a:latin typeface="Maven Pro"/>
              <a:ea typeface="Maven Pro"/>
              <a:cs typeface="Maven Pro"/>
              <a:sym typeface="Maven Pro"/>
            </a:endParaRPr>
          </a:p>
        </p:txBody>
      </p:sp>
      <p:pic>
        <p:nvPicPr>
          <p:cNvPr id="341" name="Google Shape;341;p4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342" name="Google Shape;34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43" name="Google Shape;343;p42"/>
          <p:cNvPicPr preferRelativeResize="0"/>
          <p:nvPr/>
        </p:nvPicPr>
        <p:blipFill>
          <a:blip r:embed="rId4">
            <a:alphaModFix/>
          </a:blip>
          <a:stretch>
            <a:fillRect/>
          </a:stretch>
        </p:blipFill>
        <p:spPr>
          <a:xfrm>
            <a:off x="1608440" y="1082600"/>
            <a:ext cx="5927124" cy="40295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3"/>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349" name="Google Shape;349;p4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Problématique et Évolution vers les Conteneurs</a:t>
            </a:r>
            <a:endParaRPr sz="2000">
              <a:solidFill>
                <a:srgbClr val="073763"/>
              </a:solidFill>
              <a:latin typeface="Maven Pro"/>
              <a:ea typeface="Maven Pro"/>
              <a:cs typeface="Maven Pro"/>
              <a:sym typeface="Maven Pro"/>
            </a:endParaRPr>
          </a:p>
        </p:txBody>
      </p:sp>
      <p:pic>
        <p:nvPicPr>
          <p:cNvPr id="350" name="Google Shape;350;p4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351" name="Google Shape;351;p43"/>
          <p:cNvSpPr/>
          <p:nvPr/>
        </p:nvSpPr>
        <p:spPr>
          <a:xfrm>
            <a:off x="2481971" y="1512725"/>
            <a:ext cx="2097900" cy="465600"/>
          </a:xfrm>
          <a:prstGeom prst="roundRect">
            <a:avLst>
              <a:gd fmla="val 16667" name="adj"/>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000">
                <a:solidFill>
                  <a:srgbClr val="1D63ED"/>
                </a:solidFill>
                <a:latin typeface="Maven Pro"/>
                <a:ea typeface="Maven Pro"/>
                <a:cs typeface="Maven Pro"/>
                <a:sym typeface="Maven Pro"/>
              </a:rPr>
              <a:t>Virtualisation</a:t>
            </a:r>
            <a:endParaRPr sz="2000">
              <a:solidFill>
                <a:srgbClr val="1D63ED"/>
              </a:solidFill>
              <a:latin typeface="Maven Pro"/>
              <a:ea typeface="Maven Pro"/>
              <a:cs typeface="Maven Pro"/>
              <a:sym typeface="Maven Pro"/>
            </a:endParaRPr>
          </a:p>
        </p:txBody>
      </p:sp>
      <p:sp>
        <p:nvSpPr>
          <p:cNvPr id="352" name="Google Shape;352;p43"/>
          <p:cNvSpPr/>
          <p:nvPr/>
        </p:nvSpPr>
        <p:spPr>
          <a:xfrm>
            <a:off x="5130348" y="1512725"/>
            <a:ext cx="2730600" cy="465600"/>
          </a:xfrm>
          <a:prstGeom prst="roundRect">
            <a:avLst>
              <a:gd fmla="val 16667" name="adj"/>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2000">
                <a:solidFill>
                  <a:srgbClr val="1D63ED"/>
                </a:solidFill>
                <a:latin typeface="Maven Pro"/>
                <a:ea typeface="Maven Pro"/>
                <a:cs typeface="Maven Pro"/>
                <a:sym typeface="Maven Pro"/>
              </a:rPr>
              <a:t>Containerization</a:t>
            </a:r>
            <a:endParaRPr sz="2000">
              <a:solidFill>
                <a:srgbClr val="1D63ED"/>
              </a:solidFill>
              <a:latin typeface="Maven Pro"/>
              <a:ea typeface="Maven Pro"/>
              <a:cs typeface="Maven Pro"/>
              <a:sym typeface="Maven Pro"/>
            </a:endParaRPr>
          </a:p>
        </p:txBody>
      </p:sp>
      <p:sp>
        <p:nvSpPr>
          <p:cNvPr id="353" name="Google Shape;353;p43"/>
          <p:cNvSpPr txBox="1"/>
          <p:nvPr/>
        </p:nvSpPr>
        <p:spPr>
          <a:xfrm>
            <a:off x="2481974" y="2319893"/>
            <a:ext cx="2240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00084D"/>
                </a:solidFill>
                <a:latin typeface="Nunito"/>
                <a:ea typeface="Nunito"/>
                <a:cs typeface="Nunito"/>
                <a:sym typeface="Nunito"/>
              </a:rPr>
              <a:t>Run full OS kernel</a:t>
            </a:r>
            <a:endParaRPr sz="1100">
              <a:solidFill>
                <a:srgbClr val="00084D"/>
              </a:solidFill>
              <a:latin typeface="Nunito"/>
              <a:ea typeface="Nunito"/>
              <a:cs typeface="Nunito"/>
              <a:sym typeface="Nunito"/>
            </a:endParaRPr>
          </a:p>
        </p:txBody>
      </p:sp>
      <p:sp>
        <p:nvSpPr>
          <p:cNvPr id="354" name="Google Shape;354;p43"/>
          <p:cNvSpPr txBox="1"/>
          <p:nvPr/>
        </p:nvSpPr>
        <p:spPr>
          <a:xfrm>
            <a:off x="5130348" y="2319893"/>
            <a:ext cx="2240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GB" sz="1100">
                <a:solidFill>
                  <a:srgbClr val="00084D"/>
                </a:solidFill>
                <a:latin typeface="Nunito"/>
                <a:ea typeface="Nunito"/>
                <a:cs typeface="Nunito"/>
                <a:sym typeface="Nunito"/>
              </a:rPr>
              <a:t>Share host OS kernel</a:t>
            </a:r>
            <a:endParaRPr sz="1100">
              <a:solidFill>
                <a:srgbClr val="00084D"/>
              </a:solidFill>
              <a:latin typeface="Nunito"/>
              <a:ea typeface="Nunito"/>
              <a:cs typeface="Nunito"/>
              <a:sym typeface="Nunito"/>
            </a:endParaRPr>
          </a:p>
        </p:txBody>
      </p:sp>
      <p:sp>
        <p:nvSpPr>
          <p:cNvPr id="355" name="Google Shape;355;p43"/>
          <p:cNvSpPr txBox="1"/>
          <p:nvPr/>
        </p:nvSpPr>
        <p:spPr>
          <a:xfrm>
            <a:off x="1101563" y="2319893"/>
            <a:ext cx="122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solidFill>
                  <a:srgbClr val="00084D"/>
                </a:solidFill>
                <a:latin typeface="Nunito"/>
                <a:ea typeface="Nunito"/>
                <a:cs typeface="Nunito"/>
                <a:sym typeface="Nunito"/>
              </a:rPr>
              <a:t>OS</a:t>
            </a:r>
            <a:endParaRPr b="1" sz="1100">
              <a:solidFill>
                <a:srgbClr val="00084D"/>
              </a:solidFill>
              <a:latin typeface="Nunito"/>
              <a:ea typeface="Nunito"/>
              <a:cs typeface="Nunito"/>
              <a:sym typeface="Nunito"/>
            </a:endParaRPr>
          </a:p>
        </p:txBody>
      </p:sp>
      <p:sp>
        <p:nvSpPr>
          <p:cNvPr id="356" name="Google Shape;356;p43"/>
          <p:cNvSpPr txBox="1"/>
          <p:nvPr/>
        </p:nvSpPr>
        <p:spPr>
          <a:xfrm>
            <a:off x="1101577" y="1567158"/>
            <a:ext cx="1227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500">
                <a:solidFill>
                  <a:srgbClr val="00084D"/>
                </a:solidFill>
                <a:latin typeface="Nunito"/>
                <a:ea typeface="Nunito"/>
                <a:cs typeface="Nunito"/>
                <a:sym typeface="Nunito"/>
              </a:rPr>
              <a:t>Aspect</a:t>
            </a:r>
            <a:endParaRPr b="1" sz="1500">
              <a:solidFill>
                <a:srgbClr val="00084D"/>
              </a:solidFill>
              <a:latin typeface="Nunito"/>
              <a:ea typeface="Nunito"/>
              <a:cs typeface="Nunito"/>
              <a:sym typeface="Nunito"/>
            </a:endParaRPr>
          </a:p>
        </p:txBody>
      </p:sp>
      <p:sp>
        <p:nvSpPr>
          <p:cNvPr id="357" name="Google Shape;357;p43"/>
          <p:cNvSpPr txBox="1"/>
          <p:nvPr/>
        </p:nvSpPr>
        <p:spPr>
          <a:xfrm>
            <a:off x="2481974" y="2665519"/>
            <a:ext cx="2240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00084D"/>
                </a:solidFill>
                <a:latin typeface="Nunito"/>
                <a:ea typeface="Nunito"/>
                <a:cs typeface="Nunito"/>
                <a:sym typeface="Nunito"/>
              </a:rPr>
              <a:t>Higher resource usage</a:t>
            </a:r>
            <a:endParaRPr sz="1100">
              <a:solidFill>
                <a:srgbClr val="00084D"/>
              </a:solidFill>
              <a:latin typeface="Nunito"/>
              <a:ea typeface="Nunito"/>
              <a:cs typeface="Nunito"/>
              <a:sym typeface="Nunito"/>
            </a:endParaRPr>
          </a:p>
        </p:txBody>
      </p:sp>
      <p:sp>
        <p:nvSpPr>
          <p:cNvPr id="358" name="Google Shape;358;p43"/>
          <p:cNvSpPr txBox="1"/>
          <p:nvPr/>
        </p:nvSpPr>
        <p:spPr>
          <a:xfrm>
            <a:off x="5130348" y="2665519"/>
            <a:ext cx="2810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00084D"/>
                </a:solidFill>
                <a:latin typeface="Nunito"/>
                <a:ea typeface="Nunito"/>
                <a:cs typeface="Nunito"/>
                <a:sym typeface="Nunito"/>
              </a:rPr>
              <a:t>Lightweight, minimal overhead</a:t>
            </a:r>
            <a:endParaRPr sz="1100">
              <a:solidFill>
                <a:srgbClr val="00084D"/>
              </a:solidFill>
              <a:latin typeface="Nunito"/>
              <a:ea typeface="Nunito"/>
              <a:cs typeface="Nunito"/>
              <a:sym typeface="Nunito"/>
            </a:endParaRPr>
          </a:p>
        </p:txBody>
      </p:sp>
      <p:sp>
        <p:nvSpPr>
          <p:cNvPr id="359" name="Google Shape;359;p43"/>
          <p:cNvSpPr txBox="1"/>
          <p:nvPr/>
        </p:nvSpPr>
        <p:spPr>
          <a:xfrm>
            <a:off x="1101563" y="2665519"/>
            <a:ext cx="122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solidFill>
                  <a:srgbClr val="00084D"/>
                </a:solidFill>
                <a:latin typeface="Nunito"/>
                <a:ea typeface="Nunito"/>
                <a:cs typeface="Nunito"/>
                <a:sym typeface="Nunito"/>
              </a:rPr>
              <a:t>Resource usage</a:t>
            </a:r>
            <a:endParaRPr b="1" sz="1100">
              <a:solidFill>
                <a:srgbClr val="00084D"/>
              </a:solidFill>
              <a:latin typeface="Nunito"/>
              <a:ea typeface="Nunito"/>
              <a:cs typeface="Nunito"/>
              <a:sym typeface="Nunito"/>
            </a:endParaRPr>
          </a:p>
        </p:txBody>
      </p:sp>
      <p:sp>
        <p:nvSpPr>
          <p:cNvPr id="360" name="Google Shape;360;p43"/>
          <p:cNvSpPr txBox="1"/>
          <p:nvPr/>
        </p:nvSpPr>
        <p:spPr>
          <a:xfrm>
            <a:off x="2481974" y="3011146"/>
            <a:ext cx="2240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00084D"/>
                </a:solidFill>
                <a:latin typeface="Nunito"/>
                <a:ea typeface="Nunito"/>
                <a:cs typeface="Nunito"/>
                <a:sym typeface="Nunito"/>
              </a:rPr>
              <a:t>Minutes</a:t>
            </a:r>
            <a:endParaRPr sz="1100">
              <a:solidFill>
                <a:srgbClr val="00084D"/>
              </a:solidFill>
              <a:latin typeface="Nunito"/>
              <a:ea typeface="Nunito"/>
              <a:cs typeface="Nunito"/>
              <a:sym typeface="Nunito"/>
            </a:endParaRPr>
          </a:p>
        </p:txBody>
      </p:sp>
      <p:sp>
        <p:nvSpPr>
          <p:cNvPr id="361" name="Google Shape;361;p43"/>
          <p:cNvSpPr txBox="1"/>
          <p:nvPr/>
        </p:nvSpPr>
        <p:spPr>
          <a:xfrm>
            <a:off x="5130348" y="3011146"/>
            <a:ext cx="2240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GB" sz="1100">
                <a:solidFill>
                  <a:srgbClr val="00084D"/>
                </a:solidFill>
                <a:latin typeface="Nunito"/>
                <a:ea typeface="Nunito"/>
                <a:cs typeface="Nunito"/>
                <a:sym typeface="Nunito"/>
              </a:rPr>
              <a:t>Seconds</a:t>
            </a:r>
            <a:endParaRPr sz="1100">
              <a:solidFill>
                <a:srgbClr val="00084D"/>
              </a:solidFill>
              <a:latin typeface="Nunito"/>
              <a:ea typeface="Nunito"/>
              <a:cs typeface="Nunito"/>
              <a:sym typeface="Nunito"/>
            </a:endParaRPr>
          </a:p>
        </p:txBody>
      </p:sp>
      <p:sp>
        <p:nvSpPr>
          <p:cNvPr id="362" name="Google Shape;362;p43"/>
          <p:cNvSpPr txBox="1"/>
          <p:nvPr/>
        </p:nvSpPr>
        <p:spPr>
          <a:xfrm>
            <a:off x="1101563" y="3011146"/>
            <a:ext cx="122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solidFill>
                  <a:srgbClr val="00084D"/>
                </a:solidFill>
                <a:latin typeface="Nunito"/>
                <a:ea typeface="Nunito"/>
                <a:cs typeface="Nunito"/>
                <a:sym typeface="Nunito"/>
              </a:rPr>
              <a:t>Boot Time</a:t>
            </a:r>
            <a:endParaRPr b="1" sz="1100">
              <a:solidFill>
                <a:srgbClr val="00084D"/>
              </a:solidFill>
              <a:latin typeface="Nunito"/>
              <a:ea typeface="Nunito"/>
              <a:cs typeface="Nunito"/>
              <a:sym typeface="Nunito"/>
            </a:endParaRPr>
          </a:p>
        </p:txBody>
      </p:sp>
      <p:sp>
        <p:nvSpPr>
          <p:cNvPr id="363" name="Google Shape;363;p43"/>
          <p:cNvSpPr txBox="1"/>
          <p:nvPr/>
        </p:nvSpPr>
        <p:spPr>
          <a:xfrm>
            <a:off x="2481974" y="3317634"/>
            <a:ext cx="2240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00084D"/>
                </a:solidFill>
                <a:latin typeface="Nunito"/>
                <a:ea typeface="Nunito"/>
                <a:cs typeface="Nunito"/>
                <a:sym typeface="Nunito"/>
              </a:rPr>
              <a:t>Full isolation</a:t>
            </a:r>
            <a:endParaRPr sz="1100">
              <a:solidFill>
                <a:srgbClr val="00084D"/>
              </a:solidFill>
              <a:latin typeface="Nunito"/>
              <a:ea typeface="Nunito"/>
              <a:cs typeface="Nunito"/>
              <a:sym typeface="Nunito"/>
            </a:endParaRPr>
          </a:p>
        </p:txBody>
      </p:sp>
      <p:sp>
        <p:nvSpPr>
          <p:cNvPr id="364" name="Google Shape;364;p43"/>
          <p:cNvSpPr txBox="1"/>
          <p:nvPr/>
        </p:nvSpPr>
        <p:spPr>
          <a:xfrm>
            <a:off x="5130348" y="3317634"/>
            <a:ext cx="2240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GB" sz="1100">
                <a:solidFill>
                  <a:srgbClr val="00084D"/>
                </a:solidFill>
                <a:latin typeface="Nunito"/>
                <a:ea typeface="Nunito"/>
                <a:cs typeface="Nunito"/>
                <a:sym typeface="Nunito"/>
              </a:rPr>
              <a:t>Process-level isolation</a:t>
            </a:r>
            <a:endParaRPr sz="1100">
              <a:solidFill>
                <a:srgbClr val="00084D"/>
              </a:solidFill>
              <a:latin typeface="Nunito"/>
              <a:ea typeface="Nunito"/>
              <a:cs typeface="Nunito"/>
              <a:sym typeface="Nunito"/>
            </a:endParaRPr>
          </a:p>
        </p:txBody>
      </p:sp>
      <p:sp>
        <p:nvSpPr>
          <p:cNvPr id="365" name="Google Shape;365;p43"/>
          <p:cNvSpPr txBox="1"/>
          <p:nvPr/>
        </p:nvSpPr>
        <p:spPr>
          <a:xfrm>
            <a:off x="1101563" y="3317634"/>
            <a:ext cx="122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solidFill>
                  <a:srgbClr val="00084D"/>
                </a:solidFill>
                <a:latin typeface="Nunito"/>
                <a:ea typeface="Nunito"/>
                <a:cs typeface="Nunito"/>
                <a:sym typeface="Nunito"/>
              </a:rPr>
              <a:t>Isolation</a:t>
            </a:r>
            <a:endParaRPr b="1" sz="1100">
              <a:solidFill>
                <a:srgbClr val="00084D"/>
              </a:solidFill>
              <a:latin typeface="Nunito"/>
              <a:ea typeface="Nunito"/>
              <a:cs typeface="Nunito"/>
              <a:sym typeface="Nunito"/>
            </a:endParaRPr>
          </a:p>
        </p:txBody>
      </p:sp>
      <p:sp>
        <p:nvSpPr>
          <p:cNvPr id="366" name="Google Shape;366;p43"/>
          <p:cNvSpPr txBox="1"/>
          <p:nvPr/>
        </p:nvSpPr>
        <p:spPr>
          <a:xfrm>
            <a:off x="2481974" y="3663260"/>
            <a:ext cx="24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00084D"/>
                </a:solidFill>
                <a:latin typeface="Nunito"/>
                <a:ea typeface="Nunito"/>
                <a:cs typeface="Nunito"/>
                <a:sym typeface="Nunito"/>
              </a:rPr>
              <a:t>Less portable, OS-dependent</a:t>
            </a:r>
            <a:endParaRPr sz="1100">
              <a:solidFill>
                <a:srgbClr val="00084D"/>
              </a:solidFill>
              <a:latin typeface="Nunito"/>
              <a:ea typeface="Nunito"/>
              <a:cs typeface="Nunito"/>
              <a:sym typeface="Nunito"/>
            </a:endParaRPr>
          </a:p>
        </p:txBody>
      </p:sp>
      <p:sp>
        <p:nvSpPr>
          <p:cNvPr id="367" name="Google Shape;367;p43"/>
          <p:cNvSpPr txBox="1"/>
          <p:nvPr/>
        </p:nvSpPr>
        <p:spPr>
          <a:xfrm>
            <a:off x="5130348" y="3663260"/>
            <a:ext cx="2912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00084D"/>
                </a:solidFill>
                <a:latin typeface="Nunito"/>
                <a:ea typeface="Nunito"/>
                <a:cs typeface="Nunito"/>
                <a:sym typeface="Nunito"/>
              </a:rPr>
              <a:t>Highly portable across diﬀerent OSes</a:t>
            </a:r>
            <a:endParaRPr sz="1100">
              <a:solidFill>
                <a:srgbClr val="00084D"/>
              </a:solidFill>
              <a:latin typeface="Nunito"/>
              <a:ea typeface="Nunito"/>
              <a:cs typeface="Nunito"/>
              <a:sym typeface="Nunito"/>
            </a:endParaRPr>
          </a:p>
        </p:txBody>
      </p:sp>
      <p:sp>
        <p:nvSpPr>
          <p:cNvPr id="368" name="Google Shape;368;p43"/>
          <p:cNvSpPr txBox="1"/>
          <p:nvPr/>
        </p:nvSpPr>
        <p:spPr>
          <a:xfrm>
            <a:off x="1101563" y="3663260"/>
            <a:ext cx="122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solidFill>
                  <a:srgbClr val="00084D"/>
                </a:solidFill>
                <a:latin typeface="Nunito"/>
                <a:ea typeface="Nunito"/>
                <a:cs typeface="Nunito"/>
                <a:sym typeface="Nunito"/>
              </a:rPr>
              <a:t>Portability</a:t>
            </a:r>
            <a:endParaRPr b="1" sz="1100">
              <a:solidFill>
                <a:srgbClr val="00084D"/>
              </a:solidFill>
              <a:latin typeface="Nunito"/>
              <a:ea typeface="Nunito"/>
              <a:cs typeface="Nunito"/>
              <a:sym typeface="Nunito"/>
            </a:endParaRPr>
          </a:p>
        </p:txBody>
      </p:sp>
      <p:sp>
        <p:nvSpPr>
          <p:cNvPr id="369" name="Google Shape;369;p43"/>
          <p:cNvSpPr txBox="1"/>
          <p:nvPr/>
        </p:nvSpPr>
        <p:spPr>
          <a:xfrm>
            <a:off x="2481974" y="4008887"/>
            <a:ext cx="2240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00084D"/>
                </a:solidFill>
                <a:latin typeface="Nunito"/>
                <a:ea typeface="Nunito"/>
                <a:cs typeface="Nunito"/>
                <a:sym typeface="Nunito"/>
              </a:rPr>
              <a:t>Slight performance overhead</a:t>
            </a:r>
            <a:endParaRPr sz="1100">
              <a:solidFill>
                <a:srgbClr val="00084D"/>
              </a:solidFill>
              <a:latin typeface="Nunito"/>
              <a:ea typeface="Nunito"/>
              <a:cs typeface="Nunito"/>
              <a:sym typeface="Nunito"/>
            </a:endParaRPr>
          </a:p>
        </p:txBody>
      </p:sp>
      <p:sp>
        <p:nvSpPr>
          <p:cNvPr id="370" name="Google Shape;370;p43"/>
          <p:cNvSpPr txBox="1"/>
          <p:nvPr/>
        </p:nvSpPr>
        <p:spPr>
          <a:xfrm>
            <a:off x="5130348" y="4008887"/>
            <a:ext cx="2240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GB" sz="1100">
                <a:solidFill>
                  <a:srgbClr val="00084D"/>
                </a:solidFill>
                <a:latin typeface="Nunito"/>
                <a:ea typeface="Nunito"/>
                <a:cs typeface="Nunito"/>
                <a:sym typeface="Nunito"/>
              </a:rPr>
              <a:t>Near-native performance</a:t>
            </a:r>
            <a:endParaRPr sz="1100">
              <a:solidFill>
                <a:srgbClr val="00084D"/>
              </a:solidFill>
              <a:latin typeface="Nunito"/>
              <a:ea typeface="Nunito"/>
              <a:cs typeface="Nunito"/>
              <a:sym typeface="Nunito"/>
            </a:endParaRPr>
          </a:p>
        </p:txBody>
      </p:sp>
      <p:sp>
        <p:nvSpPr>
          <p:cNvPr id="371" name="Google Shape;371;p43"/>
          <p:cNvSpPr txBox="1"/>
          <p:nvPr/>
        </p:nvSpPr>
        <p:spPr>
          <a:xfrm>
            <a:off x="1101563" y="4008887"/>
            <a:ext cx="122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solidFill>
                  <a:srgbClr val="00084D"/>
                </a:solidFill>
                <a:latin typeface="Nunito"/>
                <a:ea typeface="Nunito"/>
                <a:cs typeface="Nunito"/>
                <a:sym typeface="Nunito"/>
              </a:rPr>
              <a:t>Performance</a:t>
            </a:r>
            <a:endParaRPr b="1" sz="1100">
              <a:solidFill>
                <a:srgbClr val="00084D"/>
              </a:solidFill>
              <a:latin typeface="Nunito"/>
              <a:ea typeface="Nunito"/>
              <a:cs typeface="Nunito"/>
              <a:sym typeface="Nunito"/>
            </a:endParaRPr>
          </a:p>
        </p:txBody>
      </p:sp>
      <p:sp>
        <p:nvSpPr>
          <p:cNvPr id="372" name="Google Shape;372;p43"/>
          <p:cNvSpPr txBox="1"/>
          <p:nvPr/>
        </p:nvSpPr>
        <p:spPr>
          <a:xfrm>
            <a:off x="2481974" y="4354513"/>
            <a:ext cx="2240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00084D"/>
                </a:solidFill>
                <a:latin typeface="Nunito"/>
                <a:ea typeface="Nunito"/>
                <a:cs typeface="Nunito"/>
                <a:sym typeface="Nunito"/>
              </a:rPr>
              <a:t>Larger (GBs)</a:t>
            </a:r>
            <a:endParaRPr sz="1100">
              <a:solidFill>
                <a:srgbClr val="00084D"/>
              </a:solidFill>
              <a:latin typeface="Nunito"/>
              <a:ea typeface="Nunito"/>
              <a:cs typeface="Nunito"/>
              <a:sym typeface="Nunito"/>
            </a:endParaRPr>
          </a:p>
        </p:txBody>
      </p:sp>
      <p:sp>
        <p:nvSpPr>
          <p:cNvPr id="373" name="Google Shape;373;p43"/>
          <p:cNvSpPr txBox="1"/>
          <p:nvPr/>
        </p:nvSpPr>
        <p:spPr>
          <a:xfrm>
            <a:off x="5130348" y="4354513"/>
            <a:ext cx="2240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GB" sz="1100">
                <a:solidFill>
                  <a:srgbClr val="00084D"/>
                </a:solidFill>
                <a:latin typeface="Nunito"/>
                <a:ea typeface="Nunito"/>
                <a:cs typeface="Nunito"/>
                <a:sym typeface="Nunito"/>
              </a:rPr>
              <a:t>Typically smaller (MBs)</a:t>
            </a:r>
            <a:endParaRPr sz="1100">
              <a:solidFill>
                <a:srgbClr val="00084D"/>
              </a:solidFill>
              <a:latin typeface="Nunito"/>
              <a:ea typeface="Nunito"/>
              <a:cs typeface="Nunito"/>
              <a:sym typeface="Nunito"/>
            </a:endParaRPr>
          </a:p>
        </p:txBody>
      </p:sp>
      <p:sp>
        <p:nvSpPr>
          <p:cNvPr id="374" name="Google Shape;374;p43"/>
          <p:cNvSpPr txBox="1"/>
          <p:nvPr/>
        </p:nvSpPr>
        <p:spPr>
          <a:xfrm>
            <a:off x="1101563" y="4354513"/>
            <a:ext cx="122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solidFill>
                  <a:srgbClr val="00084D"/>
                </a:solidFill>
                <a:latin typeface="Nunito"/>
                <a:ea typeface="Nunito"/>
                <a:cs typeface="Nunito"/>
                <a:sym typeface="Nunito"/>
              </a:rPr>
              <a:t>Storage</a:t>
            </a:r>
            <a:endParaRPr b="1" sz="1100">
              <a:solidFill>
                <a:srgbClr val="00084D"/>
              </a:solidFill>
              <a:latin typeface="Nunito"/>
              <a:ea typeface="Nunito"/>
              <a:cs typeface="Nunito"/>
              <a:sym typeface="Nunito"/>
            </a:endParaRPr>
          </a:p>
        </p:txBody>
      </p:sp>
      <p:cxnSp>
        <p:nvCxnSpPr>
          <p:cNvPr id="375" name="Google Shape;375;p43"/>
          <p:cNvCxnSpPr/>
          <p:nvPr/>
        </p:nvCxnSpPr>
        <p:spPr>
          <a:xfrm flipH="1" rot="10800000">
            <a:off x="1101563" y="2665394"/>
            <a:ext cx="6840000" cy="3600"/>
          </a:xfrm>
          <a:prstGeom prst="straightConnector1">
            <a:avLst/>
          </a:prstGeom>
          <a:noFill/>
          <a:ln cap="flat" cmpd="sng" w="9525">
            <a:solidFill>
              <a:schemeClr val="dk2"/>
            </a:solidFill>
            <a:prstDash val="solid"/>
            <a:round/>
            <a:headEnd len="med" w="med" type="none"/>
            <a:tailEnd len="med" w="med" type="none"/>
          </a:ln>
        </p:spPr>
      </p:cxnSp>
      <p:cxnSp>
        <p:nvCxnSpPr>
          <p:cNvPr id="376" name="Google Shape;376;p43"/>
          <p:cNvCxnSpPr/>
          <p:nvPr/>
        </p:nvCxnSpPr>
        <p:spPr>
          <a:xfrm flipH="1" rot="10800000">
            <a:off x="1097138" y="3029332"/>
            <a:ext cx="6840000" cy="3600"/>
          </a:xfrm>
          <a:prstGeom prst="straightConnector1">
            <a:avLst/>
          </a:prstGeom>
          <a:noFill/>
          <a:ln cap="flat" cmpd="sng" w="9525">
            <a:solidFill>
              <a:schemeClr val="dk2"/>
            </a:solidFill>
            <a:prstDash val="solid"/>
            <a:round/>
            <a:headEnd len="med" w="med" type="none"/>
            <a:tailEnd len="med" w="med" type="none"/>
          </a:ln>
        </p:spPr>
      </p:cxnSp>
      <p:cxnSp>
        <p:nvCxnSpPr>
          <p:cNvPr id="377" name="Google Shape;377;p43"/>
          <p:cNvCxnSpPr/>
          <p:nvPr/>
        </p:nvCxnSpPr>
        <p:spPr>
          <a:xfrm flipH="1" rot="10800000">
            <a:off x="1101563" y="3331103"/>
            <a:ext cx="6840000" cy="3600"/>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43"/>
          <p:cNvCxnSpPr/>
          <p:nvPr/>
        </p:nvCxnSpPr>
        <p:spPr>
          <a:xfrm flipH="1" rot="10800000">
            <a:off x="1101563" y="3660162"/>
            <a:ext cx="6840000" cy="3600"/>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43"/>
          <p:cNvCxnSpPr/>
          <p:nvPr/>
        </p:nvCxnSpPr>
        <p:spPr>
          <a:xfrm flipH="1" rot="10800000">
            <a:off x="1088168" y="4014373"/>
            <a:ext cx="6840000" cy="3600"/>
          </a:xfrm>
          <a:prstGeom prst="straightConnector1">
            <a:avLst/>
          </a:prstGeom>
          <a:noFill/>
          <a:ln cap="flat" cmpd="sng" w="9525">
            <a:solidFill>
              <a:schemeClr val="dk2"/>
            </a:solidFill>
            <a:prstDash val="solid"/>
            <a:round/>
            <a:headEnd len="med" w="med" type="none"/>
            <a:tailEnd len="med" w="med" type="none"/>
          </a:ln>
        </p:spPr>
      </p:cxnSp>
      <p:cxnSp>
        <p:nvCxnSpPr>
          <p:cNvPr id="380" name="Google Shape;380;p43"/>
          <p:cNvCxnSpPr/>
          <p:nvPr/>
        </p:nvCxnSpPr>
        <p:spPr>
          <a:xfrm flipH="1" rot="10800000">
            <a:off x="1072243" y="4345962"/>
            <a:ext cx="6840000" cy="3600"/>
          </a:xfrm>
          <a:prstGeom prst="straightConnector1">
            <a:avLst/>
          </a:prstGeom>
          <a:noFill/>
          <a:ln cap="flat" cmpd="sng" w="9525">
            <a:solidFill>
              <a:schemeClr val="dk2"/>
            </a:solidFill>
            <a:prstDash val="solid"/>
            <a:round/>
            <a:headEnd len="med" w="med" type="none"/>
            <a:tailEnd len="med" w="med" type="none"/>
          </a:ln>
        </p:spPr>
      </p:cxnSp>
      <p:cxnSp>
        <p:nvCxnSpPr>
          <p:cNvPr id="381" name="Google Shape;381;p43"/>
          <p:cNvCxnSpPr/>
          <p:nvPr/>
        </p:nvCxnSpPr>
        <p:spPr>
          <a:xfrm flipH="1" rot="10800000">
            <a:off x="1065546" y="4722794"/>
            <a:ext cx="6840000" cy="3600"/>
          </a:xfrm>
          <a:prstGeom prst="straightConnector1">
            <a:avLst/>
          </a:prstGeom>
          <a:noFill/>
          <a:ln cap="flat" cmpd="sng" w="9525">
            <a:solidFill>
              <a:schemeClr val="dk2"/>
            </a:solidFill>
            <a:prstDash val="solid"/>
            <a:round/>
            <a:headEnd len="med" w="med" type="none"/>
            <a:tailEnd len="med" w="med" type="none"/>
          </a:ln>
        </p:spPr>
      </p:cxnSp>
      <p:sp>
        <p:nvSpPr>
          <p:cNvPr id="382" name="Google Shape;382;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4"/>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388" name="Google Shape;388;p4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Définition</a:t>
            </a:r>
            <a:endParaRPr sz="2000">
              <a:solidFill>
                <a:srgbClr val="073763"/>
              </a:solidFill>
              <a:latin typeface="Maven Pro"/>
              <a:ea typeface="Maven Pro"/>
              <a:cs typeface="Maven Pro"/>
              <a:sym typeface="Maven Pro"/>
            </a:endParaRPr>
          </a:p>
        </p:txBody>
      </p:sp>
      <p:pic>
        <p:nvPicPr>
          <p:cNvPr id="389" name="Google Shape;389;p4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390" name="Google Shape;390;p44"/>
          <p:cNvSpPr txBox="1"/>
          <p:nvPr/>
        </p:nvSpPr>
        <p:spPr>
          <a:xfrm>
            <a:off x="670475" y="1169450"/>
            <a:ext cx="7589700" cy="7434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Un conteneur est une unité légère et isolée qui inclut une application et toutes ses dépendances, lui permettant de s'exécuter de la même manière, quel que soit l'endroit où il est déployé. Les conteneurs partagent le noyau du système hôte, mais s'exécutent de manière séparée les uns des autres.</a:t>
            </a:r>
            <a:endParaRPr sz="1100">
              <a:solidFill>
                <a:srgbClr val="00084D"/>
              </a:solidFill>
              <a:latin typeface="Maven Pro"/>
              <a:ea typeface="Maven Pro"/>
              <a:cs typeface="Maven Pro"/>
              <a:sym typeface="Maven Pro"/>
            </a:endParaRPr>
          </a:p>
        </p:txBody>
      </p:sp>
      <p:sp>
        <p:nvSpPr>
          <p:cNvPr id="391" name="Google Shape;39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92" name="Google Shape;392;p44"/>
          <p:cNvPicPr preferRelativeResize="0"/>
          <p:nvPr/>
        </p:nvPicPr>
        <p:blipFill>
          <a:blip r:embed="rId4">
            <a:alphaModFix/>
          </a:blip>
          <a:stretch>
            <a:fillRect/>
          </a:stretch>
        </p:blipFill>
        <p:spPr>
          <a:xfrm>
            <a:off x="6453525" y="1955300"/>
            <a:ext cx="2304351" cy="2304351"/>
          </a:xfrm>
          <a:prstGeom prst="rect">
            <a:avLst/>
          </a:prstGeom>
          <a:noFill/>
          <a:ln>
            <a:noFill/>
          </a:ln>
        </p:spPr>
      </p:pic>
      <p:sp>
        <p:nvSpPr>
          <p:cNvPr id="393" name="Google Shape;393;p44"/>
          <p:cNvSpPr txBox="1"/>
          <p:nvPr/>
        </p:nvSpPr>
        <p:spPr>
          <a:xfrm>
            <a:off x="670475" y="1955300"/>
            <a:ext cx="5783100" cy="2168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t/>
            </a:r>
            <a:endParaRPr sz="1100">
              <a:solidFill>
                <a:srgbClr val="00084D"/>
              </a:solidFill>
              <a:latin typeface="Maven Pro"/>
              <a:ea typeface="Maven Pro"/>
              <a:cs typeface="Maven Pro"/>
              <a:sym typeface="Maven Pro"/>
            </a:endParaRPr>
          </a:p>
          <a:p>
            <a:pPr indent="0" lvl="0" marL="0" rtl="0" algn="just">
              <a:lnSpc>
                <a:spcPct val="115000"/>
              </a:lnSpc>
              <a:spcBef>
                <a:spcPts val="1000"/>
              </a:spcBef>
              <a:spcAft>
                <a:spcPts val="0"/>
              </a:spcAft>
              <a:buNone/>
            </a:pPr>
            <a:r>
              <a:rPr b="1" lang="en-GB" sz="1100">
                <a:solidFill>
                  <a:srgbClr val="00084D"/>
                </a:solidFill>
                <a:latin typeface="Maven Pro"/>
                <a:ea typeface="Maven Pro"/>
                <a:cs typeface="Maven Pro"/>
                <a:sym typeface="Maven Pro"/>
              </a:rPr>
              <a:t>Docker</a:t>
            </a:r>
            <a:endParaRPr b="1" sz="1100">
              <a:solidFill>
                <a:srgbClr val="00084D"/>
              </a:solidFill>
              <a:latin typeface="Maven Pro"/>
              <a:ea typeface="Maven Pro"/>
              <a:cs typeface="Maven Pro"/>
              <a:sym typeface="Maven Pro"/>
            </a:endParaRPr>
          </a:p>
          <a:p>
            <a:pPr indent="0" lvl="0" marL="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Docker est une plateforme open-source pour le développement, l'expédition et l'exécution d'applications. Docker vous permet de séparer vos applications de votre infrastructure, ce qui vous permet de livrer des logiciels plus rapidement. Avec Docker, vous pouvez gérer votre infrastructure de la même manière que vous gérez vos applications. En tirant parti des méthodologies de Docker pour expédier, tester et déployer du code, vous pouvez réduire de manière significative le délai entre l'écriture du code et son exécution en production.</a:t>
            </a:r>
            <a:endParaRPr sz="1100">
              <a:solidFill>
                <a:srgbClr val="00084D"/>
              </a:solidFill>
              <a:latin typeface="Maven Pro"/>
              <a:ea typeface="Maven Pro"/>
              <a:cs typeface="Maven Pro"/>
              <a:sym typeface="Maven Pr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5"/>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pic>
        <p:nvPicPr>
          <p:cNvPr id="399" name="Google Shape;399;p4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400" name="Google Shape;400;p45"/>
          <p:cNvSpPr/>
          <p:nvPr/>
        </p:nvSpPr>
        <p:spPr>
          <a:xfrm>
            <a:off x="1564938" y="1842775"/>
            <a:ext cx="1479600" cy="618000"/>
          </a:xfrm>
          <a:prstGeom prst="roundRect">
            <a:avLst>
              <a:gd fmla="val 16667" name="adj"/>
            </a:avLst>
          </a:prstGeom>
          <a:solidFill>
            <a:srgbClr val="00084D"/>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Consistency</a:t>
            </a:r>
            <a:endParaRPr>
              <a:solidFill>
                <a:srgbClr val="E5F2FC"/>
              </a:solidFill>
              <a:latin typeface="Nunito"/>
              <a:ea typeface="Nunito"/>
              <a:cs typeface="Nunito"/>
              <a:sym typeface="Nunito"/>
            </a:endParaRPr>
          </a:p>
        </p:txBody>
      </p:sp>
      <p:sp>
        <p:nvSpPr>
          <p:cNvPr id="401" name="Google Shape;401;p45"/>
          <p:cNvSpPr/>
          <p:nvPr/>
        </p:nvSpPr>
        <p:spPr>
          <a:xfrm>
            <a:off x="383218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Isolation</a:t>
            </a:r>
            <a:endParaRPr>
              <a:solidFill>
                <a:srgbClr val="E5F2FC"/>
              </a:solidFill>
              <a:latin typeface="Nunito"/>
              <a:ea typeface="Nunito"/>
              <a:cs typeface="Nunito"/>
              <a:sym typeface="Nunito"/>
            </a:endParaRPr>
          </a:p>
        </p:txBody>
      </p:sp>
      <p:sp>
        <p:nvSpPr>
          <p:cNvPr id="402" name="Google Shape;402;p45"/>
          <p:cNvSpPr/>
          <p:nvPr/>
        </p:nvSpPr>
        <p:spPr>
          <a:xfrm>
            <a:off x="609943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Portability</a:t>
            </a:r>
            <a:endParaRPr>
              <a:solidFill>
                <a:srgbClr val="E5F2FC"/>
              </a:solidFill>
              <a:latin typeface="Nunito"/>
              <a:ea typeface="Nunito"/>
              <a:cs typeface="Nunito"/>
              <a:sym typeface="Nunito"/>
            </a:endParaRPr>
          </a:p>
        </p:txBody>
      </p:sp>
      <p:sp>
        <p:nvSpPr>
          <p:cNvPr id="403" name="Google Shape;403;p45"/>
          <p:cNvSpPr/>
          <p:nvPr/>
        </p:nvSpPr>
        <p:spPr>
          <a:xfrm>
            <a:off x="1564938" y="268272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Eﬃciency</a:t>
            </a:r>
            <a:endParaRPr>
              <a:solidFill>
                <a:srgbClr val="E5F2FC"/>
              </a:solidFill>
              <a:latin typeface="Nunito"/>
              <a:ea typeface="Nunito"/>
              <a:cs typeface="Nunito"/>
              <a:sym typeface="Nunito"/>
            </a:endParaRPr>
          </a:p>
        </p:txBody>
      </p:sp>
      <p:sp>
        <p:nvSpPr>
          <p:cNvPr id="404" name="Google Shape;404;p45"/>
          <p:cNvSpPr/>
          <p:nvPr/>
        </p:nvSpPr>
        <p:spPr>
          <a:xfrm>
            <a:off x="3832188" y="268272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Scalability</a:t>
            </a:r>
            <a:endParaRPr>
              <a:solidFill>
                <a:srgbClr val="E5F2FC"/>
              </a:solidFill>
              <a:latin typeface="Nunito"/>
              <a:ea typeface="Nunito"/>
              <a:cs typeface="Nunito"/>
              <a:sym typeface="Nunito"/>
            </a:endParaRPr>
          </a:p>
        </p:txBody>
      </p:sp>
      <p:sp>
        <p:nvSpPr>
          <p:cNvPr id="405" name="Google Shape;405;p45"/>
          <p:cNvSpPr/>
          <p:nvPr/>
        </p:nvSpPr>
        <p:spPr>
          <a:xfrm>
            <a:off x="6099438" y="268272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Version Control</a:t>
            </a:r>
            <a:endParaRPr>
              <a:solidFill>
                <a:srgbClr val="E5F2FC"/>
              </a:solidFill>
              <a:latin typeface="Nunito"/>
              <a:ea typeface="Nunito"/>
              <a:cs typeface="Nunito"/>
              <a:sym typeface="Nunito"/>
            </a:endParaRPr>
          </a:p>
        </p:txBody>
      </p:sp>
      <p:sp>
        <p:nvSpPr>
          <p:cNvPr id="406" name="Google Shape;406;p45"/>
          <p:cNvSpPr txBox="1"/>
          <p:nvPr/>
        </p:nvSpPr>
        <p:spPr>
          <a:xfrm>
            <a:off x="991350" y="3660900"/>
            <a:ext cx="7161300" cy="123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sz="1500">
                <a:solidFill>
                  <a:srgbClr val="00084D"/>
                </a:solidFill>
                <a:latin typeface="Nunito"/>
                <a:ea typeface="Nunito"/>
                <a:cs typeface="Nunito"/>
                <a:sym typeface="Nunito"/>
              </a:rPr>
              <a:t>Garantit que les applications fonctionnent de la même manière dans les environnements de développement, de test et de production.</a:t>
            </a:r>
            <a:endParaRPr sz="1500">
              <a:solidFill>
                <a:srgbClr val="00084D"/>
              </a:solidFill>
              <a:latin typeface="Nunito"/>
              <a:ea typeface="Nunito"/>
              <a:cs typeface="Nunito"/>
              <a:sym typeface="Nunito"/>
            </a:endParaRPr>
          </a:p>
        </p:txBody>
      </p:sp>
      <p:sp>
        <p:nvSpPr>
          <p:cNvPr id="407" name="Google Shape;407;p4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Pourquoi</a:t>
            </a:r>
            <a:endParaRPr sz="2000">
              <a:solidFill>
                <a:srgbClr val="073763"/>
              </a:solidFill>
              <a:latin typeface="Maven Pro"/>
              <a:ea typeface="Maven Pro"/>
              <a:cs typeface="Maven Pro"/>
              <a:sym typeface="Maven Pro"/>
            </a:endParaRPr>
          </a:p>
        </p:txBody>
      </p:sp>
      <p:sp>
        <p:nvSpPr>
          <p:cNvPr id="408" name="Google Shape;408;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6"/>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pic>
        <p:nvPicPr>
          <p:cNvPr id="414" name="Google Shape;414;p4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415" name="Google Shape;415;p46"/>
          <p:cNvSpPr/>
          <p:nvPr/>
        </p:nvSpPr>
        <p:spPr>
          <a:xfrm>
            <a:off x="156493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Consistency</a:t>
            </a:r>
            <a:endParaRPr>
              <a:solidFill>
                <a:srgbClr val="00084D"/>
              </a:solidFill>
              <a:latin typeface="Nunito"/>
              <a:ea typeface="Nunito"/>
              <a:cs typeface="Nunito"/>
              <a:sym typeface="Nunito"/>
            </a:endParaRPr>
          </a:p>
        </p:txBody>
      </p:sp>
      <p:sp>
        <p:nvSpPr>
          <p:cNvPr id="416" name="Google Shape;416;p46"/>
          <p:cNvSpPr/>
          <p:nvPr/>
        </p:nvSpPr>
        <p:spPr>
          <a:xfrm>
            <a:off x="3832188" y="1842775"/>
            <a:ext cx="1479600" cy="618000"/>
          </a:xfrm>
          <a:prstGeom prst="roundRect">
            <a:avLst>
              <a:gd fmla="val 16667" name="adj"/>
            </a:avLst>
          </a:prstGeom>
          <a:solidFill>
            <a:srgbClr val="00084D"/>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Isolation</a:t>
            </a:r>
            <a:endParaRPr>
              <a:solidFill>
                <a:srgbClr val="E5F2FC"/>
              </a:solidFill>
              <a:latin typeface="Nunito"/>
              <a:ea typeface="Nunito"/>
              <a:cs typeface="Nunito"/>
              <a:sym typeface="Nunito"/>
            </a:endParaRPr>
          </a:p>
        </p:txBody>
      </p:sp>
      <p:sp>
        <p:nvSpPr>
          <p:cNvPr id="417" name="Google Shape;417;p46"/>
          <p:cNvSpPr/>
          <p:nvPr/>
        </p:nvSpPr>
        <p:spPr>
          <a:xfrm>
            <a:off x="609943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Portability</a:t>
            </a:r>
            <a:endParaRPr>
              <a:solidFill>
                <a:srgbClr val="E5F2FC"/>
              </a:solidFill>
              <a:latin typeface="Nunito"/>
              <a:ea typeface="Nunito"/>
              <a:cs typeface="Nunito"/>
              <a:sym typeface="Nunito"/>
            </a:endParaRPr>
          </a:p>
        </p:txBody>
      </p:sp>
      <p:sp>
        <p:nvSpPr>
          <p:cNvPr id="418" name="Google Shape;418;p46"/>
          <p:cNvSpPr/>
          <p:nvPr/>
        </p:nvSpPr>
        <p:spPr>
          <a:xfrm>
            <a:off x="1564938" y="268272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Eﬃciency</a:t>
            </a:r>
            <a:endParaRPr>
              <a:solidFill>
                <a:srgbClr val="E5F2FC"/>
              </a:solidFill>
              <a:latin typeface="Nunito"/>
              <a:ea typeface="Nunito"/>
              <a:cs typeface="Nunito"/>
              <a:sym typeface="Nunito"/>
            </a:endParaRPr>
          </a:p>
        </p:txBody>
      </p:sp>
      <p:sp>
        <p:nvSpPr>
          <p:cNvPr id="419" name="Google Shape;419;p46"/>
          <p:cNvSpPr/>
          <p:nvPr/>
        </p:nvSpPr>
        <p:spPr>
          <a:xfrm>
            <a:off x="3832188" y="268272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Scalability</a:t>
            </a:r>
            <a:endParaRPr>
              <a:solidFill>
                <a:srgbClr val="E5F2FC"/>
              </a:solidFill>
              <a:latin typeface="Nunito"/>
              <a:ea typeface="Nunito"/>
              <a:cs typeface="Nunito"/>
              <a:sym typeface="Nunito"/>
            </a:endParaRPr>
          </a:p>
        </p:txBody>
      </p:sp>
      <p:sp>
        <p:nvSpPr>
          <p:cNvPr id="420" name="Google Shape;420;p46"/>
          <p:cNvSpPr/>
          <p:nvPr/>
        </p:nvSpPr>
        <p:spPr>
          <a:xfrm>
            <a:off x="6099438" y="268272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Version Control</a:t>
            </a:r>
            <a:endParaRPr>
              <a:solidFill>
                <a:srgbClr val="E5F2FC"/>
              </a:solidFill>
              <a:latin typeface="Nunito"/>
              <a:ea typeface="Nunito"/>
              <a:cs typeface="Nunito"/>
              <a:sym typeface="Nunito"/>
            </a:endParaRPr>
          </a:p>
        </p:txBody>
      </p:sp>
      <p:sp>
        <p:nvSpPr>
          <p:cNvPr id="421" name="Google Shape;421;p46"/>
          <p:cNvSpPr txBox="1"/>
          <p:nvPr/>
        </p:nvSpPr>
        <p:spPr>
          <a:xfrm>
            <a:off x="991350" y="3660900"/>
            <a:ext cx="7161300" cy="123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sz="1500">
                <a:solidFill>
                  <a:srgbClr val="00084D"/>
                </a:solidFill>
                <a:latin typeface="Nunito"/>
                <a:ea typeface="Nunito"/>
                <a:cs typeface="Nunito"/>
                <a:sym typeface="Nunito"/>
              </a:rPr>
              <a:t>Les conteneurs sont isolés les uns des autres et du système hôte, ce qui améliore la sécurité et réduit les conflits.</a:t>
            </a:r>
            <a:endParaRPr sz="1500">
              <a:solidFill>
                <a:srgbClr val="00084D"/>
              </a:solidFill>
              <a:latin typeface="Nunito"/>
              <a:ea typeface="Nunito"/>
              <a:cs typeface="Nunito"/>
              <a:sym typeface="Nunito"/>
            </a:endParaRPr>
          </a:p>
        </p:txBody>
      </p:sp>
      <p:sp>
        <p:nvSpPr>
          <p:cNvPr id="422" name="Google Shape;422;p4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Pourquoi</a:t>
            </a:r>
            <a:endParaRPr sz="2000">
              <a:solidFill>
                <a:srgbClr val="073763"/>
              </a:solidFill>
              <a:latin typeface="Maven Pro"/>
              <a:ea typeface="Maven Pro"/>
              <a:cs typeface="Maven Pro"/>
              <a:sym typeface="Maven Pro"/>
            </a:endParaRPr>
          </a:p>
        </p:txBody>
      </p:sp>
      <p:sp>
        <p:nvSpPr>
          <p:cNvPr id="423" name="Google Shape;423;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7"/>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pic>
        <p:nvPicPr>
          <p:cNvPr id="429" name="Google Shape;429;p4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430" name="Google Shape;430;p47"/>
          <p:cNvSpPr/>
          <p:nvPr/>
        </p:nvSpPr>
        <p:spPr>
          <a:xfrm>
            <a:off x="156493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Consistency</a:t>
            </a:r>
            <a:endParaRPr>
              <a:solidFill>
                <a:srgbClr val="00084D"/>
              </a:solidFill>
              <a:latin typeface="Nunito"/>
              <a:ea typeface="Nunito"/>
              <a:cs typeface="Nunito"/>
              <a:sym typeface="Nunito"/>
            </a:endParaRPr>
          </a:p>
        </p:txBody>
      </p:sp>
      <p:sp>
        <p:nvSpPr>
          <p:cNvPr id="431" name="Google Shape;431;p47"/>
          <p:cNvSpPr/>
          <p:nvPr/>
        </p:nvSpPr>
        <p:spPr>
          <a:xfrm>
            <a:off x="383218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Isolation</a:t>
            </a:r>
            <a:endParaRPr>
              <a:solidFill>
                <a:srgbClr val="00084D"/>
              </a:solidFill>
              <a:latin typeface="Nunito"/>
              <a:ea typeface="Nunito"/>
              <a:cs typeface="Nunito"/>
              <a:sym typeface="Nunito"/>
            </a:endParaRPr>
          </a:p>
        </p:txBody>
      </p:sp>
      <p:sp>
        <p:nvSpPr>
          <p:cNvPr id="432" name="Google Shape;432;p47"/>
          <p:cNvSpPr/>
          <p:nvPr/>
        </p:nvSpPr>
        <p:spPr>
          <a:xfrm>
            <a:off x="6099438" y="1842775"/>
            <a:ext cx="1479600" cy="618000"/>
          </a:xfrm>
          <a:prstGeom prst="roundRect">
            <a:avLst>
              <a:gd fmla="val 16667" name="adj"/>
            </a:avLst>
          </a:prstGeom>
          <a:solidFill>
            <a:srgbClr val="00084D"/>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Portability</a:t>
            </a:r>
            <a:endParaRPr>
              <a:solidFill>
                <a:srgbClr val="E5F2FC"/>
              </a:solidFill>
              <a:latin typeface="Nunito"/>
              <a:ea typeface="Nunito"/>
              <a:cs typeface="Nunito"/>
              <a:sym typeface="Nunito"/>
            </a:endParaRPr>
          </a:p>
        </p:txBody>
      </p:sp>
      <p:sp>
        <p:nvSpPr>
          <p:cNvPr id="433" name="Google Shape;433;p47"/>
          <p:cNvSpPr/>
          <p:nvPr/>
        </p:nvSpPr>
        <p:spPr>
          <a:xfrm>
            <a:off x="1564938" y="2682725"/>
            <a:ext cx="1479600" cy="618000"/>
          </a:xfrm>
          <a:prstGeom prst="roundRect">
            <a:avLst>
              <a:gd fmla="val 16667" name="adj"/>
            </a:avLst>
          </a:prstGeom>
          <a:solidFill>
            <a:srgbClr val="F1F3F8"/>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Eﬃciency</a:t>
            </a:r>
            <a:endParaRPr>
              <a:solidFill>
                <a:srgbClr val="E5F2FC"/>
              </a:solidFill>
              <a:latin typeface="Nunito"/>
              <a:ea typeface="Nunito"/>
              <a:cs typeface="Nunito"/>
              <a:sym typeface="Nunito"/>
            </a:endParaRPr>
          </a:p>
        </p:txBody>
      </p:sp>
      <p:sp>
        <p:nvSpPr>
          <p:cNvPr id="434" name="Google Shape;434;p47"/>
          <p:cNvSpPr/>
          <p:nvPr/>
        </p:nvSpPr>
        <p:spPr>
          <a:xfrm>
            <a:off x="3832188" y="2682725"/>
            <a:ext cx="1479600" cy="618000"/>
          </a:xfrm>
          <a:prstGeom prst="roundRect">
            <a:avLst>
              <a:gd fmla="val 16667" name="adj"/>
            </a:avLst>
          </a:prstGeom>
          <a:solidFill>
            <a:srgbClr val="F1F3F8"/>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Scalability</a:t>
            </a:r>
            <a:endParaRPr>
              <a:solidFill>
                <a:srgbClr val="E5F2FC"/>
              </a:solidFill>
              <a:latin typeface="Nunito"/>
              <a:ea typeface="Nunito"/>
              <a:cs typeface="Nunito"/>
              <a:sym typeface="Nunito"/>
            </a:endParaRPr>
          </a:p>
        </p:txBody>
      </p:sp>
      <p:sp>
        <p:nvSpPr>
          <p:cNvPr id="435" name="Google Shape;435;p47"/>
          <p:cNvSpPr/>
          <p:nvPr/>
        </p:nvSpPr>
        <p:spPr>
          <a:xfrm>
            <a:off x="6099438" y="2682725"/>
            <a:ext cx="1479600" cy="618000"/>
          </a:xfrm>
          <a:prstGeom prst="roundRect">
            <a:avLst>
              <a:gd fmla="val 16667" name="adj"/>
            </a:avLst>
          </a:prstGeom>
          <a:solidFill>
            <a:srgbClr val="F1F3F8"/>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Version Control</a:t>
            </a:r>
            <a:endParaRPr>
              <a:solidFill>
                <a:srgbClr val="E5F2FC"/>
              </a:solidFill>
              <a:latin typeface="Nunito"/>
              <a:ea typeface="Nunito"/>
              <a:cs typeface="Nunito"/>
              <a:sym typeface="Nunito"/>
            </a:endParaRPr>
          </a:p>
        </p:txBody>
      </p:sp>
      <p:sp>
        <p:nvSpPr>
          <p:cNvPr id="436" name="Google Shape;436;p47"/>
          <p:cNvSpPr txBox="1"/>
          <p:nvPr/>
        </p:nvSpPr>
        <p:spPr>
          <a:xfrm>
            <a:off x="991350" y="3660900"/>
            <a:ext cx="7161300" cy="12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500">
                <a:solidFill>
                  <a:srgbClr val="00084D"/>
                </a:solidFill>
                <a:latin typeface="Nunito"/>
                <a:ea typeface="Nunito"/>
                <a:cs typeface="Nunito"/>
                <a:sym typeface="Nunito"/>
              </a:rPr>
              <a:t>Les conteneurs peuvent s'exécuter sur n'importe quel système qui prend en charge Docker, quel que soit l'infrastructure sous-jacente.</a:t>
            </a:r>
            <a:endParaRPr sz="1500">
              <a:solidFill>
                <a:srgbClr val="00084D"/>
              </a:solidFill>
              <a:latin typeface="Nunito"/>
              <a:ea typeface="Nunito"/>
              <a:cs typeface="Nunito"/>
              <a:sym typeface="Nunito"/>
            </a:endParaRPr>
          </a:p>
        </p:txBody>
      </p:sp>
      <p:sp>
        <p:nvSpPr>
          <p:cNvPr id="437" name="Google Shape;437;p4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Pourquoi</a:t>
            </a:r>
            <a:endParaRPr sz="2000">
              <a:solidFill>
                <a:srgbClr val="073763"/>
              </a:solidFill>
              <a:latin typeface="Maven Pro"/>
              <a:ea typeface="Maven Pro"/>
              <a:cs typeface="Maven Pro"/>
              <a:sym typeface="Maven Pro"/>
            </a:endParaRPr>
          </a:p>
        </p:txBody>
      </p:sp>
      <p:sp>
        <p:nvSpPr>
          <p:cNvPr id="438" name="Google Shape;438;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8"/>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pic>
        <p:nvPicPr>
          <p:cNvPr id="444" name="Google Shape;444;p4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445" name="Google Shape;445;p48"/>
          <p:cNvSpPr/>
          <p:nvPr/>
        </p:nvSpPr>
        <p:spPr>
          <a:xfrm>
            <a:off x="156493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Consistency</a:t>
            </a:r>
            <a:endParaRPr>
              <a:solidFill>
                <a:srgbClr val="00084D"/>
              </a:solidFill>
              <a:latin typeface="Nunito"/>
              <a:ea typeface="Nunito"/>
              <a:cs typeface="Nunito"/>
              <a:sym typeface="Nunito"/>
            </a:endParaRPr>
          </a:p>
        </p:txBody>
      </p:sp>
      <p:sp>
        <p:nvSpPr>
          <p:cNvPr id="446" name="Google Shape;446;p48"/>
          <p:cNvSpPr/>
          <p:nvPr/>
        </p:nvSpPr>
        <p:spPr>
          <a:xfrm>
            <a:off x="383218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Isolation</a:t>
            </a:r>
            <a:endParaRPr>
              <a:solidFill>
                <a:srgbClr val="00084D"/>
              </a:solidFill>
              <a:latin typeface="Nunito"/>
              <a:ea typeface="Nunito"/>
              <a:cs typeface="Nunito"/>
              <a:sym typeface="Nunito"/>
            </a:endParaRPr>
          </a:p>
        </p:txBody>
      </p:sp>
      <p:sp>
        <p:nvSpPr>
          <p:cNvPr id="447" name="Google Shape;447;p48"/>
          <p:cNvSpPr/>
          <p:nvPr/>
        </p:nvSpPr>
        <p:spPr>
          <a:xfrm>
            <a:off x="609943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Portability</a:t>
            </a:r>
            <a:endParaRPr>
              <a:solidFill>
                <a:srgbClr val="00084D"/>
              </a:solidFill>
              <a:latin typeface="Nunito"/>
              <a:ea typeface="Nunito"/>
              <a:cs typeface="Nunito"/>
              <a:sym typeface="Nunito"/>
            </a:endParaRPr>
          </a:p>
        </p:txBody>
      </p:sp>
      <p:sp>
        <p:nvSpPr>
          <p:cNvPr id="448" name="Google Shape;448;p48"/>
          <p:cNvSpPr/>
          <p:nvPr/>
        </p:nvSpPr>
        <p:spPr>
          <a:xfrm>
            <a:off x="1564938" y="2682725"/>
            <a:ext cx="1479600" cy="618000"/>
          </a:xfrm>
          <a:prstGeom prst="roundRect">
            <a:avLst>
              <a:gd fmla="val 16667" name="adj"/>
            </a:avLst>
          </a:prstGeom>
          <a:solidFill>
            <a:srgbClr val="00084D"/>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Eﬃciency</a:t>
            </a:r>
            <a:endParaRPr>
              <a:solidFill>
                <a:srgbClr val="E5F2FC"/>
              </a:solidFill>
              <a:latin typeface="Nunito"/>
              <a:ea typeface="Nunito"/>
              <a:cs typeface="Nunito"/>
              <a:sym typeface="Nunito"/>
            </a:endParaRPr>
          </a:p>
        </p:txBody>
      </p:sp>
      <p:sp>
        <p:nvSpPr>
          <p:cNvPr id="449" name="Google Shape;449;p48"/>
          <p:cNvSpPr/>
          <p:nvPr/>
        </p:nvSpPr>
        <p:spPr>
          <a:xfrm>
            <a:off x="3832188" y="2682725"/>
            <a:ext cx="1479600" cy="618000"/>
          </a:xfrm>
          <a:prstGeom prst="roundRect">
            <a:avLst>
              <a:gd fmla="val 16667" name="adj"/>
            </a:avLst>
          </a:prstGeom>
          <a:solidFill>
            <a:srgbClr val="F1F3F8"/>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Scalability</a:t>
            </a:r>
            <a:endParaRPr>
              <a:solidFill>
                <a:srgbClr val="E5F2FC"/>
              </a:solidFill>
              <a:latin typeface="Nunito"/>
              <a:ea typeface="Nunito"/>
              <a:cs typeface="Nunito"/>
              <a:sym typeface="Nunito"/>
            </a:endParaRPr>
          </a:p>
        </p:txBody>
      </p:sp>
      <p:sp>
        <p:nvSpPr>
          <p:cNvPr id="450" name="Google Shape;450;p48"/>
          <p:cNvSpPr/>
          <p:nvPr/>
        </p:nvSpPr>
        <p:spPr>
          <a:xfrm>
            <a:off x="6099438" y="2682725"/>
            <a:ext cx="1479600" cy="618000"/>
          </a:xfrm>
          <a:prstGeom prst="roundRect">
            <a:avLst>
              <a:gd fmla="val 16667" name="adj"/>
            </a:avLst>
          </a:prstGeom>
          <a:solidFill>
            <a:srgbClr val="F1F3F8"/>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Version Control</a:t>
            </a:r>
            <a:endParaRPr>
              <a:solidFill>
                <a:srgbClr val="E5F2FC"/>
              </a:solidFill>
              <a:latin typeface="Nunito"/>
              <a:ea typeface="Nunito"/>
              <a:cs typeface="Nunito"/>
              <a:sym typeface="Nunito"/>
            </a:endParaRPr>
          </a:p>
        </p:txBody>
      </p:sp>
      <p:sp>
        <p:nvSpPr>
          <p:cNvPr id="451" name="Google Shape;451;p48"/>
          <p:cNvSpPr txBox="1"/>
          <p:nvPr/>
        </p:nvSpPr>
        <p:spPr>
          <a:xfrm>
            <a:off x="991350" y="3660900"/>
            <a:ext cx="7161300" cy="123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1500">
                <a:solidFill>
                  <a:srgbClr val="00084D"/>
                </a:solidFill>
                <a:latin typeface="Nunito"/>
                <a:ea typeface="Nunito"/>
                <a:cs typeface="Nunito"/>
                <a:sym typeface="Nunito"/>
              </a:rPr>
              <a:t>Les conteneurs partagent le noyau du système d'exploitation de l'hôte, ce qui les rend plus légers que les machines virtuelles traditionnelles.</a:t>
            </a:r>
            <a:endParaRPr sz="1500">
              <a:solidFill>
                <a:srgbClr val="00084D"/>
              </a:solidFill>
              <a:latin typeface="Nunito"/>
              <a:ea typeface="Nunito"/>
              <a:cs typeface="Nunito"/>
              <a:sym typeface="Nunito"/>
            </a:endParaRPr>
          </a:p>
        </p:txBody>
      </p:sp>
      <p:sp>
        <p:nvSpPr>
          <p:cNvPr id="452" name="Google Shape;452;p4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Pourquoi</a:t>
            </a:r>
            <a:endParaRPr sz="2000">
              <a:solidFill>
                <a:srgbClr val="073763"/>
              </a:solidFill>
              <a:latin typeface="Maven Pro"/>
              <a:ea typeface="Maven Pro"/>
              <a:cs typeface="Maven Pro"/>
              <a:sym typeface="Maven Pro"/>
            </a:endParaRPr>
          </a:p>
        </p:txBody>
      </p:sp>
      <p:sp>
        <p:nvSpPr>
          <p:cNvPr id="453" name="Google Shape;453;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9"/>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pic>
        <p:nvPicPr>
          <p:cNvPr id="459" name="Google Shape;459;p4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460" name="Google Shape;460;p49"/>
          <p:cNvSpPr/>
          <p:nvPr/>
        </p:nvSpPr>
        <p:spPr>
          <a:xfrm>
            <a:off x="156493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Consistency</a:t>
            </a:r>
            <a:endParaRPr>
              <a:solidFill>
                <a:srgbClr val="00084D"/>
              </a:solidFill>
              <a:latin typeface="Nunito"/>
              <a:ea typeface="Nunito"/>
              <a:cs typeface="Nunito"/>
              <a:sym typeface="Nunito"/>
            </a:endParaRPr>
          </a:p>
        </p:txBody>
      </p:sp>
      <p:sp>
        <p:nvSpPr>
          <p:cNvPr id="461" name="Google Shape;461;p49"/>
          <p:cNvSpPr/>
          <p:nvPr/>
        </p:nvSpPr>
        <p:spPr>
          <a:xfrm>
            <a:off x="383218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Isolation</a:t>
            </a:r>
            <a:endParaRPr>
              <a:solidFill>
                <a:srgbClr val="00084D"/>
              </a:solidFill>
              <a:latin typeface="Nunito"/>
              <a:ea typeface="Nunito"/>
              <a:cs typeface="Nunito"/>
              <a:sym typeface="Nunito"/>
            </a:endParaRPr>
          </a:p>
        </p:txBody>
      </p:sp>
      <p:sp>
        <p:nvSpPr>
          <p:cNvPr id="462" name="Google Shape;462;p49"/>
          <p:cNvSpPr/>
          <p:nvPr/>
        </p:nvSpPr>
        <p:spPr>
          <a:xfrm>
            <a:off x="609943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Portability</a:t>
            </a:r>
            <a:endParaRPr>
              <a:solidFill>
                <a:srgbClr val="00084D"/>
              </a:solidFill>
              <a:latin typeface="Nunito"/>
              <a:ea typeface="Nunito"/>
              <a:cs typeface="Nunito"/>
              <a:sym typeface="Nunito"/>
            </a:endParaRPr>
          </a:p>
        </p:txBody>
      </p:sp>
      <p:sp>
        <p:nvSpPr>
          <p:cNvPr id="463" name="Google Shape;463;p49"/>
          <p:cNvSpPr/>
          <p:nvPr/>
        </p:nvSpPr>
        <p:spPr>
          <a:xfrm>
            <a:off x="1564938" y="268272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Eﬃciency</a:t>
            </a:r>
            <a:endParaRPr>
              <a:solidFill>
                <a:srgbClr val="00084D"/>
              </a:solidFill>
              <a:latin typeface="Nunito"/>
              <a:ea typeface="Nunito"/>
              <a:cs typeface="Nunito"/>
              <a:sym typeface="Nunito"/>
            </a:endParaRPr>
          </a:p>
        </p:txBody>
      </p:sp>
      <p:sp>
        <p:nvSpPr>
          <p:cNvPr id="464" name="Google Shape;464;p49"/>
          <p:cNvSpPr/>
          <p:nvPr/>
        </p:nvSpPr>
        <p:spPr>
          <a:xfrm>
            <a:off x="3832188" y="2682725"/>
            <a:ext cx="1479600" cy="618000"/>
          </a:xfrm>
          <a:prstGeom prst="roundRect">
            <a:avLst>
              <a:gd fmla="val 16667" name="adj"/>
            </a:avLst>
          </a:prstGeom>
          <a:solidFill>
            <a:srgbClr val="00084D"/>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Scalability</a:t>
            </a:r>
            <a:endParaRPr>
              <a:solidFill>
                <a:srgbClr val="E5F2FC"/>
              </a:solidFill>
              <a:latin typeface="Nunito"/>
              <a:ea typeface="Nunito"/>
              <a:cs typeface="Nunito"/>
              <a:sym typeface="Nunito"/>
            </a:endParaRPr>
          </a:p>
        </p:txBody>
      </p:sp>
      <p:sp>
        <p:nvSpPr>
          <p:cNvPr id="465" name="Google Shape;465;p49"/>
          <p:cNvSpPr/>
          <p:nvPr/>
        </p:nvSpPr>
        <p:spPr>
          <a:xfrm>
            <a:off x="6099438" y="2682725"/>
            <a:ext cx="1479600" cy="618000"/>
          </a:xfrm>
          <a:prstGeom prst="roundRect">
            <a:avLst>
              <a:gd fmla="val 16667" name="adj"/>
            </a:avLst>
          </a:prstGeom>
          <a:solidFill>
            <a:srgbClr val="F1F3F8"/>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E5F2FC"/>
                </a:solidFill>
                <a:latin typeface="Nunito"/>
                <a:ea typeface="Nunito"/>
                <a:cs typeface="Nunito"/>
                <a:sym typeface="Nunito"/>
              </a:rPr>
              <a:t>Version Control</a:t>
            </a:r>
            <a:endParaRPr>
              <a:solidFill>
                <a:srgbClr val="E5F2FC"/>
              </a:solidFill>
              <a:latin typeface="Nunito"/>
              <a:ea typeface="Nunito"/>
              <a:cs typeface="Nunito"/>
              <a:sym typeface="Nunito"/>
            </a:endParaRPr>
          </a:p>
        </p:txBody>
      </p:sp>
      <p:sp>
        <p:nvSpPr>
          <p:cNvPr id="466" name="Google Shape;466;p49"/>
          <p:cNvSpPr txBox="1"/>
          <p:nvPr/>
        </p:nvSpPr>
        <p:spPr>
          <a:xfrm>
            <a:off x="991350" y="3660900"/>
            <a:ext cx="7161300" cy="123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sz="1500">
                <a:solidFill>
                  <a:srgbClr val="00084D"/>
                </a:solidFill>
                <a:latin typeface="Nunito"/>
                <a:ea typeface="Nunito"/>
                <a:cs typeface="Nunito"/>
                <a:sym typeface="Nunito"/>
              </a:rPr>
              <a:t>Il est facile de mettre à l'échelle les applications horizontalement en exécutant plusieurs conteneurs.</a:t>
            </a:r>
            <a:endParaRPr sz="1500">
              <a:solidFill>
                <a:srgbClr val="00084D"/>
              </a:solidFill>
              <a:latin typeface="Nunito"/>
              <a:ea typeface="Nunito"/>
              <a:cs typeface="Nunito"/>
              <a:sym typeface="Nunito"/>
            </a:endParaRPr>
          </a:p>
        </p:txBody>
      </p:sp>
      <p:sp>
        <p:nvSpPr>
          <p:cNvPr id="467" name="Google Shape;467;p4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Pourquoi</a:t>
            </a:r>
            <a:endParaRPr sz="2000">
              <a:solidFill>
                <a:srgbClr val="073763"/>
              </a:solidFill>
              <a:latin typeface="Maven Pro"/>
              <a:ea typeface="Maven Pro"/>
              <a:cs typeface="Maven Pro"/>
              <a:sym typeface="Maven Pro"/>
            </a:endParaRPr>
          </a:p>
        </p:txBody>
      </p:sp>
      <p:sp>
        <p:nvSpPr>
          <p:cNvPr id="468" name="Google Shape;46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0"/>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pic>
        <p:nvPicPr>
          <p:cNvPr id="474" name="Google Shape;474;p5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475" name="Google Shape;475;p50"/>
          <p:cNvSpPr/>
          <p:nvPr/>
        </p:nvSpPr>
        <p:spPr>
          <a:xfrm>
            <a:off x="156493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Consistency</a:t>
            </a:r>
            <a:endParaRPr>
              <a:solidFill>
                <a:srgbClr val="00084D"/>
              </a:solidFill>
              <a:latin typeface="Nunito"/>
              <a:ea typeface="Nunito"/>
              <a:cs typeface="Nunito"/>
              <a:sym typeface="Nunito"/>
            </a:endParaRPr>
          </a:p>
        </p:txBody>
      </p:sp>
      <p:sp>
        <p:nvSpPr>
          <p:cNvPr id="476" name="Google Shape;476;p50"/>
          <p:cNvSpPr/>
          <p:nvPr/>
        </p:nvSpPr>
        <p:spPr>
          <a:xfrm>
            <a:off x="383218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Isolation</a:t>
            </a:r>
            <a:endParaRPr>
              <a:solidFill>
                <a:srgbClr val="00084D"/>
              </a:solidFill>
              <a:latin typeface="Nunito"/>
              <a:ea typeface="Nunito"/>
              <a:cs typeface="Nunito"/>
              <a:sym typeface="Nunito"/>
            </a:endParaRPr>
          </a:p>
        </p:txBody>
      </p:sp>
      <p:sp>
        <p:nvSpPr>
          <p:cNvPr id="477" name="Google Shape;477;p50"/>
          <p:cNvSpPr/>
          <p:nvPr/>
        </p:nvSpPr>
        <p:spPr>
          <a:xfrm>
            <a:off x="6099438" y="184277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Portability</a:t>
            </a:r>
            <a:endParaRPr>
              <a:solidFill>
                <a:srgbClr val="00084D"/>
              </a:solidFill>
              <a:latin typeface="Nunito"/>
              <a:ea typeface="Nunito"/>
              <a:cs typeface="Nunito"/>
              <a:sym typeface="Nunito"/>
            </a:endParaRPr>
          </a:p>
        </p:txBody>
      </p:sp>
      <p:sp>
        <p:nvSpPr>
          <p:cNvPr id="478" name="Google Shape;478;p50"/>
          <p:cNvSpPr/>
          <p:nvPr/>
        </p:nvSpPr>
        <p:spPr>
          <a:xfrm>
            <a:off x="1564938" y="268272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00084D"/>
                </a:solidFill>
                <a:latin typeface="Nunito"/>
                <a:ea typeface="Nunito"/>
                <a:cs typeface="Nunito"/>
                <a:sym typeface="Nunito"/>
              </a:rPr>
              <a:t>Eﬃciency</a:t>
            </a:r>
            <a:endParaRPr>
              <a:solidFill>
                <a:srgbClr val="00084D"/>
              </a:solidFill>
              <a:latin typeface="Nunito"/>
              <a:ea typeface="Nunito"/>
              <a:cs typeface="Nunito"/>
              <a:sym typeface="Nunito"/>
            </a:endParaRPr>
          </a:p>
        </p:txBody>
      </p:sp>
      <p:sp>
        <p:nvSpPr>
          <p:cNvPr id="479" name="Google Shape;479;p50"/>
          <p:cNvSpPr/>
          <p:nvPr/>
        </p:nvSpPr>
        <p:spPr>
          <a:xfrm>
            <a:off x="3832188" y="2682725"/>
            <a:ext cx="1479600" cy="618000"/>
          </a:xfrm>
          <a:prstGeom prst="roundRect">
            <a:avLst>
              <a:gd fmla="val 16667" name="adj"/>
            </a:avLst>
          </a:prstGeom>
          <a:solidFill>
            <a:srgbClr val="E5F2FC"/>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00084D"/>
                </a:solidFill>
                <a:latin typeface="Nunito"/>
                <a:ea typeface="Nunito"/>
                <a:cs typeface="Nunito"/>
                <a:sym typeface="Nunito"/>
              </a:rPr>
              <a:t>Scalability</a:t>
            </a:r>
            <a:endParaRPr>
              <a:solidFill>
                <a:srgbClr val="00084D"/>
              </a:solidFill>
              <a:latin typeface="Nunito"/>
              <a:ea typeface="Nunito"/>
              <a:cs typeface="Nunito"/>
              <a:sym typeface="Nunito"/>
            </a:endParaRPr>
          </a:p>
        </p:txBody>
      </p:sp>
      <p:sp>
        <p:nvSpPr>
          <p:cNvPr id="480" name="Google Shape;480;p50"/>
          <p:cNvSpPr/>
          <p:nvPr/>
        </p:nvSpPr>
        <p:spPr>
          <a:xfrm>
            <a:off x="6099438" y="2682725"/>
            <a:ext cx="1479600" cy="618000"/>
          </a:xfrm>
          <a:prstGeom prst="roundRect">
            <a:avLst>
              <a:gd fmla="val 16667" name="adj"/>
            </a:avLst>
          </a:prstGeom>
          <a:solidFill>
            <a:srgbClr val="00084D"/>
          </a:solidFill>
          <a:ln cap="flat" cmpd="sng" w="9525">
            <a:solidFill>
              <a:srgbClr val="26252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a:solidFill>
                  <a:srgbClr val="E5F2FC"/>
                </a:solidFill>
                <a:latin typeface="Nunito"/>
                <a:ea typeface="Nunito"/>
                <a:cs typeface="Nunito"/>
                <a:sym typeface="Nunito"/>
              </a:rPr>
              <a:t>Version Control</a:t>
            </a:r>
            <a:endParaRPr>
              <a:solidFill>
                <a:srgbClr val="E5F2FC"/>
              </a:solidFill>
              <a:latin typeface="Nunito"/>
              <a:ea typeface="Nunito"/>
              <a:cs typeface="Nunito"/>
              <a:sym typeface="Nunito"/>
            </a:endParaRPr>
          </a:p>
        </p:txBody>
      </p:sp>
      <p:sp>
        <p:nvSpPr>
          <p:cNvPr id="481" name="Google Shape;481;p50"/>
          <p:cNvSpPr txBox="1"/>
          <p:nvPr/>
        </p:nvSpPr>
        <p:spPr>
          <a:xfrm>
            <a:off x="991350" y="3660900"/>
            <a:ext cx="7161300" cy="123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GB" sz="1500">
                <a:solidFill>
                  <a:srgbClr val="00084D"/>
                </a:solidFill>
                <a:latin typeface="Nunito"/>
                <a:ea typeface="Nunito"/>
                <a:cs typeface="Nunito"/>
                <a:sym typeface="Nunito"/>
              </a:rPr>
              <a:t>Les images Docker peuvent être versionnées, ce qui permet des retours en arrière et des mises à jour faciles.</a:t>
            </a:r>
            <a:endParaRPr sz="1500">
              <a:solidFill>
                <a:srgbClr val="00084D"/>
              </a:solidFill>
              <a:latin typeface="Nunito"/>
              <a:ea typeface="Nunito"/>
              <a:cs typeface="Nunito"/>
              <a:sym typeface="Nunito"/>
            </a:endParaRPr>
          </a:p>
        </p:txBody>
      </p:sp>
      <p:sp>
        <p:nvSpPr>
          <p:cNvPr id="482" name="Google Shape;482;p5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Introduction à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Pourquoi</a:t>
            </a:r>
            <a:endParaRPr sz="2000">
              <a:solidFill>
                <a:srgbClr val="073763"/>
              </a:solidFill>
              <a:latin typeface="Maven Pro"/>
              <a:ea typeface="Maven Pro"/>
              <a:cs typeface="Maven Pro"/>
              <a:sym typeface="Maven Pro"/>
            </a:endParaRPr>
          </a:p>
        </p:txBody>
      </p:sp>
      <p:sp>
        <p:nvSpPr>
          <p:cNvPr id="483" name="Google Shape;483;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1"/>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489" name="Google Shape;489;p51"/>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490" name="Google Shape;490;p51"/>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491" name="Google Shape;491;p51"/>
          <p:cNvSpPr txBox="1"/>
          <p:nvPr/>
        </p:nvSpPr>
        <p:spPr>
          <a:xfrm>
            <a:off x="478375" y="1786800"/>
            <a:ext cx="4572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The Anatomy of containers</a:t>
            </a:r>
            <a:endParaRPr sz="4500">
              <a:solidFill>
                <a:srgbClr val="E5F2FC"/>
              </a:solidFill>
              <a:latin typeface="Nunito SemiBold"/>
              <a:ea typeface="Nunito SemiBold"/>
              <a:cs typeface="Nunito SemiBold"/>
              <a:sym typeface="Nunito SemiBold"/>
            </a:endParaRPr>
          </a:p>
        </p:txBody>
      </p:sp>
      <p:sp>
        <p:nvSpPr>
          <p:cNvPr id="492" name="Google Shape;492;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2"/>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498" name="Google Shape;498;p5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High-level architecture of Docker</a:t>
            </a:r>
            <a:endParaRPr sz="2000">
              <a:solidFill>
                <a:srgbClr val="073763"/>
              </a:solidFill>
              <a:latin typeface="Maven Pro"/>
              <a:ea typeface="Maven Pro"/>
              <a:cs typeface="Maven Pro"/>
              <a:sym typeface="Maven Pro"/>
            </a:endParaRPr>
          </a:p>
        </p:txBody>
      </p:sp>
      <p:pic>
        <p:nvPicPr>
          <p:cNvPr id="499" name="Google Shape;499;p52"/>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500" name="Google Shape;500;p52"/>
          <p:cNvPicPr preferRelativeResize="0"/>
          <p:nvPr/>
        </p:nvPicPr>
        <p:blipFill>
          <a:blip r:embed="rId4">
            <a:alphaModFix/>
          </a:blip>
          <a:stretch>
            <a:fillRect/>
          </a:stretch>
        </p:blipFill>
        <p:spPr>
          <a:xfrm>
            <a:off x="1599313" y="1207375"/>
            <a:ext cx="5945373" cy="3762850"/>
          </a:xfrm>
          <a:prstGeom prst="rect">
            <a:avLst/>
          </a:prstGeom>
          <a:noFill/>
          <a:ln>
            <a:noFill/>
          </a:ln>
        </p:spPr>
      </p:pic>
      <p:sp>
        <p:nvSpPr>
          <p:cNvPr id="501" name="Google Shape;501;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3"/>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507" name="Google Shape;507;p5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 - High-level architecture of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Namespaces</a:t>
            </a:r>
            <a:endParaRPr sz="2000">
              <a:solidFill>
                <a:srgbClr val="073763"/>
              </a:solidFill>
              <a:latin typeface="Maven Pro"/>
              <a:ea typeface="Maven Pro"/>
              <a:cs typeface="Maven Pro"/>
              <a:sym typeface="Maven Pro"/>
            </a:endParaRPr>
          </a:p>
        </p:txBody>
      </p:sp>
      <p:pic>
        <p:nvPicPr>
          <p:cNvPr id="508" name="Google Shape;508;p5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509" name="Google Shape;509;p53"/>
          <p:cNvSpPr txBox="1"/>
          <p:nvPr/>
        </p:nvSpPr>
        <p:spPr>
          <a:xfrm>
            <a:off x="634200" y="1668100"/>
            <a:ext cx="7875600" cy="1907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a:ea typeface="Maven Pro"/>
                <a:cs typeface="Maven Pro"/>
                <a:sym typeface="Maven Pro"/>
              </a:rPr>
              <a:t>Les Linux </a:t>
            </a:r>
            <a:r>
              <a:rPr i="1" lang="en-GB" sz="1100">
                <a:solidFill>
                  <a:srgbClr val="00084D"/>
                </a:solidFill>
                <a:latin typeface="Maven Pro"/>
                <a:ea typeface="Maven Pro"/>
                <a:cs typeface="Maven Pro"/>
                <a:sym typeface="Maven Pro"/>
              </a:rPr>
              <a:t>namespaces</a:t>
            </a:r>
            <a:r>
              <a:rPr lang="en-GB" sz="1100">
                <a:solidFill>
                  <a:srgbClr val="00084D"/>
                </a:solidFill>
                <a:latin typeface="Maven Pro"/>
                <a:ea typeface="Maven Pro"/>
                <a:cs typeface="Maven Pro"/>
                <a:sym typeface="Maven Pro"/>
              </a:rPr>
              <a:t> existaient depuis des années avant d’être exploités par Docker pour leurs conteneurs.</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Un namespace est une abstraction des ressources globales telles que les systèmes de fichiers, l'accès réseau, les arbres de processus (également appelés PID namespaces) ou les identifiants de groupe système et d'utilisateur. </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Un système Linux est initialisé avec une seule instance de chaque type de namespace. Après l'initialisation, des namespaces supplémentaires peuvent être créés ou rejoints.</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Les Linux namespaces sont apparus en 2002 dans le noyau 2.4.19. Dans la version 3.8 du noyau, les user namespaces ont été introduits, et avec cela, les namespaces étaient prêts à être utilisés par les conteneurs.</a:t>
            </a:r>
            <a:endParaRPr sz="1100">
              <a:solidFill>
                <a:srgbClr val="00084D"/>
              </a:solidFill>
              <a:latin typeface="Maven Pro"/>
              <a:ea typeface="Maven Pro"/>
              <a:cs typeface="Maven Pro"/>
              <a:sym typeface="Maven Pro"/>
            </a:endParaRPr>
          </a:p>
        </p:txBody>
      </p:sp>
      <p:sp>
        <p:nvSpPr>
          <p:cNvPr id="510" name="Google Shape;510;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4"/>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516" name="Google Shape;516;p5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 - High-level architecture of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Namespaces</a:t>
            </a:r>
            <a:endParaRPr sz="2000">
              <a:solidFill>
                <a:srgbClr val="073763"/>
              </a:solidFill>
              <a:latin typeface="Maven Pro"/>
              <a:ea typeface="Maven Pro"/>
              <a:cs typeface="Maven Pro"/>
              <a:sym typeface="Maven Pro"/>
            </a:endParaRPr>
          </a:p>
        </p:txBody>
      </p:sp>
      <p:pic>
        <p:nvPicPr>
          <p:cNvPr id="517" name="Google Shape;517;p5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518" name="Google Shape;518;p54"/>
          <p:cNvSpPr txBox="1"/>
          <p:nvPr/>
        </p:nvSpPr>
        <p:spPr>
          <a:xfrm>
            <a:off x="300775" y="1760100"/>
            <a:ext cx="3153900" cy="2301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Si nous enveloppons un processus en cours d'exécution, disons, dans un filesystem namespace, cela donne l'illusion que le processus possède son propre système de fichiers complet. Cela, bien sûr, n’est pas vrai ; il s'agit uniquement d'un système de fichiers virtuel. Du point de vue de l’hôte, le processus contenu obtient une sous-section protégée du système de fichiers global. C’est comme un système de fichiers dans un système de fichiers.</a:t>
            </a:r>
            <a:endParaRPr sz="1100">
              <a:solidFill>
                <a:srgbClr val="00084D"/>
              </a:solidFill>
              <a:latin typeface="Maven Pro"/>
              <a:ea typeface="Maven Pro"/>
              <a:cs typeface="Maven Pro"/>
              <a:sym typeface="Maven Pro"/>
            </a:endParaRPr>
          </a:p>
        </p:txBody>
      </p:sp>
      <p:pic>
        <p:nvPicPr>
          <p:cNvPr id="519" name="Google Shape;519;p54"/>
          <p:cNvPicPr preferRelativeResize="0"/>
          <p:nvPr/>
        </p:nvPicPr>
        <p:blipFill>
          <a:blip r:embed="rId4">
            <a:alphaModFix/>
          </a:blip>
          <a:stretch>
            <a:fillRect/>
          </a:stretch>
        </p:blipFill>
        <p:spPr>
          <a:xfrm>
            <a:off x="3632276" y="1169450"/>
            <a:ext cx="5507675" cy="3482300"/>
          </a:xfrm>
          <a:prstGeom prst="rect">
            <a:avLst/>
          </a:prstGeom>
          <a:noFill/>
          <a:ln>
            <a:noFill/>
          </a:ln>
        </p:spPr>
      </p:pic>
      <p:sp>
        <p:nvSpPr>
          <p:cNvPr id="520" name="Google Shape;520;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5"/>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526" name="Google Shape;526;p5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 - High-level architecture of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Namespaces</a:t>
            </a:r>
            <a:endParaRPr sz="2000">
              <a:solidFill>
                <a:srgbClr val="073763"/>
              </a:solidFill>
              <a:latin typeface="Maven Pro"/>
              <a:ea typeface="Maven Pro"/>
              <a:cs typeface="Maven Pro"/>
              <a:sym typeface="Maven Pro"/>
            </a:endParaRPr>
          </a:p>
        </p:txBody>
      </p:sp>
      <p:pic>
        <p:nvPicPr>
          <p:cNvPr id="527" name="Google Shape;527;p5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528" name="Google Shape;528;p55"/>
          <p:cNvSpPr txBox="1"/>
          <p:nvPr/>
        </p:nvSpPr>
        <p:spPr>
          <a:xfrm>
            <a:off x="300775" y="1760100"/>
            <a:ext cx="3153900" cy="2818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a:ea typeface="Maven Pro"/>
                <a:cs typeface="Maven Pro"/>
                <a:sym typeface="Maven Pro"/>
              </a:rPr>
              <a:t>Le PID namespace est ce qui empêche les processus d'un conteneur de voir ou d'interagir avec les processus d'un autre conteneur. Un processus peut avoir le PID apparent 1 à l'intérieur d'un conteneur, mais si nous l'examinons depuis le système hôte, il aura un PID ordinaire, par exemple 334.</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Dans chaque namespace, nous pouvons exécuter un à plusieurs processus. Cela est important lorsque nous parlons de conteneurs, comme nous l'avons déjà constaté lorsque nous avons exécuté un autre processus dans un conteneur déjà en cours d'exécution.</a:t>
            </a:r>
            <a:endParaRPr sz="1100">
              <a:solidFill>
                <a:srgbClr val="00084D"/>
              </a:solidFill>
              <a:latin typeface="Maven Pro"/>
              <a:ea typeface="Maven Pro"/>
              <a:cs typeface="Maven Pro"/>
              <a:sym typeface="Maven Pro"/>
            </a:endParaRPr>
          </a:p>
        </p:txBody>
      </p:sp>
      <p:pic>
        <p:nvPicPr>
          <p:cNvPr id="529" name="Google Shape;529;p55"/>
          <p:cNvPicPr preferRelativeResize="0"/>
          <p:nvPr/>
        </p:nvPicPr>
        <p:blipFill>
          <a:blip r:embed="rId4">
            <a:alphaModFix/>
          </a:blip>
          <a:stretch>
            <a:fillRect/>
          </a:stretch>
        </p:blipFill>
        <p:spPr>
          <a:xfrm>
            <a:off x="3628503" y="1169450"/>
            <a:ext cx="5515499" cy="3770176"/>
          </a:xfrm>
          <a:prstGeom prst="rect">
            <a:avLst/>
          </a:prstGeom>
          <a:noFill/>
          <a:ln>
            <a:noFill/>
          </a:ln>
        </p:spPr>
      </p:pic>
      <p:sp>
        <p:nvSpPr>
          <p:cNvPr id="530" name="Google Shape;530;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6"/>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536" name="Google Shape;536;p5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 - High-level architecture of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Control Groups</a:t>
            </a:r>
            <a:endParaRPr sz="2000">
              <a:solidFill>
                <a:srgbClr val="073763"/>
              </a:solidFill>
              <a:latin typeface="Maven Pro"/>
              <a:ea typeface="Maven Pro"/>
              <a:cs typeface="Maven Pro"/>
              <a:sym typeface="Maven Pro"/>
            </a:endParaRPr>
          </a:p>
        </p:txBody>
      </p:sp>
      <p:pic>
        <p:nvPicPr>
          <p:cNvPr id="537" name="Google Shape;537;p5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538" name="Google Shape;538;p56"/>
          <p:cNvSpPr txBox="1"/>
          <p:nvPr/>
        </p:nvSpPr>
        <p:spPr>
          <a:xfrm>
            <a:off x="300775" y="1760100"/>
            <a:ext cx="7930500" cy="2168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a:ea typeface="Maven Pro"/>
                <a:cs typeface="Maven Pro"/>
                <a:sym typeface="Maven Pro"/>
              </a:rPr>
              <a:t>Les Linux </a:t>
            </a:r>
            <a:r>
              <a:rPr i="1" lang="en-GB" sz="1100">
                <a:solidFill>
                  <a:srgbClr val="00084D"/>
                </a:solidFill>
                <a:latin typeface="Maven Pro"/>
                <a:ea typeface="Maven Pro"/>
                <a:cs typeface="Maven Pro"/>
                <a:sym typeface="Maven Pro"/>
              </a:rPr>
              <a:t>cgroups </a:t>
            </a:r>
            <a:r>
              <a:rPr lang="en-GB" sz="1100">
                <a:solidFill>
                  <a:srgbClr val="00084D"/>
                </a:solidFill>
                <a:latin typeface="Maven Pro"/>
                <a:ea typeface="Maven Pro"/>
                <a:cs typeface="Maven Pro"/>
                <a:sym typeface="Maven Pro"/>
              </a:rPr>
              <a:t>(groupes de contrôle) sont utilisés pour </a:t>
            </a:r>
            <a:r>
              <a:rPr lang="en-GB" sz="1100">
                <a:solidFill>
                  <a:srgbClr val="00084D"/>
                </a:solidFill>
                <a:latin typeface="Maven Pro Medium"/>
                <a:ea typeface="Maven Pro Medium"/>
                <a:cs typeface="Maven Pro Medium"/>
                <a:sym typeface="Maven Pro Medium"/>
              </a:rPr>
              <a:t>limiter</a:t>
            </a:r>
            <a:r>
              <a:rPr lang="en-GB" sz="1100">
                <a:solidFill>
                  <a:srgbClr val="00084D"/>
                </a:solidFill>
                <a:latin typeface="Maven Pro"/>
                <a:ea typeface="Maven Pro"/>
                <a:cs typeface="Maven Pro"/>
                <a:sym typeface="Maven Pro"/>
              </a:rPr>
              <a:t>, gérer et isoler l'utilisation des ressources des collections de processus s'exécutant sur un système. Les ressources comprennent le temps CPU, la mémoire système, la bande passante réseau, ou des combinaisons de ces ressources.</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Les ingénieurs de Google ont initialement mis en œuvre cette fonctionnalité en 2006. La fonctionnalité des cgroups a été intégrée dans la ligne principale du noyau Linux dans la version 2.6.24, qui a été publiée en janvier 2008.</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Grâce aux cgroups, les administrateurs peuvent limiter les ressources que les conteneurs peuvent consommer. Cela permet, par exemple, d'éviter le problème classique du "voisin bruyant" (noisy neighbor), où un processus malveillant s'exécutant dans un conteneur consomme tout le temps CPU ou réserve d'énormes quantités de RAM, et ainsi, affame tous les autres processus s'exécutant sur l'hôte, qu'ils soient conteneurisés ou non.</a:t>
            </a:r>
            <a:endParaRPr sz="1100">
              <a:solidFill>
                <a:srgbClr val="00084D"/>
              </a:solidFill>
              <a:latin typeface="Maven Pro"/>
              <a:ea typeface="Maven Pro"/>
              <a:cs typeface="Maven Pro"/>
              <a:sym typeface="Maven Pro"/>
            </a:endParaRPr>
          </a:p>
        </p:txBody>
      </p:sp>
      <p:sp>
        <p:nvSpPr>
          <p:cNvPr id="539" name="Google Shape;539;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57"/>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545" name="Google Shape;545;p5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 - High-level architecture of Docker</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Namespaces &amp; </a:t>
            </a:r>
            <a:r>
              <a:rPr b="1" lang="en-GB" sz="2000">
                <a:solidFill>
                  <a:srgbClr val="073763"/>
                </a:solidFill>
                <a:latin typeface="Maven Pro"/>
                <a:ea typeface="Maven Pro"/>
                <a:cs typeface="Maven Pro"/>
                <a:sym typeface="Maven Pro"/>
              </a:rPr>
              <a:t>Control Groups</a:t>
            </a:r>
            <a:endParaRPr sz="2000">
              <a:solidFill>
                <a:srgbClr val="073763"/>
              </a:solidFill>
              <a:latin typeface="Maven Pro"/>
              <a:ea typeface="Maven Pro"/>
              <a:cs typeface="Maven Pro"/>
              <a:sym typeface="Maven Pro"/>
            </a:endParaRPr>
          </a:p>
        </p:txBody>
      </p:sp>
      <p:pic>
        <p:nvPicPr>
          <p:cNvPr id="546" name="Google Shape;546;p57"/>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547" name="Google Shape;547;p57"/>
          <p:cNvPicPr preferRelativeResize="0"/>
          <p:nvPr/>
        </p:nvPicPr>
        <p:blipFill>
          <a:blip r:embed="rId4">
            <a:alphaModFix/>
          </a:blip>
          <a:stretch>
            <a:fillRect/>
          </a:stretch>
        </p:blipFill>
        <p:spPr>
          <a:xfrm>
            <a:off x="618163" y="1369899"/>
            <a:ext cx="7907674" cy="3330750"/>
          </a:xfrm>
          <a:prstGeom prst="rect">
            <a:avLst/>
          </a:prstGeom>
          <a:noFill/>
          <a:ln>
            <a:noFill/>
          </a:ln>
        </p:spPr>
      </p:pic>
      <p:sp>
        <p:nvSpPr>
          <p:cNvPr id="548" name="Google Shape;548;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8"/>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554" name="Google Shape;554;p5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Architecture</a:t>
            </a:r>
            <a:endParaRPr sz="2000">
              <a:solidFill>
                <a:srgbClr val="073763"/>
              </a:solidFill>
              <a:latin typeface="Maven Pro"/>
              <a:ea typeface="Maven Pro"/>
              <a:cs typeface="Maven Pro"/>
              <a:sym typeface="Maven Pro"/>
            </a:endParaRPr>
          </a:p>
        </p:txBody>
      </p:sp>
      <p:pic>
        <p:nvPicPr>
          <p:cNvPr id="555" name="Google Shape;555;p5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556" name="Google Shape;556;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557" name="Google Shape;557;p58"/>
          <p:cNvPicPr preferRelativeResize="0"/>
          <p:nvPr/>
        </p:nvPicPr>
        <p:blipFill>
          <a:blip r:embed="rId4">
            <a:alphaModFix/>
          </a:blip>
          <a:stretch>
            <a:fillRect/>
          </a:stretch>
        </p:blipFill>
        <p:spPr>
          <a:xfrm>
            <a:off x="1206849" y="1169446"/>
            <a:ext cx="6730300" cy="376180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9"/>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563" name="Google Shape;563;p5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Container plumbing</a:t>
            </a:r>
            <a:endParaRPr sz="2000">
              <a:solidFill>
                <a:srgbClr val="073763"/>
              </a:solidFill>
              <a:latin typeface="Maven Pro"/>
              <a:ea typeface="Maven Pro"/>
              <a:cs typeface="Maven Pro"/>
              <a:sym typeface="Maven Pro"/>
            </a:endParaRPr>
          </a:p>
        </p:txBody>
      </p:sp>
      <p:pic>
        <p:nvPicPr>
          <p:cNvPr id="564" name="Google Shape;564;p5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565" name="Google Shape;565;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66" name="Google Shape;566;p59"/>
          <p:cNvSpPr txBox="1"/>
          <p:nvPr/>
        </p:nvSpPr>
        <p:spPr>
          <a:xfrm>
            <a:off x="670475" y="1169450"/>
            <a:ext cx="4139700" cy="3593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100">
                <a:solidFill>
                  <a:srgbClr val="00084D"/>
                </a:solidFill>
                <a:latin typeface="Maven Pro"/>
                <a:ea typeface="Maven Pro"/>
                <a:cs typeface="Maven Pro"/>
                <a:sym typeface="Maven Pro"/>
              </a:rPr>
              <a:t>Docker Engine:</a:t>
            </a:r>
            <a:endParaRPr b="1"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Docker Engine est la plateforme principale de Docker qui permet de construire, exécuter, gérer, et distribuer des conteneurs. </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Il est composé de plusieurs couches logicielles qui travaillent ensemble pour offrir une expérience fluide aux développeurs et opérateurs.</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La fondation sur laquelle Docker Engine est construit comprend deux composants : runc et containerd.</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À l'origine, Docker a été conçu de manière monolithique et contenait toute la fonctionnalité nécessaire pour exécuter des conteneurs. Au fil du temps, cela est devenu trop rigide, et Docker a commencé à séparer certaines fonctionnalités dans leurs propres composants. Deux composants importants sont runc et containerd.</a:t>
            </a:r>
            <a:endParaRPr sz="1100">
              <a:solidFill>
                <a:srgbClr val="00084D"/>
              </a:solidFill>
              <a:latin typeface="Maven Pro"/>
              <a:ea typeface="Maven Pro"/>
              <a:cs typeface="Maven Pro"/>
              <a:sym typeface="Maven Pro"/>
            </a:endParaRPr>
          </a:p>
        </p:txBody>
      </p:sp>
      <p:pic>
        <p:nvPicPr>
          <p:cNvPr id="567" name="Google Shape;567;p59"/>
          <p:cNvPicPr preferRelativeResize="0"/>
          <p:nvPr/>
        </p:nvPicPr>
        <p:blipFill>
          <a:blip r:embed="rId4">
            <a:alphaModFix/>
          </a:blip>
          <a:stretch>
            <a:fillRect/>
          </a:stretch>
        </p:blipFill>
        <p:spPr>
          <a:xfrm>
            <a:off x="4810113" y="550500"/>
            <a:ext cx="4333875" cy="42100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60"/>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573" name="Google Shape;573;p6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Container plumbing</a:t>
            </a:r>
            <a:endParaRPr sz="2000">
              <a:solidFill>
                <a:srgbClr val="073763"/>
              </a:solidFill>
              <a:latin typeface="Maven Pro"/>
              <a:ea typeface="Maven Pro"/>
              <a:cs typeface="Maven Pro"/>
              <a:sym typeface="Maven Pro"/>
            </a:endParaRPr>
          </a:p>
        </p:txBody>
      </p:sp>
      <p:pic>
        <p:nvPicPr>
          <p:cNvPr id="574" name="Google Shape;574;p6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575" name="Google Shape;575;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76" name="Google Shape;576;p60"/>
          <p:cNvSpPr txBox="1"/>
          <p:nvPr/>
        </p:nvSpPr>
        <p:spPr>
          <a:xfrm>
            <a:off x="670425" y="1312575"/>
            <a:ext cx="4139700" cy="2685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100">
                <a:solidFill>
                  <a:srgbClr val="00084D"/>
                </a:solidFill>
                <a:latin typeface="Maven Pro"/>
                <a:ea typeface="Maven Pro"/>
                <a:cs typeface="Maven Pro"/>
                <a:sym typeface="Maven Pro"/>
              </a:rPr>
              <a:t>Docker Engine: Docker Client</a:t>
            </a:r>
            <a:endParaRPr b="1" sz="1100">
              <a:solidFill>
                <a:srgbClr val="00084D"/>
              </a:solidFill>
              <a:latin typeface="Maven Pro"/>
              <a:ea typeface="Maven Pro"/>
              <a:cs typeface="Maven Pro"/>
              <a:sym typeface="Maven Pro"/>
            </a:endParaRPr>
          </a:p>
          <a:p>
            <a:pPr indent="-298450" lvl="0" marL="457200" marR="0" rtl="0" algn="just">
              <a:lnSpc>
                <a:spcPct val="115000"/>
              </a:lnSpc>
              <a:spcBef>
                <a:spcPts val="10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Interface utilisateur pour interagir avec Docker.</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Envoie des commandes à Docker Daemon via la socket Unix ou TCP.</a:t>
            </a:r>
            <a:endParaRPr sz="1100">
              <a:solidFill>
                <a:srgbClr val="00084D"/>
              </a:solidFill>
              <a:latin typeface="Maven Pro"/>
              <a:ea typeface="Maven Pro"/>
              <a:cs typeface="Maven Pro"/>
              <a:sym typeface="Maven Pro"/>
            </a:endParaRPr>
          </a:p>
          <a:p>
            <a:pPr indent="0" lvl="0" marL="0" rtl="0" algn="just">
              <a:lnSpc>
                <a:spcPct val="115000"/>
              </a:lnSpc>
              <a:spcBef>
                <a:spcPts val="1000"/>
              </a:spcBef>
              <a:spcAft>
                <a:spcPts val="0"/>
              </a:spcAft>
              <a:buNone/>
            </a:pPr>
            <a:r>
              <a:rPr b="1" lang="en-GB" sz="1100">
                <a:solidFill>
                  <a:srgbClr val="00084D"/>
                </a:solidFill>
                <a:latin typeface="Maven Pro"/>
                <a:ea typeface="Maven Pro"/>
                <a:cs typeface="Maven Pro"/>
                <a:sym typeface="Maven Pro"/>
              </a:rPr>
              <a:t>Docker Engine: Docker daemon (dockerd)</a:t>
            </a:r>
            <a:endParaRPr b="1" sz="1100">
              <a:solidFill>
                <a:srgbClr val="00084D"/>
              </a:solidFill>
              <a:latin typeface="Maven Pro"/>
              <a:ea typeface="Maven Pro"/>
              <a:cs typeface="Maven Pro"/>
              <a:sym typeface="Maven Pro"/>
            </a:endParaRPr>
          </a:p>
          <a:p>
            <a:pPr indent="-298450" lvl="0" marL="457200" marR="0" rtl="0" algn="just">
              <a:lnSpc>
                <a:spcPct val="115000"/>
              </a:lnSpc>
              <a:spcBef>
                <a:spcPts val="10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Service principal qui tourne en arrière-plan.</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Responsable de :</a:t>
            </a:r>
            <a:endParaRPr sz="1100">
              <a:solidFill>
                <a:srgbClr val="00084D"/>
              </a:solidFill>
              <a:latin typeface="Maven Pro"/>
              <a:ea typeface="Maven Pro"/>
              <a:cs typeface="Maven Pro"/>
              <a:sym typeface="Maven Pro"/>
            </a:endParaRPr>
          </a:p>
          <a:p>
            <a:pPr indent="-298450" lvl="1"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La gestion des conteneurs, images, réseaux, et volumes.</a:t>
            </a:r>
            <a:endParaRPr sz="1100">
              <a:solidFill>
                <a:srgbClr val="00084D"/>
              </a:solidFill>
              <a:latin typeface="Maven Pro"/>
              <a:ea typeface="Maven Pro"/>
              <a:cs typeface="Maven Pro"/>
              <a:sym typeface="Maven Pro"/>
            </a:endParaRPr>
          </a:p>
          <a:p>
            <a:pPr indent="-298450" lvl="1"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La communication avec les clients Docker via une API REST.</a:t>
            </a:r>
            <a:endParaRPr sz="1100">
              <a:solidFill>
                <a:srgbClr val="00084D"/>
              </a:solidFill>
              <a:latin typeface="Maven Pro"/>
              <a:ea typeface="Maven Pro"/>
              <a:cs typeface="Maven Pro"/>
              <a:sym typeface="Maven Pro"/>
            </a:endParaRPr>
          </a:p>
        </p:txBody>
      </p:sp>
      <p:pic>
        <p:nvPicPr>
          <p:cNvPr id="577" name="Google Shape;577;p60"/>
          <p:cNvPicPr preferRelativeResize="0"/>
          <p:nvPr/>
        </p:nvPicPr>
        <p:blipFill>
          <a:blip r:embed="rId4">
            <a:alphaModFix/>
          </a:blip>
          <a:stretch>
            <a:fillRect/>
          </a:stretch>
        </p:blipFill>
        <p:spPr>
          <a:xfrm>
            <a:off x="4810113" y="550500"/>
            <a:ext cx="4333875" cy="42100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1"/>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583" name="Google Shape;583;p6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Container plumbing</a:t>
            </a:r>
            <a:endParaRPr sz="2000">
              <a:solidFill>
                <a:srgbClr val="073763"/>
              </a:solidFill>
              <a:latin typeface="Maven Pro"/>
              <a:ea typeface="Maven Pro"/>
              <a:cs typeface="Maven Pro"/>
              <a:sym typeface="Maven Pro"/>
            </a:endParaRPr>
          </a:p>
        </p:txBody>
      </p:sp>
      <p:pic>
        <p:nvPicPr>
          <p:cNvPr id="584" name="Google Shape;584;p6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585" name="Google Shape;585;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86" name="Google Shape;586;p61"/>
          <p:cNvSpPr txBox="1"/>
          <p:nvPr/>
        </p:nvSpPr>
        <p:spPr>
          <a:xfrm>
            <a:off x="670425" y="1312575"/>
            <a:ext cx="4139700" cy="2778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100">
                <a:solidFill>
                  <a:srgbClr val="00084D"/>
                </a:solidFill>
                <a:latin typeface="Maven Pro"/>
                <a:ea typeface="Maven Pro"/>
                <a:cs typeface="Maven Pro"/>
                <a:sym typeface="Maven Pro"/>
              </a:rPr>
              <a:t>Docker Engine: runc</a:t>
            </a:r>
            <a:endParaRPr b="1"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runc est un moteur de conteneur léger et portable. Il offre un support complet des namespaces Linux ainsi qu'un support natif pour toutes les fonctionnalités de sécurité disponibles sur Linux, telles que SELinux, AppArmor, seccomp et cgroups.</a:t>
            </a:r>
            <a:br>
              <a:rPr lang="en-GB" sz="1100">
                <a:solidFill>
                  <a:srgbClr val="00084D"/>
                </a:solidFill>
                <a:latin typeface="Maven Pro"/>
                <a:ea typeface="Maven Pro"/>
                <a:cs typeface="Maven Pro"/>
                <a:sym typeface="Maven Pro"/>
              </a:rPr>
            </a:br>
            <a:r>
              <a:rPr lang="en-GB" sz="1100">
                <a:solidFill>
                  <a:srgbClr val="00084D"/>
                </a:solidFill>
                <a:latin typeface="Maven Pro"/>
                <a:ea typeface="Maven Pro"/>
                <a:cs typeface="Maven Pro"/>
                <a:sym typeface="Maven Pro"/>
              </a:rPr>
              <a:t>runC est un outil permettant de lancer et d'exécuter des conteneurs selon la spécification de l'Open Container Initiative (OCI). Il s'agit d'un format de configuration spécifié de manière formelle, gouverné par le projet Open Container (OCP) sous l'égide de la Linux Foundation.</a:t>
            </a:r>
            <a:endParaRPr sz="1100">
              <a:solidFill>
                <a:srgbClr val="00084D"/>
              </a:solidFill>
              <a:latin typeface="Maven Pro"/>
              <a:ea typeface="Maven Pro"/>
              <a:cs typeface="Maven Pro"/>
              <a:sym typeface="Maven Pro"/>
            </a:endParaRPr>
          </a:p>
          <a:p>
            <a:pPr indent="0" lvl="0" marL="0" rtl="0" algn="l">
              <a:lnSpc>
                <a:spcPct val="115000"/>
              </a:lnSpc>
              <a:spcBef>
                <a:spcPts val="1200"/>
              </a:spcBef>
              <a:spcAft>
                <a:spcPts val="1200"/>
              </a:spcAft>
              <a:buNone/>
            </a:pPr>
            <a:r>
              <a:rPr lang="en-GB" sz="1100">
                <a:solidFill>
                  <a:srgbClr val="00084D"/>
                </a:solidFill>
                <a:latin typeface="Maven Pro"/>
                <a:ea typeface="Maven Pro"/>
                <a:cs typeface="Maven Pro"/>
                <a:sym typeface="Maven Pro"/>
              </a:rPr>
              <a:t>Il est l'interface la plus proche du noyau Linux dans l'écosystème Docker.</a:t>
            </a:r>
            <a:endParaRPr sz="1100">
              <a:solidFill>
                <a:srgbClr val="00084D"/>
              </a:solidFill>
              <a:latin typeface="Maven Pro"/>
              <a:ea typeface="Maven Pro"/>
              <a:cs typeface="Maven Pro"/>
              <a:sym typeface="Maven Pro"/>
            </a:endParaRPr>
          </a:p>
        </p:txBody>
      </p:sp>
      <p:pic>
        <p:nvPicPr>
          <p:cNvPr id="587" name="Google Shape;587;p61"/>
          <p:cNvPicPr preferRelativeResize="0"/>
          <p:nvPr/>
        </p:nvPicPr>
        <p:blipFill>
          <a:blip r:embed="rId4">
            <a:alphaModFix/>
          </a:blip>
          <a:stretch>
            <a:fillRect/>
          </a:stretch>
        </p:blipFill>
        <p:spPr>
          <a:xfrm>
            <a:off x="4810113" y="550500"/>
            <a:ext cx="4333875" cy="42100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2"/>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593" name="Google Shape;593;p6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The anatomy of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Container plumbing</a:t>
            </a:r>
            <a:endParaRPr sz="2000">
              <a:solidFill>
                <a:srgbClr val="073763"/>
              </a:solidFill>
              <a:latin typeface="Maven Pro"/>
              <a:ea typeface="Maven Pro"/>
              <a:cs typeface="Maven Pro"/>
              <a:sym typeface="Maven Pro"/>
            </a:endParaRPr>
          </a:p>
        </p:txBody>
      </p:sp>
      <p:pic>
        <p:nvPicPr>
          <p:cNvPr id="594" name="Google Shape;594;p6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595" name="Google Shape;595;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596" name="Google Shape;596;p62"/>
          <p:cNvSpPr txBox="1"/>
          <p:nvPr/>
        </p:nvSpPr>
        <p:spPr>
          <a:xfrm>
            <a:off x="670425" y="1312575"/>
            <a:ext cx="4139700" cy="3597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100">
                <a:solidFill>
                  <a:srgbClr val="00084D"/>
                </a:solidFill>
                <a:latin typeface="Maven Pro"/>
                <a:ea typeface="Maven Pro"/>
                <a:cs typeface="Maven Pro"/>
                <a:sym typeface="Maven Pro"/>
              </a:rPr>
              <a:t>Docker Engine: containerd</a:t>
            </a:r>
            <a:endParaRPr b="1"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runC est une implémentation de bas niveau d'un moteur de conteneur; containerd se construit dessus et ajoute des fonctionnalités de niveau supérieur, telles que le transfert et le stockage d'images, l'exécution et la supervision des conteneurs, ainsi que les attachements réseau et stockage. Grâce à cela, il gère le cycle de vie complet des conteneurs.</a:t>
            </a:r>
            <a:br>
              <a:rPr lang="en-GB" sz="1100">
                <a:solidFill>
                  <a:srgbClr val="00084D"/>
                </a:solidFill>
                <a:latin typeface="Maven Pro"/>
                <a:ea typeface="Maven Pro"/>
                <a:cs typeface="Maven Pro"/>
                <a:sym typeface="Maven Pro"/>
              </a:rPr>
            </a:br>
            <a:r>
              <a:rPr lang="en-GB" sz="1100">
                <a:solidFill>
                  <a:srgbClr val="00084D"/>
                </a:solidFill>
                <a:latin typeface="Maven Pro"/>
                <a:ea typeface="Maven Pro"/>
                <a:cs typeface="Maven Pro"/>
                <a:sym typeface="Maven Pro"/>
              </a:rPr>
              <a:t>containerd est l'implémentation de référence des spécifications OCI et est de loin le moteur de conteneur le plus populaire et le plus largement utilisé.</a:t>
            </a:r>
            <a:br>
              <a:rPr lang="en-GB" sz="1100">
                <a:solidFill>
                  <a:srgbClr val="00084D"/>
                </a:solidFill>
                <a:latin typeface="Maven Pro"/>
                <a:ea typeface="Maven Pro"/>
                <a:cs typeface="Maven Pro"/>
                <a:sym typeface="Maven Pro"/>
              </a:rPr>
            </a:br>
            <a:r>
              <a:rPr lang="en-GB" sz="1100">
                <a:solidFill>
                  <a:srgbClr val="00084D"/>
                </a:solidFill>
                <a:latin typeface="Maven Pro"/>
                <a:ea typeface="Maven Pro"/>
                <a:cs typeface="Maven Pro"/>
                <a:sym typeface="Maven Pro"/>
              </a:rPr>
              <a:t>Containerd a été donné à la CNCF (Cloud Native Computing Foundation) et accepté en 2017. Il existe des implémentations alternatives de la spécification OCI, comme rkt de CoreOS, CRI-O de Red Hat et LXD de Linux Containers. Cependant, containerd est actuellement de loin le moteur de conteneur le plus populaire et est le moteur de conteneur par défaut de Kubernetes 1.8 ou ultérieur et de la plateforme Docker.</a:t>
            </a:r>
            <a:endParaRPr sz="1100">
              <a:solidFill>
                <a:srgbClr val="00084D"/>
              </a:solidFill>
              <a:latin typeface="Maven Pro"/>
              <a:ea typeface="Maven Pro"/>
              <a:cs typeface="Maven Pro"/>
              <a:sym typeface="Maven Pro"/>
            </a:endParaRPr>
          </a:p>
        </p:txBody>
      </p:sp>
      <p:pic>
        <p:nvPicPr>
          <p:cNvPr id="597" name="Google Shape;597;p62"/>
          <p:cNvPicPr preferRelativeResize="0"/>
          <p:nvPr/>
        </p:nvPicPr>
        <p:blipFill>
          <a:blip r:embed="rId4">
            <a:alphaModFix/>
          </a:blip>
          <a:stretch>
            <a:fillRect/>
          </a:stretch>
        </p:blipFill>
        <p:spPr>
          <a:xfrm>
            <a:off x="4810113" y="550500"/>
            <a:ext cx="4333875" cy="42100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3"/>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603" name="Google Shape;603;p63"/>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604" name="Google Shape;604;p63"/>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605" name="Google Shape;605;p63"/>
          <p:cNvSpPr txBox="1"/>
          <p:nvPr/>
        </p:nvSpPr>
        <p:spPr>
          <a:xfrm>
            <a:off x="478375" y="1786800"/>
            <a:ext cx="4572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Docker Installation</a:t>
            </a:r>
            <a:endParaRPr sz="4500">
              <a:solidFill>
                <a:srgbClr val="E5F2FC"/>
              </a:solidFill>
              <a:latin typeface="Nunito SemiBold"/>
              <a:ea typeface="Nunito SemiBold"/>
              <a:cs typeface="Nunito SemiBold"/>
              <a:sym typeface="Nunito SemiBold"/>
            </a:endParaRPr>
          </a:p>
        </p:txBody>
      </p:sp>
      <p:sp>
        <p:nvSpPr>
          <p:cNvPr id="606" name="Google Shape;606;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64"/>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612" name="Google Shape;612;p6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Installation</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Linux</a:t>
            </a:r>
            <a:endParaRPr sz="2000">
              <a:solidFill>
                <a:srgbClr val="073763"/>
              </a:solidFill>
              <a:latin typeface="Maven Pro"/>
              <a:ea typeface="Maven Pro"/>
              <a:cs typeface="Maven Pro"/>
              <a:sym typeface="Maven Pro"/>
            </a:endParaRPr>
          </a:p>
        </p:txBody>
      </p:sp>
      <p:pic>
        <p:nvPicPr>
          <p:cNvPr id="613" name="Google Shape;613;p6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614" name="Google Shape;614;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615" name="Google Shape;615;p64"/>
          <p:cNvSpPr/>
          <p:nvPr/>
        </p:nvSpPr>
        <p:spPr>
          <a:xfrm>
            <a:off x="777150" y="1538750"/>
            <a:ext cx="26700" cy="2832600"/>
          </a:xfrm>
          <a:prstGeom prst="roundRect">
            <a:avLst>
              <a:gd fmla="val 16667" name="adj"/>
            </a:avLst>
          </a:prstGeom>
          <a:solidFill>
            <a:srgbClr val="999999"/>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t/>
            </a:r>
            <a:endParaRPr b="1" sz="1200">
              <a:solidFill>
                <a:srgbClr val="17191E"/>
              </a:solidFill>
              <a:latin typeface="Courier New"/>
              <a:ea typeface="Courier New"/>
              <a:cs typeface="Courier New"/>
              <a:sym typeface="Courier New"/>
            </a:endParaRPr>
          </a:p>
        </p:txBody>
      </p:sp>
      <p:sp>
        <p:nvSpPr>
          <p:cNvPr id="616" name="Google Shape;616;p64"/>
          <p:cNvSpPr/>
          <p:nvPr/>
        </p:nvSpPr>
        <p:spPr>
          <a:xfrm>
            <a:off x="906500" y="1595150"/>
            <a:ext cx="7789200" cy="3936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chemeClr val="lt1"/>
                </a:solidFill>
                <a:latin typeface="Courier New"/>
                <a:ea typeface="Courier New"/>
                <a:cs typeface="Courier New"/>
                <a:sym typeface="Courier New"/>
              </a:rPr>
              <a:t># Add Docker's official GPG key:</a:t>
            </a:r>
            <a:endParaRPr sz="80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GB" sz="800">
                <a:solidFill>
                  <a:srgbClr val="00FF00"/>
                </a:solidFill>
                <a:latin typeface="Courier New"/>
                <a:ea typeface="Courier New"/>
                <a:cs typeface="Courier New"/>
                <a:sym typeface="Courier New"/>
              </a:rPr>
              <a:t>$</a:t>
            </a:r>
            <a:r>
              <a:rPr lang="en-GB" sz="800">
                <a:solidFill>
                  <a:schemeClr val="lt1"/>
                </a:solidFill>
                <a:latin typeface="Courier New"/>
                <a:ea typeface="Courier New"/>
                <a:cs typeface="Courier New"/>
                <a:sym typeface="Courier New"/>
              </a:rPr>
              <a:t> sudo apt-get update</a:t>
            </a:r>
            <a:endParaRPr sz="800">
              <a:solidFill>
                <a:schemeClr val="lt1"/>
              </a:solidFill>
              <a:latin typeface="Courier New"/>
              <a:ea typeface="Courier New"/>
              <a:cs typeface="Courier New"/>
              <a:sym typeface="Courier New"/>
            </a:endParaRPr>
          </a:p>
        </p:txBody>
      </p:sp>
      <p:sp>
        <p:nvSpPr>
          <p:cNvPr id="617" name="Google Shape;617;p64"/>
          <p:cNvSpPr/>
          <p:nvPr/>
        </p:nvSpPr>
        <p:spPr>
          <a:xfrm>
            <a:off x="906500" y="2049725"/>
            <a:ext cx="7789200" cy="4173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800">
                <a:solidFill>
                  <a:srgbClr val="00FF00"/>
                </a:solidFill>
                <a:latin typeface="Courier New"/>
                <a:ea typeface="Courier New"/>
                <a:cs typeface="Courier New"/>
                <a:sym typeface="Courier New"/>
              </a:rPr>
              <a:t>$</a:t>
            </a:r>
            <a:r>
              <a:rPr lang="en-GB" sz="800">
                <a:solidFill>
                  <a:schemeClr val="lt1"/>
                </a:solidFill>
                <a:latin typeface="Courier New"/>
                <a:ea typeface="Courier New"/>
                <a:cs typeface="Courier New"/>
                <a:sym typeface="Courier New"/>
              </a:rPr>
              <a:t> sudo apt-get install ca-certificates curl</a:t>
            </a:r>
            <a:endParaRPr sz="8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800">
                <a:solidFill>
                  <a:srgbClr val="00FF00"/>
                </a:solidFill>
                <a:latin typeface="Courier New"/>
                <a:ea typeface="Courier New"/>
                <a:cs typeface="Courier New"/>
                <a:sym typeface="Courier New"/>
              </a:rPr>
              <a:t>$</a:t>
            </a:r>
            <a:r>
              <a:rPr lang="en-GB" sz="800">
                <a:solidFill>
                  <a:schemeClr val="lt1"/>
                </a:solidFill>
                <a:latin typeface="Courier New"/>
                <a:ea typeface="Courier New"/>
                <a:cs typeface="Courier New"/>
                <a:sym typeface="Courier New"/>
              </a:rPr>
              <a:t> sudo install -m 0755 -d /etc/apt/keyrings</a:t>
            </a:r>
            <a:endParaRPr sz="800">
              <a:solidFill>
                <a:schemeClr val="lt1"/>
              </a:solidFill>
              <a:latin typeface="Courier New"/>
              <a:ea typeface="Courier New"/>
              <a:cs typeface="Courier New"/>
              <a:sym typeface="Courier New"/>
            </a:endParaRPr>
          </a:p>
        </p:txBody>
      </p:sp>
      <p:sp>
        <p:nvSpPr>
          <p:cNvPr id="618" name="Google Shape;618;p64"/>
          <p:cNvSpPr/>
          <p:nvPr/>
        </p:nvSpPr>
        <p:spPr>
          <a:xfrm>
            <a:off x="906500" y="2528000"/>
            <a:ext cx="7789200" cy="4173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800">
                <a:solidFill>
                  <a:srgbClr val="00FF00"/>
                </a:solidFill>
                <a:latin typeface="Courier New"/>
                <a:ea typeface="Courier New"/>
                <a:cs typeface="Courier New"/>
                <a:sym typeface="Courier New"/>
              </a:rPr>
              <a:t>$</a:t>
            </a:r>
            <a:r>
              <a:rPr lang="en-GB" sz="800">
                <a:solidFill>
                  <a:schemeClr val="lt1"/>
                </a:solidFill>
                <a:latin typeface="Courier New"/>
                <a:ea typeface="Courier New"/>
                <a:cs typeface="Courier New"/>
                <a:sym typeface="Courier New"/>
              </a:rPr>
              <a:t> sudo curl -fsSL https://download.docker.com/linux/ubuntu/gpg -o etc/apt/keyrings/docker.asc</a:t>
            </a:r>
            <a:endParaRPr sz="80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GB" sz="800">
                <a:solidFill>
                  <a:srgbClr val="00FF00"/>
                </a:solidFill>
                <a:latin typeface="Courier New"/>
                <a:ea typeface="Courier New"/>
                <a:cs typeface="Courier New"/>
                <a:sym typeface="Courier New"/>
              </a:rPr>
              <a:t>$</a:t>
            </a:r>
            <a:r>
              <a:rPr lang="en-GB" sz="800">
                <a:solidFill>
                  <a:schemeClr val="lt1"/>
                </a:solidFill>
                <a:latin typeface="Courier New"/>
                <a:ea typeface="Courier New"/>
                <a:cs typeface="Courier New"/>
                <a:sym typeface="Courier New"/>
              </a:rPr>
              <a:t> sudo chmod a+r /etc/apt/keyrings/docker.asc</a:t>
            </a:r>
            <a:endParaRPr sz="800">
              <a:solidFill>
                <a:srgbClr val="00FF00"/>
              </a:solidFill>
              <a:latin typeface="Courier New"/>
              <a:ea typeface="Courier New"/>
              <a:cs typeface="Courier New"/>
              <a:sym typeface="Courier New"/>
            </a:endParaRPr>
          </a:p>
        </p:txBody>
      </p:sp>
      <p:sp>
        <p:nvSpPr>
          <p:cNvPr id="619" name="Google Shape;619;p64"/>
          <p:cNvSpPr/>
          <p:nvPr/>
        </p:nvSpPr>
        <p:spPr>
          <a:xfrm>
            <a:off x="906500" y="3006275"/>
            <a:ext cx="7789200" cy="8304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800">
                <a:solidFill>
                  <a:srgbClr val="00FF00"/>
                </a:solidFill>
                <a:latin typeface="Courier New"/>
                <a:ea typeface="Courier New"/>
                <a:cs typeface="Courier New"/>
                <a:sym typeface="Courier New"/>
              </a:rPr>
              <a:t>$</a:t>
            </a:r>
            <a:r>
              <a:rPr lang="en-GB" sz="800">
                <a:solidFill>
                  <a:schemeClr val="lt1"/>
                </a:solidFill>
                <a:latin typeface="Courier New"/>
                <a:ea typeface="Courier New"/>
                <a:cs typeface="Courier New"/>
                <a:sym typeface="Courier New"/>
              </a:rPr>
              <a:t> echo \</a:t>
            </a:r>
            <a:endParaRPr sz="8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800">
                <a:solidFill>
                  <a:schemeClr val="lt1"/>
                </a:solidFill>
                <a:latin typeface="Courier New"/>
                <a:ea typeface="Courier New"/>
                <a:cs typeface="Courier New"/>
                <a:sym typeface="Courier New"/>
              </a:rPr>
              <a:t>  "deb [arch=$(dpkg --print-architecture) signed-by=/etc/apt/keyrings/docker.asc] https://download.docker.com/linux/ubuntu \</a:t>
            </a:r>
            <a:endParaRPr sz="8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800">
                <a:solidFill>
                  <a:schemeClr val="lt1"/>
                </a:solidFill>
                <a:latin typeface="Courier New"/>
                <a:ea typeface="Courier New"/>
                <a:cs typeface="Courier New"/>
                <a:sym typeface="Courier New"/>
              </a:rPr>
              <a:t>  $(. /etc/os-release &amp;&amp; echo "$VERSION_CODENAME") stable" | \</a:t>
            </a:r>
            <a:endParaRPr sz="8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800">
                <a:solidFill>
                  <a:schemeClr val="lt1"/>
                </a:solidFill>
                <a:latin typeface="Courier New"/>
                <a:ea typeface="Courier New"/>
                <a:cs typeface="Courier New"/>
                <a:sym typeface="Courier New"/>
              </a:rPr>
              <a:t>  sudo tee /etc/apt/sources.list.d/docker.list &gt; /dev/null</a:t>
            </a:r>
            <a:endParaRPr sz="8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800">
                <a:solidFill>
                  <a:srgbClr val="00FF00"/>
                </a:solidFill>
                <a:latin typeface="Courier New"/>
                <a:ea typeface="Courier New"/>
                <a:cs typeface="Courier New"/>
                <a:sym typeface="Courier New"/>
              </a:rPr>
              <a:t>$</a:t>
            </a:r>
            <a:r>
              <a:rPr lang="en-GB" sz="800">
                <a:solidFill>
                  <a:schemeClr val="lt1"/>
                </a:solidFill>
                <a:latin typeface="Courier New"/>
                <a:ea typeface="Courier New"/>
                <a:cs typeface="Courier New"/>
                <a:sym typeface="Courier New"/>
              </a:rPr>
              <a:t> sudo apt-get update</a:t>
            </a:r>
            <a:endParaRPr sz="800">
              <a:solidFill>
                <a:srgbClr val="00FF00"/>
              </a:solidFill>
              <a:latin typeface="Courier New"/>
              <a:ea typeface="Courier New"/>
              <a:cs typeface="Courier New"/>
              <a:sym typeface="Courier New"/>
            </a:endParaRPr>
          </a:p>
        </p:txBody>
      </p:sp>
      <p:sp>
        <p:nvSpPr>
          <p:cNvPr id="620" name="Google Shape;620;p64"/>
          <p:cNvSpPr/>
          <p:nvPr/>
        </p:nvSpPr>
        <p:spPr>
          <a:xfrm>
            <a:off x="906500" y="3897650"/>
            <a:ext cx="7789200" cy="4173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800">
                <a:solidFill>
                  <a:srgbClr val="00FF00"/>
                </a:solidFill>
                <a:latin typeface="Courier New"/>
                <a:ea typeface="Courier New"/>
                <a:cs typeface="Courier New"/>
                <a:sym typeface="Courier New"/>
              </a:rPr>
              <a:t>$</a:t>
            </a:r>
            <a:r>
              <a:rPr lang="en-GB" sz="800">
                <a:solidFill>
                  <a:schemeClr val="lt1"/>
                </a:solidFill>
                <a:latin typeface="Courier New"/>
                <a:ea typeface="Courier New"/>
                <a:cs typeface="Courier New"/>
                <a:sym typeface="Courier New"/>
              </a:rPr>
              <a:t> sudo apt-get install docker-ce docker-ce-cli containerd.io docker-buildx-plugin docker-compose-plugin</a:t>
            </a:r>
            <a:endParaRPr sz="800">
              <a:solidFill>
                <a:srgbClr val="00FF00"/>
              </a:solidFill>
              <a:latin typeface="Courier New"/>
              <a:ea typeface="Courier New"/>
              <a:cs typeface="Courier New"/>
              <a:sym typeface="Courier New"/>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5"/>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626" name="Google Shape;626;p65"/>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627" name="Google Shape;627;p65"/>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628" name="Google Shape;628;p65"/>
          <p:cNvSpPr txBox="1"/>
          <p:nvPr/>
        </p:nvSpPr>
        <p:spPr>
          <a:xfrm>
            <a:off x="478375" y="1786800"/>
            <a:ext cx="4572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Managing Containers</a:t>
            </a:r>
            <a:endParaRPr sz="4500">
              <a:solidFill>
                <a:srgbClr val="E5F2FC"/>
              </a:solidFill>
              <a:latin typeface="Nunito SemiBold"/>
              <a:ea typeface="Nunito SemiBold"/>
              <a:cs typeface="Nunito SemiBold"/>
              <a:sym typeface="Nunito SemiBold"/>
            </a:endParaRPr>
          </a:p>
        </p:txBody>
      </p:sp>
      <p:sp>
        <p:nvSpPr>
          <p:cNvPr id="629" name="Google Shape;629;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66"/>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635" name="Google Shape;635;p6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a:t>
            </a:r>
            <a:r>
              <a:rPr lang="en-GB" sz="1500">
                <a:solidFill>
                  <a:srgbClr val="073763"/>
                </a:solidFill>
                <a:latin typeface="Maven Pro"/>
                <a:ea typeface="Maven Pro"/>
                <a:cs typeface="Maven Pro"/>
                <a:sym typeface="Maven Pro"/>
              </a:rPr>
              <a:t>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Container Lifecycle</a:t>
            </a:r>
            <a:endParaRPr sz="2000">
              <a:solidFill>
                <a:srgbClr val="073763"/>
              </a:solidFill>
              <a:latin typeface="Maven Pro"/>
              <a:ea typeface="Maven Pro"/>
              <a:cs typeface="Maven Pro"/>
              <a:sym typeface="Maven Pro"/>
            </a:endParaRPr>
          </a:p>
        </p:txBody>
      </p:sp>
      <p:pic>
        <p:nvPicPr>
          <p:cNvPr id="636" name="Google Shape;636;p6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637" name="Google Shape;637;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638" name="Google Shape;638;p66"/>
          <p:cNvPicPr preferRelativeResize="0"/>
          <p:nvPr/>
        </p:nvPicPr>
        <p:blipFill>
          <a:blip r:embed="rId4">
            <a:alphaModFix/>
          </a:blip>
          <a:stretch>
            <a:fillRect/>
          </a:stretch>
        </p:blipFill>
        <p:spPr>
          <a:xfrm>
            <a:off x="567838" y="1392000"/>
            <a:ext cx="8008325" cy="28542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7"/>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644" name="Google Shape;644;p6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ps command</a:t>
            </a:r>
            <a:endParaRPr sz="2000">
              <a:solidFill>
                <a:srgbClr val="073763"/>
              </a:solidFill>
              <a:latin typeface="Maven Pro"/>
              <a:ea typeface="Maven Pro"/>
              <a:cs typeface="Maven Pro"/>
              <a:sym typeface="Maven Pro"/>
            </a:endParaRPr>
          </a:p>
        </p:txBody>
      </p:sp>
      <p:pic>
        <p:nvPicPr>
          <p:cNvPr id="645" name="Google Shape;645;p6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646" name="Google Shape;646;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647" name="Google Shape;647;p67"/>
          <p:cNvSpPr txBox="1"/>
          <p:nvPr/>
        </p:nvSpPr>
        <p:spPr>
          <a:xfrm>
            <a:off x="687900" y="1325975"/>
            <a:ext cx="7768200" cy="1283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0"/>
              </a:spcAft>
              <a:buNone/>
            </a:pPr>
            <a:r>
              <a:rPr lang="en-GB" sz="1500">
                <a:solidFill>
                  <a:schemeClr val="lt1"/>
                </a:solidFill>
                <a:highlight>
                  <a:schemeClr val="dk1"/>
                </a:highlight>
                <a:latin typeface="Courier New"/>
                <a:ea typeface="Courier New"/>
                <a:cs typeface="Courier New"/>
                <a:sym typeface="Courier New"/>
              </a:rPr>
              <a:t>$ docker ps </a:t>
            </a:r>
            <a:endParaRPr sz="1500">
              <a:solidFill>
                <a:schemeClr val="lt1"/>
              </a:solidFill>
              <a:highlight>
                <a:schemeClr val="dk1"/>
              </a:highlight>
              <a:latin typeface="Courier New"/>
              <a:ea typeface="Courier New"/>
              <a:cs typeface="Courier New"/>
              <a:sym typeface="Courier New"/>
            </a:endParaRPr>
          </a:p>
          <a:p>
            <a:pPr indent="0" lvl="0" marL="0" marR="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Elle permet de lister les conteneurs en cours d'exécution sur votre système. Par défaut, elle ne montre que les conteneurs actifs, c'est-à-dire ceux qui sont </a:t>
            </a:r>
            <a:r>
              <a:rPr lang="en-GB" sz="1100">
                <a:solidFill>
                  <a:srgbClr val="00084D"/>
                </a:solidFill>
                <a:latin typeface="Maven Pro Medium"/>
                <a:ea typeface="Maven Pro Medium"/>
                <a:cs typeface="Maven Pro Medium"/>
                <a:sym typeface="Maven Pro Medium"/>
              </a:rPr>
              <a:t>en cours d'exécution</a:t>
            </a:r>
            <a:r>
              <a:rPr lang="en-GB" sz="1100">
                <a:solidFill>
                  <a:srgbClr val="00084D"/>
                </a:solidFill>
                <a:latin typeface="Maven Pro"/>
                <a:ea typeface="Maven Pro"/>
                <a:cs typeface="Maven Pro"/>
                <a:sym typeface="Maven Pro"/>
              </a:rPr>
              <a:t>.</a:t>
            </a:r>
            <a:endParaRPr sz="1100">
              <a:solidFill>
                <a:srgbClr val="00084D"/>
              </a:solidFill>
              <a:latin typeface="Maven Pro"/>
              <a:ea typeface="Maven Pro"/>
              <a:cs typeface="Maven Pro"/>
              <a:sym typeface="Maven Pro"/>
            </a:endParaRPr>
          </a:p>
        </p:txBody>
      </p:sp>
      <p:sp>
        <p:nvSpPr>
          <p:cNvPr id="648" name="Google Shape;648;p67"/>
          <p:cNvSpPr/>
          <p:nvPr/>
        </p:nvSpPr>
        <p:spPr>
          <a:xfrm>
            <a:off x="677400" y="2700200"/>
            <a:ext cx="7789200" cy="10704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ps</a:t>
            </a:r>
            <a:endParaRPr sz="10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lt1"/>
              </a:solidFill>
              <a:latin typeface="Courier New"/>
              <a:ea typeface="Courier New"/>
              <a:cs typeface="Courier New"/>
              <a:sym typeface="Courier New"/>
            </a:endParaRPr>
          </a:p>
          <a:p>
            <a:pPr indent="0" lvl="0" marL="0" rtl="0" algn="l">
              <a:spcBef>
                <a:spcPts val="0"/>
              </a:spcBef>
              <a:spcAft>
                <a:spcPts val="0"/>
              </a:spcAft>
              <a:buNone/>
            </a:pPr>
            <a:r>
              <a:rPr b="1" lang="en-GB" sz="1000">
                <a:solidFill>
                  <a:schemeClr val="lt1"/>
                </a:solidFill>
                <a:latin typeface="Courier New"/>
                <a:ea typeface="Courier New"/>
                <a:cs typeface="Courier New"/>
                <a:sym typeface="Courier New"/>
              </a:rPr>
              <a:t>CONTAINER ID   IMAGE   		COMMAND   CREATED     STATUS    PORTS   			  NAMES</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GB" sz="1000">
                <a:solidFill>
                  <a:schemeClr val="lt1"/>
                </a:solidFill>
                <a:latin typeface="Courier New"/>
                <a:ea typeface="Courier New"/>
                <a:cs typeface="Courier New"/>
                <a:sym typeface="Courier New"/>
              </a:rPr>
              <a:t>D2d2d2d2d2d2   ubuntu:latest 	"bash"    10 sec ago  Up 9 sec  0.0.0.0:8080-&gt;80/tcp 	  mycontainer</a:t>
            </a:r>
            <a:endParaRPr sz="1000">
              <a:solidFill>
                <a:schemeClr val="lt1"/>
              </a:solidFill>
              <a:latin typeface="Courier New"/>
              <a:ea typeface="Courier New"/>
              <a:cs typeface="Courier New"/>
              <a:sym typeface="Courier New"/>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68"/>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654" name="Google Shape;654;p6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ps command - Options</a:t>
            </a:r>
            <a:endParaRPr sz="2000">
              <a:solidFill>
                <a:srgbClr val="073763"/>
              </a:solidFill>
              <a:latin typeface="Maven Pro"/>
              <a:ea typeface="Maven Pro"/>
              <a:cs typeface="Maven Pro"/>
              <a:sym typeface="Maven Pro"/>
            </a:endParaRPr>
          </a:p>
        </p:txBody>
      </p:sp>
      <p:pic>
        <p:nvPicPr>
          <p:cNvPr id="655" name="Google Shape;655;p6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656" name="Google Shape;656;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657" name="Google Shape;657;p68"/>
          <p:cNvSpPr txBox="1"/>
          <p:nvPr/>
        </p:nvSpPr>
        <p:spPr>
          <a:xfrm>
            <a:off x="687900" y="1325975"/>
            <a:ext cx="7768200" cy="955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-a</a:t>
            </a:r>
            <a:r>
              <a:rPr b="1" lang="en-GB" sz="1200">
                <a:solidFill>
                  <a:srgbClr val="073763"/>
                </a:solidFill>
                <a:latin typeface="Maven Pro"/>
                <a:ea typeface="Maven Pro"/>
                <a:cs typeface="Maven Pro"/>
                <a:sym typeface="Maven Pro"/>
              </a:rPr>
              <a:t>:</a:t>
            </a:r>
            <a:endParaRPr b="1" sz="1200">
              <a:solidFill>
                <a:srgbClr val="FF0000"/>
              </a:solidFill>
              <a:latin typeface="Maven Pro"/>
              <a:ea typeface="Maven Pro"/>
              <a:cs typeface="Maven Pro"/>
              <a:sym typeface="Maven Pro"/>
            </a:endParaRPr>
          </a:p>
          <a:p>
            <a:pPr indent="457200" lvl="0" marL="0" marR="0" rtl="0" algn="just">
              <a:lnSpc>
                <a:spcPct val="115000"/>
              </a:lnSpc>
              <a:spcBef>
                <a:spcPts val="0"/>
              </a:spcBef>
              <a:spcAft>
                <a:spcPts val="0"/>
              </a:spcAft>
              <a:buNone/>
            </a:pPr>
            <a:r>
              <a:rPr lang="en-GB" sz="1100">
                <a:solidFill>
                  <a:schemeClr val="lt1"/>
                </a:solidFill>
                <a:highlight>
                  <a:schemeClr val="dk1"/>
                </a:highlight>
                <a:latin typeface="Courier New"/>
                <a:ea typeface="Courier New"/>
                <a:cs typeface="Courier New"/>
                <a:sym typeface="Courier New"/>
              </a:rPr>
              <a:t>$ docker ps -a </a:t>
            </a:r>
            <a:endParaRPr sz="1500">
              <a:solidFill>
                <a:schemeClr val="lt1"/>
              </a:solidFill>
              <a:highlight>
                <a:schemeClr val="dk1"/>
              </a:highlight>
              <a:latin typeface="Courier New"/>
              <a:ea typeface="Courier New"/>
              <a:cs typeface="Courier New"/>
              <a:sym typeface="Courier New"/>
            </a:endParaRPr>
          </a:p>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Cette commande affiche tous les conteneurs, qu'ils soient en cours d'exécution, arrêtés, ou dans d'autres états. Par défaut, docker ps n'affiche que les conteneurs en cours d'exécution.</a:t>
            </a:r>
            <a:endParaRPr sz="1100">
              <a:solidFill>
                <a:srgbClr val="00084D"/>
              </a:solidFill>
              <a:latin typeface="Maven Pro"/>
              <a:ea typeface="Maven Pro"/>
              <a:cs typeface="Maven Pro"/>
              <a:sym typeface="Maven Pro"/>
            </a:endParaRPr>
          </a:p>
        </p:txBody>
      </p:sp>
      <p:sp>
        <p:nvSpPr>
          <p:cNvPr id="658" name="Google Shape;658;p68"/>
          <p:cNvSpPr txBox="1"/>
          <p:nvPr/>
        </p:nvSpPr>
        <p:spPr>
          <a:xfrm>
            <a:off x="687900" y="2438300"/>
            <a:ext cx="7768200" cy="1345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a:t>
            </a:r>
            <a:r>
              <a:rPr b="1" lang="en-GB" sz="1200">
                <a:solidFill>
                  <a:srgbClr val="073763"/>
                </a:solidFill>
                <a:latin typeface="Maven Pro"/>
                <a:ea typeface="Maven Pro"/>
                <a:cs typeface="Maven Pro"/>
                <a:sym typeface="Maven Pro"/>
              </a:rPr>
              <a:t>format</a:t>
            </a:r>
            <a:r>
              <a:rPr b="1" lang="en-GB" sz="1200">
                <a:solidFill>
                  <a:srgbClr val="073763"/>
                </a:solidFill>
                <a:latin typeface="Maven Pro"/>
                <a:ea typeface="Maven Pro"/>
                <a:cs typeface="Maven Pro"/>
                <a:sym typeface="Maven Pro"/>
              </a:rPr>
              <a:t>:</a:t>
            </a:r>
            <a:endParaRPr b="1" sz="1200">
              <a:solidFill>
                <a:srgbClr val="FF0000"/>
              </a:solidFill>
              <a:latin typeface="Maven Pro"/>
              <a:ea typeface="Maven Pro"/>
              <a:cs typeface="Maven Pro"/>
              <a:sym typeface="Maven Pro"/>
            </a:endParaRPr>
          </a:p>
          <a:p>
            <a:pPr indent="457200" lvl="0" marL="457200" marR="0" rtl="0" algn="just">
              <a:lnSpc>
                <a:spcPct val="115000"/>
              </a:lnSpc>
              <a:spcBef>
                <a:spcPts val="0"/>
              </a:spcBef>
              <a:spcAft>
                <a:spcPts val="0"/>
              </a:spcAft>
              <a:buNone/>
            </a:pPr>
            <a:r>
              <a:rPr lang="en-GB" sz="1100">
                <a:solidFill>
                  <a:schemeClr val="lt1"/>
                </a:solidFill>
                <a:highlight>
                  <a:schemeClr val="dk1"/>
                </a:highlight>
                <a:latin typeface="Courier New"/>
                <a:ea typeface="Courier New"/>
                <a:cs typeface="Courier New"/>
                <a:sym typeface="Courier New"/>
              </a:rPr>
              <a:t>$ docker ps </a:t>
            </a:r>
            <a:r>
              <a:rPr lang="en-GB" sz="1100">
                <a:solidFill>
                  <a:schemeClr val="lt1"/>
                </a:solidFill>
                <a:highlight>
                  <a:schemeClr val="dk1"/>
                </a:highlight>
                <a:latin typeface="Courier New"/>
                <a:ea typeface="Courier New"/>
                <a:cs typeface="Courier New"/>
                <a:sym typeface="Courier New"/>
              </a:rPr>
              <a:t>--</a:t>
            </a:r>
            <a:r>
              <a:rPr lang="en-GB" sz="1100">
                <a:solidFill>
                  <a:schemeClr val="lt1"/>
                </a:solidFill>
                <a:highlight>
                  <a:schemeClr val="dk1"/>
                </a:highlight>
                <a:latin typeface="Courier New"/>
                <a:ea typeface="Courier New"/>
                <a:cs typeface="Courier New"/>
                <a:sym typeface="Courier New"/>
              </a:rPr>
              <a:t>format "{{.ID}} - {{.Names}} - {{.Status}}"</a:t>
            </a:r>
            <a:endParaRPr sz="1100">
              <a:solidFill>
                <a:schemeClr val="lt1"/>
              </a:solidFill>
              <a:highlight>
                <a:schemeClr val="dk1"/>
              </a:highlight>
              <a:latin typeface="Courier New"/>
              <a:ea typeface="Courier New"/>
              <a:cs typeface="Courier New"/>
              <a:sym typeface="Courier New"/>
            </a:endParaRPr>
          </a:p>
          <a:p>
            <a:pPr indent="457200" lvl="0" marL="457200" rtl="0" algn="just">
              <a:lnSpc>
                <a:spcPct val="115000"/>
              </a:lnSpc>
              <a:spcBef>
                <a:spcPts val="0"/>
              </a:spcBef>
              <a:spcAft>
                <a:spcPts val="0"/>
              </a:spcAft>
              <a:buNone/>
            </a:pPr>
            <a:r>
              <a:rPr lang="en-GB" sz="1100">
                <a:solidFill>
                  <a:schemeClr val="lt1"/>
                </a:solidFill>
                <a:highlight>
                  <a:schemeClr val="dk1"/>
                </a:highlight>
                <a:latin typeface="Courier New"/>
                <a:ea typeface="Courier New"/>
                <a:cs typeface="Courier New"/>
                <a:sym typeface="Courier New"/>
              </a:rPr>
              <a:t>$ </a:t>
            </a:r>
            <a:r>
              <a:rPr lang="en-GB" sz="1100">
                <a:solidFill>
                  <a:schemeClr val="lt1"/>
                </a:solidFill>
                <a:highlight>
                  <a:schemeClr val="dk1"/>
                </a:highlight>
                <a:latin typeface="Courier New"/>
                <a:ea typeface="Courier New"/>
                <a:cs typeface="Courier New"/>
                <a:sym typeface="Courier New"/>
              </a:rPr>
              <a:t>docker ps --filter "name=mycontainer"</a:t>
            </a:r>
            <a:endParaRPr sz="1100">
              <a:solidFill>
                <a:schemeClr val="lt1"/>
              </a:solidFill>
              <a:highlight>
                <a:schemeClr val="dk1"/>
              </a:highlight>
              <a:latin typeface="Courier New"/>
              <a:ea typeface="Courier New"/>
              <a:cs typeface="Courier New"/>
              <a:sym typeface="Courier New"/>
            </a:endParaRPr>
          </a:p>
          <a:p>
            <a:pPr indent="457200" lvl="0" marL="457200" rtl="0" algn="just">
              <a:lnSpc>
                <a:spcPct val="115000"/>
              </a:lnSpc>
              <a:spcBef>
                <a:spcPts val="0"/>
              </a:spcBef>
              <a:spcAft>
                <a:spcPts val="0"/>
              </a:spcAft>
              <a:buClr>
                <a:schemeClr val="dk1"/>
              </a:buClr>
              <a:buSzPts val="1100"/>
              <a:buFont typeface="Arial"/>
              <a:buNone/>
            </a:pPr>
            <a:r>
              <a:rPr lang="en-GB" sz="1100">
                <a:solidFill>
                  <a:schemeClr val="lt1"/>
                </a:solidFill>
                <a:highlight>
                  <a:schemeClr val="dk1"/>
                </a:highlight>
                <a:latin typeface="Courier New"/>
                <a:ea typeface="Courier New"/>
                <a:cs typeface="Courier New"/>
                <a:sym typeface="Courier New"/>
              </a:rPr>
              <a:t>$ docker ps --filter "status=running/paused/exited/created"</a:t>
            </a:r>
            <a:endParaRPr sz="1100">
              <a:solidFill>
                <a:schemeClr val="lt1"/>
              </a:solidFill>
              <a:highlight>
                <a:schemeClr val="dk1"/>
              </a:highlight>
              <a:latin typeface="Courier New"/>
              <a:ea typeface="Courier New"/>
              <a:cs typeface="Courier New"/>
              <a:sym typeface="Courier New"/>
            </a:endParaRPr>
          </a:p>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--format vous permet de personnaliser la sortie de docker ps en utilisant un format Go Template. Cela permet d'afficher uniquement les informations spécifiques dont vous avez besoin.</a:t>
            </a:r>
            <a:endParaRPr sz="1100">
              <a:solidFill>
                <a:srgbClr val="00084D"/>
              </a:solidFill>
              <a:latin typeface="Maven Pro"/>
              <a:ea typeface="Maven Pro"/>
              <a:cs typeface="Maven Pro"/>
              <a:sym typeface="Maven Pro"/>
            </a:endParaRPr>
          </a:p>
        </p:txBody>
      </p:sp>
      <p:sp>
        <p:nvSpPr>
          <p:cNvPr id="659" name="Google Shape;659;p68"/>
          <p:cNvSpPr txBox="1"/>
          <p:nvPr/>
        </p:nvSpPr>
        <p:spPr>
          <a:xfrm>
            <a:off x="687900" y="3902125"/>
            <a:ext cx="7768200" cy="761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-q:</a:t>
            </a:r>
            <a:endParaRPr b="1" sz="1200">
              <a:solidFill>
                <a:srgbClr val="FF0000"/>
              </a:solidFill>
              <a:latin typeface="Maven Pro"/>
              <a:ea typeface="Maven Pro"/>
              <a:cs typeface="Maven Pro"/>
              <a:sym typeface="Maven Pro"/>
            </a:endParaRPr>
          </a:p>
          <a:p>
            <a:pPr indent="457200" lvl="0" marL="0" marR="0" rtl="0" algn="just">
              <a:lnSpc>
                <a:spcPct val="115000"/>
              </a:lnSpc>
              <a:spcBef>
                <a:spcPts val="0"/>
              </a:spcBef>
              <a:spcAft>
                <a:spcPts val="0"/>
              </a:spcAft>
              <a:buNone/>
            </a:pPr>
            <a:r>
              <a:rPr lang="en-GB" sz="1100">
                <a:solidFill>
                  <a:schemeClr val="lt1"/>
                </a:solidFill>
                <a:highlight>
                  <a:schemeClr val="dk1"/>
                </a:highlight>
                <a:latin typeface="Courier New"/>
                <a:ea typeface="Courier New"/>
                <a:cs typeface="Courier New"/>
                <a:sym typeface="Courier New"/>
              </a:rPr>
              <a:t>$ docker ps -q </a:t>
            </a:r>
            <a:endParaRPr sz="1100">
              <a:solidFill>
                <a:schemeClr val="lt1"/>
              </a:solidFill>
              <a:highlight>
                <a:schemeClr val="dk1"/>
              </a:highlight>
              <a:latin typeface="Courier New"/>
              <a:ea typeface="Courier New"/>
              <a:cs typeface="Courier New"/>
              <a:sym typeface="Courier New"/>
            </a:endParaRPr>
          </a:p>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Affiche uniquement les ID des conteneurs en cours d'exécution, sans autre information</a:t>
            </a:r>
            <a:endParaRPr sz="1100">
              <a:solidFill>
                <a:srgbClr val="00084D"/>
              </a:solidFill>
              <a:latin typeface="Maven Pro"/>
              <a:ea typeface="Maven Pro"/>
              <a:cs typeface="Maven Pro"/>
              <a:sym typeface="Maven Pro"/>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69"/>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665" name="Google Shape;665;p6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a:t>
            </a:r>
            <a:r>
              <a:rPr b="1" lang="en-GB" sz="2000">
                <a:solidFill>
                  <a:srgbClr val="073763"/>
                </a:solidFill>
                <a:latin typeface="Maven Pro"/>
                <a:ea typeface="Maven Pro"/>
                <a:cs typeface="Maven Pro"/>
                <a:sym typeface="Maven Pro"/>
              </a:rPr>
              <a:t>run</a:t>
            </a:r>
            <a:r>
              <a:rPr b="1" lang="en-GB" sz="2000">
                <a:solidFill>
                  <a:srgbClr val="073763"/>
                </a:solidFill>
                <a:latin typeface="Maven Pro"/>
                <a:ea typeface="Maven Pro"/>
                <a:cs typeface="Maven Pro"/>
                <a:sym typeface="Maven Pro"/>
              </a:rPr>
              <a:t> command</a:t>
            </a:r>
            <a:endParaRPr sz="2000">
              <a:solidFill>
                <a:srgbClr val="073763"/>
              </a:solidFill>
              <a:latin typeface="Maven Pro"/>
              <a:ea typeface="Maven Pro"/>
              <a:cs typeface="Maven Pro"/>
              <a:sym typeface="Maven Pro"/>
            </a:endParaRPr>
          </a:p>
        </p:txBody>
      </p:sp>
      <p:pic>
        <p:nvPicPr>
          <p:cNvPr id="666" name="Google Shape;666;p6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667" name="Google Shape;667;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668" name="Google Shape;668;p69"/>
          <p:cNvSpPr txBox="1"/>
          <p:nvPr/>
        </p:nvSpPr>
        <p:spPr>
          <a:xfrm>
            <a:off x="687900" y="1325975"/>
            <a:ext cx="7768200" cy="1477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0"/>
              </a:spcAft>
              <a:buNone/>
            </a:pPr>
            <a:r>
              <a:rPr lang="en-GB" sz="1500">
                <a:solidFill>
                  <a:schemeClr val="lt1"/>
                </a:solidFill>
                <a:highlight>
                  <a:schemeClr val="dk1"/>
                </a:highlight>
                <a:latin typeface="Courier New"/>
                <a:ea typeface="Courier New"/>
                <a:cs typeface="Courier New"/>
                <a:sym typeface="Courier New"/>
              </a:rPr>
              <a:t>$ docker run [OPTIONS] IMAGE [COMMAND] [ARG………] </a:t>
            </a:r>
            <a:endParaRPr sz="1500">
              <a:solidFill>
                <a:schemeClr val="lt1"/>
              </a:solidFill>
              <a:highlight>
                <a:schemeClr val="dk1"/>
              </a:highlight>
              <a:latin typeface="Courier New"/>
              <a:ea typeface="Courier New"/>
              <a:cs typeface="Courier New"/>
              <a:sym typeface="Courier New"/>
            </a:endParaRPr>
          </a:p>
          <a:p>
            <a:pPr indent="0" lvl="0" marL="0" marR="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Elle permet de </a:t>
            </a:r>
            <a:r>
              <a:rPr lang="en-GB" sz="1100">
                <a:solidFill>
                  <a:srgbClr val="00084D"/>
                </a:solidFill>
                <a:latin typeface="Maven Pro SemiBold"/>
                <a:ea typeface="Maven Pro SemiBold"/>
                <a:cs typeface="Maven Pro SemiBold"/>
                <a:sym typeface="Maven Pro SemiBold"/>
              </a:rPr>
              <a:t>créer</a:t>
            </a:r>
            <a:r>
              <a:rPr lang="en-GB" sz="1100">
                <a:solidFill>
                  <a:srgbClr val="00084D"/>
                </a:solidFill>
                <a:latin typeface="Maven Pro"/>
                <a:ea typeface="Maven Pro"/>
                <a:cs typeface="Maven Pro"/>
                <a:sym typeface="Maven Pro"/>
              </a:rPr>
              <a:t> un conteneur à partir d'une image et de le </a:t>
            </a:r>
            <a:r>
              <a:rPr lang="en-GB" sz="1100">
                <a:solidFill>
                  <a:srgbClr val="00084D"/>
                </a:solidFill>
                <a:latin typeface="Maven Pro SemiBold"/>
                <a:ea typeface="Maven Pro SemiBold"/>
                <a:cs typeface="Maven Pro SemiBold"/>
                <a:sym typeface="Maven Pro SemiBold"/>
              </a:rPr>
              <a:t>démarrer</a:t>
            </a:r>
            <a:r>
              <a:rPr lang="en-GB" sz="1100">
                <a:solidFill>
                  <a:srgbClr val="00084D"/>
                </a:solidFill>
                <a:latin typeface="Maven Pro"/>
                <a:ea typeface="Maven Pro"/>
                <a:cs typeface="Maven Pro"/>
                <a:sym typeface="Maven Pro"/>
              </a:rPr>
              <a:t> en une seule commande. Lorsqu'on utilise docker run, Docker effectue plusieurs étapes en coulisses, telles que la création d'un conteneur, l'attribution d'un identifiant unique à ce conteneur, et la configuration des options spécifiées.</a:t>
            </a:r>
            <a:endParaRPr sz="1100">
              <a:solidFill>
                <a:srgbClr val="00084D"/>
              </a:solidFill>
              <a:latin typeface="Maven Pro"/>
              <a:ea typeface="Maven Pro"/>
              <a:cs typeface="Maven Pro"/>
              <a:sym typeface="Maven Pro"/>
            </a:endParaRPr>
          </a:p>
        </p:txBody>
      </p:sp>
      <p:sp>
        <p:nvSpPr>
          <p:cNvPr id="669" name="Google Shape;669;p69"/>
          <p:cNvSpPr/>
          <p:nvPr/>
        </p:nvSpPr>
        <p:spPr>
          <a:xfrm>
            <a:off x="677400" y="2803775"/>
            <a:ext cx="7789200" cy="20718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rgbClr val="00FF00"/>
              </a:solidFill>
              <a:latin typeface="Courier New"/>
              <a:ea typeface="Courier New"/>
              <a:cs typeface="Courier New"/>
              <a:sym typeface="Courier New"/>
            </a:endParaRPr>
          </a:p>
          <a:p>
            <a:pPr indent="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run httpd</a:t>
            </a:r>
            <a:endParaRPr sz="10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sz="10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GB" sz="1000">
                <a:solidFill>
                  <a:schemeClr val="lt1"/>
                </a:solidFill>
                <a:latin typeface="Courier New"/>
                <a:ea typeface="Courier New"/>
                <a:cs typeface="Courier New"/>
                <a:sym typeface="Courier New"/>
              </a:rPr>
              <a:t>Unable to find image 'httpd:latest' locally</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GB" sz="1000">
                <a:solidFill>
                  <a:schemeClr val="lt1"/>
                </a:solidFill>
                <a:latin typeface="Courier New"/>
                <a:ea typeface="Courier New"/>
                <a:cs typeface="Courier New"/>
                <a:sym typeface="Courier New"/>
              </a:rPr>
              <a:t>latest: Pulling from library/httpd</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GB" sz="1000">
                <a:solidFill>
                  <a:schemeClr val="lt1"/>
                </a:solidFill>
                <a:latin typeface="Courier New"/>
                <a:ea typeface="Courier New"/>
                <a:cs typeface="Courier New"/>
                <a:sym typeface="Courier New"/>
              </a:rPr>
              <a:t>bc0965b23a04: Pull complete </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None/>
            </a:pPr>
            <a:r>
              <a:rPr b="1" lang="en-GB" sz="1000">
                <a:solidFill>
                  <a:schemeClr val="lt1"/>
                </a:solidFill>
                <a:latin typeface="Courier New"/>
                <a:ea typeface="Courier New"/>
                <a:cs typeface="Courier New"/>
                <a:sym typeface="Courier New"/>
              </a:rPr>
              <a:t>d7ad38c6dd97: Pull complete </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None/>
            </a:pPr>
            <a:r>
              <a:rPr b="1" lang="en-GB" sz="1000">
                <a:solidFill>
                  <a:schemeClr val="lt1"/>
                </a:solidFill>
                <a:latin typeface="Courier New"/>
                <a:ea typeface="Courier New"/>
                <a:cs typeface="Courier New"/>
                <a:sym typeface="Courier New"/>
              </a:rPr>
              <a:t>4f4fb700ef54: Pull complete </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GB" sz="1000">
                <a:solidFill>
                  <a:schemeClr val="lt1"/>
                </a:solidFill>
                <a:latin typeface="Courier New"/>
                <a:ea typeface="Courier New"/>
                <a:cs typeface="Courier New"/>
                <a:sym typeface="Courier New"/>
              </a:rPr>
              <a:t>79b49624e34b: Pull complete </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GB" sz="1000">
                <a:solidFill>
                  <a:schemeClr val="lt1"/>
                </a:solidFill>
                <a:latin typeface="Courier New"/>
                <a:ea typeface="Courier New"/>
                <a:cs typeface="Courier New"/>
                <a:sym typeface="Courier New"/>
              </a:rPr>
              <a:t>Digest: sha256:f4c5139eda466e45814122d9bd8b886d8ef6877296126c09b76dbad72b03c336</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GB" sz="1000">
                <a:solidFill>
                  <a:schemeClr val="lt1"/>
                </a:solidFill>
                <a:latin typeface="Courier New"/>
                <a:ea typeface="Courier New"/>
                <a:cs typeface="Courier New"/>
                <a:sym typeface="Courier New"/>
              </a:rPr>
              <a:t>Status: Downloaded newer image for httpd:latest</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GB" sz="1000">
                <a:solidFill>
                  <a:schemeClr val="lt1"/>
                </a:solidFill>
                <a:latin typeface="Courier New"/>
                <a:ea typeface="Courier New"/>
                <a:cs typeface="Courier New"/>
                <a:sym typeface="Courier New"/>
              </a:rPr>
              <a:t>[Fri Dec 06 21:41:38.145115 2024] [core:notice] [pid 1:tid 1] AH00094: Command line: 'httpd -D FOREGROUND'</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lt1"/>
              </a:solidFill>
              <a:latin typeface="Courier New"/>
              <a:ea typeface="Courier New"/>
              <a:cs typeface="Courier New"/>
              <a:sym typeface="Courier New"/>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70"/>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675" name="Google Shape;675;p7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run command - Options</a:t>
            </a:r>
            <a:endParaRPr sz="2000">
              <a:solidFill>
                <a:srgbClr val="073763"/>
              </a:solidFill>
              <a:latin typeface="Maven Pro"/>
              <a:ea typeface="Maven Pro"/>
              <a:cs typeface="Maven Pro"/>
              <a:sym typeface="Maven Pro"/>
            </a:endParaRPr>
          </a:p>
        </p:txBody>
      </p:sp>
      <p:pic>
        <p:nvPicPr>
          <p:cNvPr id="676" name="Google Shape;676;p7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677" name="Google Shape;677;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678" name="Google Shape;678;p70"/>
          <p:cNvSpPr txBox="1"/>
          <p:nvPr/>
        </p:nvSpPr>
        <p:spPr>
          <a:xfrm>
            <a:off x="687900" y="1173575"/>
            <a:ext cx="7768200" cy="1539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-d </a:t>
            </a:r>
            <a:r>
              <a:rPr b="1" lang="en-GB" sz="1200">
                <a:solidFill>
                  <a:srgbClr val="073763"/>
                </a:solidFill>
                <a:latin typeface="Maven Pro"/>
                <a:ea typeface="Maven Pro"/>
                <a:cs typeface="Maven Pro"/>
                <a:sym typeface="Maven Pro"/>
              </a:rPr>
              <a:t>--detach</a:t>
            </a:r>
            <a:r>
              <a:rPr b="1" lang="en-GB" sz="1200">
                <a:solidFill>
                  <a:srgbClr val="073763"/>
                </a:solidFill>
                <a:latin typeface="Maven Pro"/>
                <a:ea typeface="Maven Pro"/>
                <a:cs typeface="Maven Pro"/>
                <a:sym typeface="Maven Pro"/>
              </a:rPr>
              <a:t>:</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Lancer le conteneur en arrière-plan (mode détaché), permettant au processus principal du conteneur de s'exécuter en parallèle sans bloquer le terminal de l'utilisateur.</a:t>
            </a:r>
            <a:endParaRPr sz="1100">
              <a:solidFill>
                <a:srgbClr val="00084D"/>
              </a:solidFill>
              <a:latin typeface="Maven Pro"/>
              <a:ea typeface="Maven Pro"/>
              <a:cs typeface="Maven Pro"/>
              <a:sym typeface="Maven Pro"/>
            </a:endParaRPr>
          </a:p>
          <a:p>
            <a:pPr indent="-298450" lvl="0" marL="91440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Cela permet à Docker de créer un processus indépendant du terminal utilisateur. Le conteneur fonctionne ainsi comme un processus en arrière-plan, ce qui est une bonne pratique pour les applications qui doivent tourner de manière continue (comme les serveurs web ou les bases de données).</a:t>
            </a:r>
            <a:endParaRPr sz="1100">
              <a:solidFill>
                <a:srgbClr val="00084D"/>
              </a:solidFill>
              <a:latin typeface="Maven Pro"/>
              <a:ea typeface="Maven Pro"/>
              <a:cs typeface="Maven Pro"/>
              <a:sym typeface="Maven Pro"/>
            </a:endParaRPr>
          </a:p>
        </p:txBody>
      </p:sp>
      <p:sp>
        <p:nvSpPr>
          <p:cNvPr id="679" name="Google Shape;679;p70"/>
          <p:cNvSpPr txBox="1"/>
          <p:nvPr/>
        </p:nvSpPr>
        <p:spPr>
          <a:xfrm>
            <a:off x="687900" y="2921695"/>
            <a:ext cx="7768200" cy="1499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--name</a:t>
            </a:r>
            <a:r>
              <a:rPr b="1" lang="en-GB" sz="1200">
                <a:solidFill>
                  <a:srgbClr val="073763"/>
                </a:solidFill>
                <a:latin typeface="Maven Pro"/>
                <a:ea typeface="Maven Pro"/>
                <a:cs typeface="Maven Pro"/>
                <a:sym typeface="Maven Pro"/>
              </a:rPr>
              <a:t>:</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Cette option permet de donner un nom explicite au conteneur. Par défaut, Docker attribue un nom aléatoire, mais cette option permet de faciliter la gestion des conteneurs.</a:t>
            </a:r>
            <a:endParaRPr sz="1100">
              <a:solidFill>
                <a:srgbClr val="00084D"/>
              </a:solidFill>
              <a:latin typeface="Maven Pro"/>
              <a:ea typeface="Maven Pro"/>
              <a:cs typeface="Maven Pro"/>
              <a:sym typeface="Maven Pro"/>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Le nom du conteneur est une référence dans la base de données de Docker, permettant à l'utilisateur de manipuler des conteneurs de manière plus explicite sans avoir à se souvenir de l'ID unique du conteneur (un long identifiant alphanumérique).</a:t>
            </a:r>
            <a:endParaRPr sz="1100">
              <a:solidFill>
                <a:srgbClr val="00084D"/>
              </a:solidFill>
              <a:latin typeface="Maven Pro"/>
              <a:ea typeface="Maven Pro"/>
              <a:cs typeface="Maven Pro"/>
              <a:sym typeface="Maven Pro"/>
            </a:endParaRPr>
          </a:p>
        </p:txBody>
      </p:sp>
      <p:sp>
        <p:nvSpPr>
          <p:cNvPr id="680" name="Google Shape;680;p70"/>
          <p:cNvSpPr/>
          <p:nvPr/>
        </p:nvSpPr>
        <p:spPr>
          <a:xfrm rot="794">
            <a:off x="2624705" y="2546610"/>
            <a:ext cx="38946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run -d httpd</a:t>
            </a:r>
            <a:endParaRPr sz="1000">
              <a:solidFill>
                <a:schemeClr val="lt1"/>
              </a:solidFill>
              <a:latin typeface="Courier New"/>
              <a:ea typeface="Courier New"/>
              <a:cs typeface="Courier New"/>
              <a:sym typeface="Courier New"/>
            </a:endParaRPr>
          </a:p>
        </p:txBody>
      </p:sp>
      <p:sp>
        <p:nvSpPr>
          <p:cNvPr id="681" name="Google Shape;681;p70"/>
          <p:cNvSpPr/>
          <p:nvPr/>
        </p:nvSpPr>
        <p:spPr>
          <a:xfrm>
            <a:off x="2624700" y="4476625"/>
            <a:ext cx="38946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run -d --name my_nginx httpd</a:t>
            </a:r>
            <a:endParaRPr sz="1000">
              <a:solidFill>
                <a:schemeClr val="lt1"/>
              </a:solidFill>
              <a:latin typeface="Courier New"/>
              <a:ea typeface="Courier New"/>
              <a:cs typeface="Courier New"/>
              <a:sym typeface="Courier New"/>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71"/>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687" name="Google Shape;687;p7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run command - Options</a:t>
            </a:r>
            <a:endParaRPr sz="2000">
              <a:solidFill>
                <a:srgbClr val="073763"/>
              </a:solidFill>
              <a:latin typeface="Maven Pro"/>
              <a:ea typeface="Maven Pro"/>
              <a:cs typeface="Maven Pro"/>
              <a:sym typeface="Maven Pro"/>
            </a:endParaRPr>
          </a:p>
        </p:txBody>
      </p:sp>
      <p:pic>
        <p:nvPicPr>
          <p:cNvPr id="688" name="Google Shape;688;p7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689" name="Google Shape;689;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690" name="Google Shape;690;p71"/>
          <p:cNvSpPr txBox="1"/>
          <p:nvPr/>
        </p:nvSpPr>
        <p:spPr>
          <a:xfrm>
            <a:off x="687900" y="1173575"/>
            <a:ext cx="7768200" cy="13452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--rm</a:t>
            </a:r>
            <a:r>
              <a:rPr b="1" lang="en-GB" sz="1200">
                <a:solidFill>
                  <a:srgbClr val="073763"/>
                </a:solidFill>
                <a:latin typeface="Maven Pro"/>
                <a:ea typeface="Maven Pro"/>
                <a:cs typeface="Maven Pro"/>
                <a:sym typeface="Maven Pro"/>
              </a:rPr>
              <a:t>:</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Lorsque vous utilisez l'option --rm, Docker supprime automatiquement le conteneur après son arrêt. Cela est utile pour les conteneurs temporaires, comme ceux utilisés dans des tests.</a:t>
            </a:r>
            <a:endParaRPr sz="1100">
              <a:solidFill>
                <a:srgbClr val="00084D"/>
              </a:solidFill>
              <a:latin typeface="Maven Pro"/>
              <a:ea typeface="Maven Pro"/>
              <a:cs typeface="Maven Pro"/>
              <a:sym typeface="Maven Pro"/>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Cela repose sur le modèle de gestion des processus de Docker, où chaque conteneur est vu comme une instance éphémère d'un processus. La suppression automatique à l'arrêt est une manière de ne pas encombrer le système avec des conteneurs inutiles, respectant le modèle stateless (sans état) de Docker.</a:t>
            </a:r>
            <a:endParaRPr sz="1100">
              <a:solidFill>
                <a:srgbClr val="00084D"/>
              </a:solidFill>
              <a:latin typeface="Maven Pro"/>
              <a:ea typeface="Maven Pro"/>
              <a:cs typeface="Maven Pro"/>
              <a:sym typeface="Maven Pro"/>
            </a:endParaRPr>
          </a:p>
        </p:txBody>
      </p:sp>
      <p:sp>
        <p:nvSpPr>
          <p:cNvPr id="691" name="Google Shape;691;p71"/>
          <p:cNvSpPr txBox="1"/>
          <p:nvPr/>
        </p:nvSpPr>
        <p:spPr>
          <a:xfrm>
            <a:off x="687900" y="2921695"/>
            <a:ext cx="7768200" cy="13044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-it:</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Ouvrir un terminal interactif dans le conteneur.</a:t>
            </a:r>
            <a:endParaRPr sz="1100">
              <a:solidFill>
                <a:srgbClr val="00084D"/>
              </a:solidFill>
              <a:latin typeface="Maven Pro"/>
              <a:ea typeface="Maven Pro"/>
              <a:cs typeface="Maven Pro"/>
              <a:sym typeface="Maven Pro"/>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Cette combinaison de l'option -i (interaction) et -t (terminal) permet de lancer un conteneur en mode interactif avec un terminal alloué. Cela est très utile lorsque vous voulez exécuter des commandes à l'intérieur du conteneur, comme lors d'un débogage ou d'une configuration manuelle.</a:t>
            </a:r>
            <a:endParaRPr sz="1100">
              <a:solidFill>
                <a:srgbClr val="00084D"/>
              </a:solidFill>
              <a:latin typeface="Maven Pro"/>
              <a:ea typeface="Maven Pro"/>
              <a:cs typeface="Maven Pro"/>
              <a:sym typeface="Maven Pro"/>
            </a:endParaRPr>
          </a:p>
        </p:txBody>
      </p:sp>
      <p:sp>
        <p:nvSpPr>
          <p:cNvPr id="692" name="Google Shape;692;p71"/>
          <p:cNvSpPr/>
          <p:nvPr/>
        </p:nvSpPr>
        <p:spPr>
          <a:xfrm rot="794">
            <a:off x="2624705" y="2479635"/>
            <a:ext cx="38946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run </a:t>
            </a:r>
            <a:r>
              <a:rPr lang="en-GB" sz="1000">
                <a:solidFill>
                  <a:schemeClr val="lt1"/>
                </a:solidFill>
                <a:latin typeface="Courier New"/>
                <a:ea typeface="Courier New"/>
                <a:cs typeface="Courier New"/>
                <a:sym typeface="Courier New"/>
              </a:rPr>
              <a:t>--rm </a:t>
            </a:r>
            <a:r>
              <a:rPr lang="en-GB" sz="1000">
                <a:solidFill>
                  <a:schemeClr val="lt1"/>
                </a:solidFill>
                <a:latin typeface="Courier New"/>
                <a:ea typeface="Courier New"/>
                <a:cs typeface="Courier New"/>
                <a:sym typeface="Courier New"/>
              </a:rPr>
              <a:t>-d httpd</a:t>
            </a:r>
            <a:endParaRPr sz="1000">
              <a:solidFill>
                <a:schemeClr val="lt1"/>
              </a:solidFill>
              <a:latin typeface="Courier New"/>
              <a:ea typeface="Courier New"/>
              <a:cs typeface="Courier New"/>
              <a:sym typeface="Courier New"/>
            </a:endParaRPr>
          </a:p>
        </p:txBody>
      </p:sp>
      <p:sp>
        <p:nvSpPr>
          <p:cNvPr id="693" name="Google Shape;693;p71"/>
          <p:cNvSpPr/>
          <p:nvPr/>
        </p:nvSpPr>
        <p:spPr>
          <a:xfrm rot="794">
            <a:off x="2624705" y="4226560"/>
            <a:ext cx="38946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run -it </a:t>
            </a:r>
            <a:r>
              <a:rPr lang="en-GB" sz="1000">
                <a:solidFill>
                  <a:schemeClr val="lt1"/>
                </a:solidFill>
                <a:latin typeface="Courier New"/>
                <a:ea typeface="Courier New"/>
                <a:cs typeface="Courier New"/>
                <a:sym typeface="Courier New"/>
              </a:rPr>
              <a:t>ubuntu</a:t>
            </a:r>
            <a:r>
              <a:rPr lang="en-GB" sz="1000">
                <a:solidFill>
                  <a:schemeClr val="lt1"/>
                </a:solidFill>
                <a:latin typeface="Courier New"/>
                <a:ea typeface="Courier New"/>
                <a:cs typeface="Courier New"/>
                <a:sym typeface="Courier New"/>
              </a:rPr>
              <a:t> bash</a:t>
            </a:r>
            <a:endParaRPr sz="1000">
              <a:solidFill>
                <a:schemeClr val="lt1"/>
              </a:solidFill>
              <a:latin typeface="Courier New"/>
              <a:ea typeface="Courier New"/>
              <a:cs typeface="Courier New"/>
              <a:sym typeface="Courier New"/>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72"/>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699" name="Google Shape;699;p7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run command - Options</a:t>
            </a:r>
            <a:endParaRPr sz="2000">
              <a:solidFill>
                <a:srgbClr val="073763"/>
              </a:solidFill>
              <a:latin typeface="Maven Pro"/>
              <a:ea typeface="Maven Pro"/>
              <a:cs typeface="Maven Pro"/>
              <a:sym typeface="Maven Pro"/>
            </a:endParaRPr>
          </a:p>
        </p:txBody>
      </p:sp>
      <p:pic>
        <p:nvPicPr>
          <p:cNvPr id="700" name="Google Shape;700;p7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701" name="Google Shape;701;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702" name="Google Shape;702;p72"/>
          <p:cNvSpPr txBox="1"/>
          <p:nvPr/>
        </p:nvSpPr>
        <p:spPr>
          <a:xfrm>
            <a:off x="687900" y="1173575"/>
            <a:ext cx="7768200" cy="1539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-p:</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Le mappage des ports avec l'option -p permet de lier un port du conteneur à un port du système hôte. Par exemple, si vous avez une application qui écoute sur le port 80 à l'intérieur du conteneur, vous pouvez l'exposer sur un port différent de l'hôte.</a:t>
            </a:r>
            <a:endParaRPr sz="1100">
              <a:solidFill>
                <a:srgbClr val="00084D"/>
              </a:solidFill>
              <a:latin typeface="Maven Pro"/>
              <a:ea typeface="Maven Pro"/>
              <a:cs typeface="Maven Pro"/>
              <a:sym typeface="Maven Pro"/>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Cela implique un mécanisme de routage de paquets entre le conteneur et l'hôte. Le noyau Linux crée une table de mappage de ports, dirigeant les requêtes reçues sur le port hôte vers le port du conteneur. Ce mécanisme repose sur les iptables, qui assurent la gestion du réseau sous Linux.</a:t>
            </a:r>
            <a:endParaRPr sz="1100">
              <a:solidFill>
                <a:srgbClr val="00084D"/>
              </a:solidFill>
              <a:latin typeface="Maven Pro"/>
              <a:ea typeface="Maven Pro"/>
              <a:cs typeface="Maven Pro"/>
              <a:sym typeface="Maven Pro"/>
            </a:endParaRPr>
          </a:p>
        </p:txBody>
      </p:sp>
      <p:sp>
        <p:nvSpPr>
          <p:cNvPr id="703" name="Google Shape;703;p72"/>
          <p:cNvSpPr txBox="1"/>
          <p:nvPr/>
        </p:nvSpPr>
        <p:spPr>
          <a:xfrm>
            <a:off x="687900" y="3074095"/>
            <a:ext cx="7768200" cy="1539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-v:</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L'option -v permet de monter des volumes, qui sont des espaces de stockage persistants partagés entre l'hôte et les conteneurs. Cela permet de conserver les données même après que le conteneur soit supprimé.</a:t>
            </a:r>
            <a:endParaRPr sz="1100">
              <a:solidFill>
                <a:srgbClr val="00084D"/>
              </a:solidFill>
              <a:latin typeface="Maven Pro"/>
              <a:ea typeface="Maven Pro"/>
              <a:cs typeface="Maven Pro"/>
              <a:sym typeface="Maven Pro"/>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Les volumes Docker sont gérés par le système de fichiers du noyau hôte. Lorsque vous montez un volume, vous liez le système de fichiers d'un conteneur à un répertoire sur l'hôte, ce qui permet de préserver des données indépendamment du cycle de vie du conteneur.</a:t>
            </a:r>
            <a:endParaRPr sz="1100">
              <a:solidFill>
                <a:srgbClr val="00084D"/>
              </a:solidFill>
              <a:latin typeface="Maven Pro"/>
              <a:ea typeface="Maven Pro"/>
              <a:cs typeface="Maven Pro"/>
              <a:sym typeface="Maven Pro"/>
            </a:endParaRPr>
          </a:p>
        </p:txBody>
      </p:sp>
      <p:sp>
        <p:nvSpPr>
          <p:cNvPr id="704" name="Google Shape;704;p72"/>
          <p:cNvSpPr/>
          <p:nvPr/>
        </p:nvSpPr>
        <p:spPr>
          <a:xfrm rot="794">
            <a:off x="2624705" y="2653785"/>
            <a:ext cx="3894600" cy="5358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run -d -p 8080:80 --name my_nginx httpd</a:t>
            </a:r>
            <a:endParaRPr sz="1000">
              <a:solidFill>
                <a:schemeClr val="lt1"/>
              </a:solidFill>
              <a:latin typeface="Courier New"/>
              <a:ea typeface="Courier New"/>
              <a:cs typeface="Courier New"/>
              <a:sym typeface="Courier New"/>
            </a:endParaRPr>
          </a:p>
        </p:txBody>
      </p:sp>
      <p:sp>
        <p:nvSpPr>
          <p:cNvPr id="705" name="Google Shape;705;p72"/>
          <p:cNvSpPr/>
          <p:nvPr/>
        </p:nvSpPr>
        <p:spPr>
          <a:xfrm rot="571">
            <a:off x="1864200" y="4520570"/>
            <a:ext cx="5415600" cy="5358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run -d -v /home/user/data:/data --name my_nginx httpd</a:t>
            </a:r>
            <a:endParaRPr sz="1000">
              <a:solidFill>
                <a:schemeClr val="lt1"/>
              </a:solidFill>
              <a:latin typeface="Courier New"/>
              <a:ea typeface="Courier New"/>
              <a:cs typeface="Courier New"/>
              <a:sym typeface="Courier New"/>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73"/>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711" name="Google Shape;711;p7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run command - Options</a:t>
            </a:r>
            <a:endParaRPr sz="2000">
              <a:solidFill>
                <a:srgbClr val="073763"/>
              </a:solidFill>
              <a:latin typeface="Maven Pro"/>
              <a:ea typeface="Maven Pro"/>
              <a:cs typeface="Maven Pro"/>
              <a:sym typeface="Maven Pro"/>
            </a:endParaRPr>
          </a:p>
        </p:txBody>
      </p:sp>
      <p:pic>
        <p:nvPicPr>
          <p:cNvPr id="712" name="Google Shape;712;p7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713" name="Google Shape;713;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714" name="Google Shape;714;p73"/>
          <p:cNvSpPr txBox="1"/>
          <p:nvPr/>
        </p:nvSpPr>
        <p:spPr>
          <a:xfrm>
            <a:off x="687900" y="1325975"/>
            <a:ext cx="7768200" cy="1539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-e:</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Cette option permet de définir des variables d'environnement dans le conteneur, utiles pour configurer les paramètres d'une application.</a:t>
            </a:r>
            <a:endParaRPr sz="1100">
              <a:solidFill>
                <a:srgbClr val="00084D"/>
              </a:solidFill>
              <a:latin typeface="Maven Pro"/>
              <a:ea typeface="Maven Pro"/>
              <a:cs typeface="Maven Pro"/>
              <a:sym typeface="Maven Pro"/>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Les variables d'environnement sont des valeurs key-value qui sont injectées dans l'environnement d'exécution du conteneur. Elles permettent de configurer les applications sans avoir à modifier les fichiers de configuration à l'intérieur du conteneur. Ces variables peuvent être utilisées pour spécifier des paramètres comme des clés API, des configurations de base de données, etc.</a:t>
            </a:r>
            <a:endParaRPr sz="1100">
              <a:solidFill>
                <a:srgbClr val="00084D"/>
              </a:solidFill>
              <a:latin typeface="Maven Pro"/>
              <a:ea typeface="Maven Pro"/>
              <a:cs typeface="Maven Pro"/>
              <a:sym typeface="Maven Pro"/>
            </a:endParaRPr>
          </a:p>
        </p:txBody>
      </p:sp>
      <p:sp>
        <p:nvSpPr>
          <p:cNvPr id="715" name="Google Shape;715;p73"/>
          <p:cNvSpPr/>
          <p:nvPr/>
        </p:nvSpPr>
        <p:spPr>
          <a:xfrm rot="690">
            <a:off x="2329649" y="2993575"/>
            <a:ext cx="4484700" cy="5358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run -d -e ENV_VAR=value --name my_nginx httpd</a:t>
            </a:r>
            <a:endParaRPr sz="1000">
              <a:solidFill>
                <a:schemeClr val="lt1"/>
              </a:solidFill>
              <a:latin typeface="Courier New"/>
              <a:ea typeface="Courier New"/>
              <a:cs typeface="Courier New"/>
              <a:sym typeface="Courier New"/>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74"/>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721" name="Google Shape;721;p7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stop command</a:t>
            </a:r>
            <a:endParaRPr sz="2000">
              <a:solidFill>
                <a:srgbClr val="073763"/>
              </a:solidFill>
              <a:latin typeface="Maven Pro"/>
              <a:ea typeface="Maven Pro"/>
              <a:cs typeface="Maven Pro"/>
              <a:sym typeface="Maven Pro"/>
            </a:endParaRPr>
          </a:p>
        </p:txBody>
      </p:sp>
      <p:pic>
        <p:nvPicPr>
          <p:cNvPr id="722" name="Google Shape;722;p7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723" name="Google Shape;723;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724" name="Google Shape;724;p74"/>
          <p:cNvSpPr txBox="1"/>
          <p:nvPr/>
        </p:nvSpPr>
        <p:spPr>
          <a:xfrm>
            <a:off x="687900" y="1630775"/>
            <a:ext cx="7768200" cy="354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docker stop est utilisée pour arrêter un ou plusieurs conteneurs en cours d'exécution.</a:t>
            </a:r>
            <a:endParaRPr sz="1100">
              <a:solidFill>
                <a:srgbClr val="00084D"/>
              </a:solidFill>
              <a:latin typeface="Maven Pro"/>
              <a:ea typeface="Maven Pro"/>
              <a:cs typeface="Maven Pro"/>
              <a:sym typeface="Maven Pro"/>
            </a:endParaRPr>
          </a:p>
        </p:txBody>
      </p:sp>
      <p:sp>
        <p:nvSpPr>
          <p:cNvPr id="725" name="Google Shape;725;p74"/>
          <p:cNvSpPr txBox="1"/>
          <p:nvPr/>
        </p:nvSpPr>
        <p:spPr>
          <a:xfrm>
            <a:off x="687900" y="2201438"/>
            <a:ext cx="7768200" cy="1455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a:ea typeface="Maven Pro"/>
                <a:cs typeface="Maven Pro"/>
                <a:sym typeface="Maven Pro"/>
              </a:rPr>
              <a:t>Un conteneur Docker est un processus isolé qui s'exécute sur le système hôte, mais dans un espace d'exécution isolé. Lorsque vous exécutez un conteneur, il fonctionne comme un processus utilisateur sur l'hôte, ce qui signifie qu'il peut être arrêté de manière similaire à tout autre processus sur le système.</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Lorsque vous arrêtez un conteneur avec docker stop, Docker envoie un signal SIGTERM au processus principal du conteneur. Ce signal demande au conteneur de se fermer proprement. Si le conteneur ne répond pas dans un délai imparti (défini par -t), Docker envoie un signal SIGKILL pour forcer l'arrêt du conteneur.</a:t>
            </a:r>
            <a:endParaRPr sz="1100">
              <a:solidFill>
                <a:srgbClr val="00084D"/>
              </a:solidFill>
              <a:latin typeface="Maven Pro"/>
              <a:ea typeface="Maven Pro"/>
              <a:cs typeface="Maven Pro"/>
              <a:sym typeface="Maven Pro"/>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75"/>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731" name="Google Shape;731;p7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stop command</a:t>
            </a:r>
            <a:endParaRPr sz="2000">
              <a:solidFill>
                <a:srgbClr val="073763"/>
              </a:solidFill>
              <a:latin typeface="Maven Pro"/>
              <a:ea typeface="Maven Pro"/>
              <a:cs typeface="Maven Pro"/>
              <a:sym typeface="Maven Pro"/>
            </a:endParaRPr>
          </a:p>
        </p:txBody>
      </p:sp>
      <p:pic>
        <p:nvPicPr>
          <p:cNvPr id="732" name="Google Shape;732;p7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733" name="Google Shape;733;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734" name="Google Shape;734;p75"/>
          <p:cNvSpPr txBox="1"/>
          <p:nvPr/>
        </p:nvSpPr>
        <p:spPr>
          <a:xfrm>
            <a:off x="687900" y="1494788"/>
            <a:ext cx="7768200" cy="548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L'arrêt propre permet au conteneur de libérer les ressources et de s'arrêter sans corrompre son état. Si un conteneur exécute des processus longs ou des transactions, les stopper proprement permet de prévenir des pertes de données.</a:t>
            </a:r>
            <a:endParaRPr sz="1100">
              <a:solidFill>
                <a:srgbClr val="00084D"/>
              </a:solidFill>
              <a:latin typeface="Maven Pro"/>
              <a:ea typeface="Maven Pro"/>
              <a:cs typeface="Maven Pro"/>
              <a:sym typeface="Maven Pro"/>
            </a:endParaRPr>
          </a:p>
        </p:txBody>
      </p:sp>
      <p:sp>
        <p:nvSpPr>
          <p:cNvPr id="735" name="Google Shape;735;p75"/>
          <p:cNvSpPr txBox="1"/>
          <p:nvPr/>
        </p:nvSpPr>
        <p:spPr>
          <a:xfrm>
            <a:off x="687900" y="2329755"/>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stop [OPTIONS] CONTAINER [CONTAINER………]</a:t>
            </a:r>
            <a:endParaRPr sz="1100">
              <a:solidFill>
                <a:srgbClr val="00084D"/>
              </a:solidFill>
              <a:latin typeface="Maven Pro"/>
              <a:ea typeface="Maven Pro"/>
              <a:cs typeface="Maven Pro"/>
              <a:sym typeface="Maven Pro"/>
            </a:endParaRPr>
          </a:p>
        </p:txBody>
      </p:sp>
      <p:sp>
        <p:nvSpPr>
          <p:cNvPr id="736" name="Google Shape;736;p75"/>
          <p:cNvSpPr/>
          <p:nvPr/>
        </p:nvSpPr>
        <p:spPr>
          <a:xfrm>
            <a:off x="677400" y="3656700"/>
            <a:ext cx="7789200" cy="5223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rgbClr val="00FF00"/>
              </a:solidFill>
              <a:latin typeface="Courier New"/>
              <a:ea typeface="Courier New"/>
              <a:cs typeface="Courier New"/>
              <a:sym typeface="Courier New"/>
            </a:endParaRPr>
          </a:p>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stop container1 container2</a:t>
            </a:r>
            <a:endParaRPr b="1" sz="1000">
              <a:solidFill>
                <a:schemeClr val="lt1"/>
              </a:solidFill>
              <a:latin typeface="Courier New"/>
              <a:ea typeface="Courier New"/>
              <a:cs typeface="Courier New"/>
              <a:sym typeface="Courier New"/>
            </a:endParaRPr>
          </a:p>
          <a:p>
            <a:pPr indent="0" lvl="0" marL="0" rtl="0" algn="l">
              <a:spcBef>
                <a:spcPts val="0"/>
              </a:spcBef>
              <a:spcAft>
                <a:spcPts val="0"/>
              </a:spcAft>
              <a:buNone/>
            </a:pPr>
            <a:r>
              <a:t/>
            </a:r>
            <a:endParaRPr b="1" sz="1000">
              <a:solidFill>
                <a:schemeClr val="lt1"/>
              </a:solidFill>
              <a:latin typeface="Courier New"/>
              <a:ea typeface="Courier New"/>
              <a:cs typeface="Courier New"/>
              <a:sym typeface="Courier New"/>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76"/>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742" name="Google Shape;742;p7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stop command - Options</a:t>
            </a:r>
            <a:endParaRPr sz="2000">
              <a:solidFill>
                <a:srgbClr val="073763"/>
              </a:solidFill>
              <a:latin typeface="Maven Pro"/>
              <a:ea typeface="Maven Pro"/>
              <a:cs typeface="Maven Pro"/>
              <a:sym typeface="Maven Pro"/>
            </a:endParaRPr>
          </a:p>
        </p:txBody>
      </p:sp>
      <p:pic>
        <p:nvPicPr>
          <p:cNvPr id="743" name="Google Shape;743;p7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744" name="Google Shape;744;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745" name="Google Shape;745;p76"/>
          <p:cNvSpPr txBox="1"/>
          <p:nvPr/>
        </p:nvSpPr>
        <p:spPr>
          <a:xfrm>
            <a:off x="687900" y="1173575"/>
            <a:ext cx="7768200" cy="11505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-t --time:</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Définit le nombre de secondes d'attente avant l'envoi du signal SIGKILL. Par défaut, le délai est de 10 secondes.</a:t>
            </a:r>
            <a:endParaRPr sz="1100">
              <a:solidFill>
                <a:srgbClr val="00084D"/>
              </a:solidFill>
              <a:latin typeface="Maven Pro"/>
              <a:ea typeface="Maven Pro"/>
              <a:cs typeface="Maven Pro"/>
              <a:sym typeface="Maven Pro"/>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Si le conteneur ne s'arrête pas proprement dans les 10 secondes par défaut, Docker attendra 20 secondes avant d'envoyer un SIGKILL.</a:t>
            </a:r>
            <a:endParaRPr sz="1100">
              <a:solidFill>
                <a:srgbClr val="00084D"/>
              </a:solidFill>
              <a:latin typeface="Maven Pro"/>
              <a:ea typeface="Maven Pro"/>
              <a:cs typeface="Maven Pro"/>
              <a:sym typeface="Maven Pro"/>
            </a:endParaRPr>
          </a:p>
        </p:txBody>
      </p:sp>
      <p:sp>
        <p:nvSpPr>
          <p:cNvPr id="746" name="Google Shape;746;p76"/>
          <p:cNvSpPr txBox="1"/>
          <p:nvPr/>
        </p:nvSpPr>
        <p:spPr>
          <a:xfrm>
            <a:off x="687900" y="2921695"/>
            <a:ext cx="7768200" cy="720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 </a:t>
            </a:r>
            <a:r>
              <a:rPr b="1" lang="en-GB" sz="1200">
                <a:solidFill>
                  <a:srgbClr val="073763"/>
                </a:solidFill>
                <a:latin typeface="Maven Pro"/>
                <a:ea typeface="Maven Pro"/>
                <a:cs typeface="Maven Pro"/>
                <a:sym typeface="Maven Pro"/>
              </a:rPr>
              <a:t>--signal string:</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https://man7.org/linux/man-pages/man7/signal.7.html</a:t>
            </a:r>
            <a:endParaRPr sz="1100">
              <a:solidFill>
                <a:srgbClr val="00084D"/>
              </a:solidFill>
              <a:latin typeface="Maven Pro"/>
              <a:ea typeface="Maven Pro"/>
              <a:cs typeface="Maven Pro"/>
              <a:sym typeface="Maven Pro"/>
            </a:endParaRPr>
          </a:p>
        </p:txBody>
      </p:sp>
      <p:sp>
        <p:nvSpPr>
          <p:cNvPr id="747" name="Google Shape;747;p76"/>
          <p:cNvSpPr/>
          <p:nvPr/>
        </p:nvSpPr>
        <p:spPr>
          <a:xfrm rot="794">
            <a:off x="2624705" y="2546610"/>
            <a:ext cx="38946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stop -t 20 my_container</a:t>
            </a:r>
            <a:endParaRPr sz="1000">
              <a:solidFill>
                <a:schemeClr val="lt1"/>
              </a:solidFill>
              <a:latin typeface="Courier New"/>
              <a:ea typeface="Courier New"/>
              <a:cs typeface="Courier New"/>
              <a:sym typeface="Courier New"/>
            </a:endParaRPr>
          </a:p>
        </p:txBody>
      </p:sp>
      <p:sp>
        <p:nvSpPr>
          <p:cNvPr id="748" name="Google Shape;748;p76"/>
          <p:cNvSpPr/>
          <p:nvPr/>
        </p:nvSpPr>
        <p:spPr>
          <a:xfrm>
            <a:off x="2624700" y="3907350"/>
            <a:ext cx="38946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stop</a:t>
            </a:r>
            <a:r>
              <a:rPr lang="en-GB" sz="1000">
                <a:solidFill>
                  <a:schemeClr val="lt1"/>
                </a:solidFill>
                <a:latin typeface="Courier New"/>
                <a:ea typeface="Courier New"/>
                <a:cs typeface="Courier New"/>
                <a:sym typeface="Courier New"/>
              </a:rPr>
              <a:t> -s SIGKILL</a:t>
            </a:r>
            <a:endParaRPr sz="1000">
              <a:solidFill>
                <a:schemeClr val="lt1"/>
              </a:solidFill>
              <a:latin typeface="Courier New"/>
              <a:ea typeface="Courier New"/>
              <a:cs typeface="Courier New"/>
              <a:sym typeface="Courier New"/>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77"/>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754" name="Google Shape;754;p7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rm command</a:t>
            </a:r>
            <a:endParaRPr sz="2000">
              <a:solidFill>
                <a:srgbClr val="073763"/>
              </a:solidFill>
              <a:latin typeface="Maven Pro"/>
              <a:ea typeface="Maven Pro"/>
              <a:cs typeface="Maven Pro"/>
              <a:sym typeface="Maven Pro"/>
            </a:endParaRPr>
          </a:p>
        </p:txBody>
      </p:sp>
      <p:pic>
        <p:nvPicPr>
          <p:cNvPr id="755" name="Google Shape;755;p7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756" name="Google Shape;756;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757" name="Google Shape;757;p77"/>
          <p:cNvSpPr txBox="1"/>
          <p:nvPr/>
        </p:nvSpPr>
        <p:spPr>
          <a:xfrm>
            <a:off x="687900" y="1630775"/>
            <a:ext cx="7768200" cy="548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docker rm est utilisée pour supprimer un ou plusieurs conteneurs qui ne sont pas en cours d'exécution. Notez que pour supprimer un conteneur, celui-ci doit d'abord être arrêté.</a:t>
            </a:r>
            <a:endParaRPr sz="1100">
              <a:solidFill>
                <a:srgbClr val="00084D"/>
              </a:solidFill>
              <a:latin typeface="Maven Pro"/>
              <a:ea typeface="Maven Pro"/>
              <a:cs typeface="Maven Pro"/>
              <a:sym typeface="Maven Pro"/>
            </a:endParaRPr>
          </a:p>
        </p:txBody>
      </p:sp>
      <p:sp>
        <p:nvSpPr>
          <p:cNvPr id="758" name="Google Shape;758;p77"/>
          <p:cNvSpPr txBox="1"/>
          <p:nvPr/>
        </p:nvSpPr>
        <p:spPr>
          <a:xfrm>
            <a:off x="687900" y="2201438"/>
            <a:ext cx="7768200" cy="1584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Medium"/>
                <a:ea typeface="Maven Pro Medium"/>
                <a:cs typeface="Maven Pro Medium"/>
                <a:sym typeface="Maven Pro Medium"/>
              </a:rPr>
              <a:t>Suppression : </a:t>
            </a:r>
            <a:r>
              <a:rPr lang="en-GB" sz="1100">
                <a:solidFill>
                  <a:srgbClr val="00084D"/>
                </a:solidFill>
                <a:latin typeface="Maven Pro"/>
                <a:ea typeface="Maven Pro"/>
                <a:cs typeface="Maven Pro"/>
                <a:sym typeface="Maven Pro"/>
              </a:rPr>
              <a:t>Lorsqu'un conteneur est supprimé avec docker rm, Docker supprime définitivement le conteneur et libère toutes les ressources associées, comme les volumes montés et les configurations spécifiques au conteneur.</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Medium"/>
                <a:ea typeface="Maven Pro Medium"/>
                <a:cs typeface="Maven Pro Medium"/>
                <a:sym typeface="Maven Pro Medium"/>
              </a:rPr>
              <a:t>État du conteneur :</a:t>
            </a:r>
            <a:r>
              <a:rPr lang="en-GB" sz="1100">
                <a:solidFill>
                  <a:srgbClr val="00084D"/>
                </a:solidFill>
                <a:latin typeface="Maven Pro"/>
                <a:ea typeface="Maven Pro"/>
                <a:cs typeface="Maven Pro"/>
                <a:sym typeface="Maven Pro"/>
              </a:rPr>
              <a:t> La suppression d'un conteneur ne touche pas l'image Docker à partir de laquelle le conteneur a été créé. Vous pouvez recréer un conteneur à partir de la même image si nécessaire.</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1000"/>
              </a:spcAft>
              <a:buNone/>
            </a:pPr>
            <a:r>
              <a:rPr lang="en-GB" sz="1100">
                <a:solidFill>
                  <a:srgbClr val="00084D"/>
                </a:solidFill>
                <a:latin typeface="Maven Pro Medium"/>
                <a:ea typeface="Maven Pro Medium"/>
                <a:cs typeface="Maven Pro Medium"/>
                <a:sym typeface="Maven Pro Medium"/>
              </a:rPr>
              <a:t>Volumes :</a:t>
            </a:r>
            <a:r>
              <a:rPr lang="en-GB" sz="1100">
                <a:solidFill>
                  <a:srgbClr val="00084D"/>
                </a:solidFill>
                <a:latin typeface="Maven Pro"/>
                <a:ea typeface="Maven Pro"/>
                <a:cs typeface="Maven Pro"/>
                <a:sym typeface="Maven Pro"/>
              </a:rPr>
              <a:t> Par défaut, les volumes associés à un conteneur ne sont pas supprimés lors de la suppression du conteneur, sauf si l'option -v est utilisée.</a:t>
            </a:r>
            <a:endParaRPr sz="1100">
              <a:solidFill>
                <a:srgbClr val="00084D"/>
              </a:solidFill>
              <a:latin typeface="Maven Pro"/>
              <a:ea typeface="Maven Pro"/>
              <a:cs typeface="Maven Pro"/>
              <a:sym typeface="Maven Pro"/>
            </a:endParaRPr>
          </a:p>
        </p:txBody>
      </p:sp>
      <p:sp>
        <p:nvSpPr>
          <p:cNvPr id="759" name="Google Shape;759;p77"/>
          <p:cNvSpPr txBox="1"/>
          <p:nvPr/>
        </p:nvSpPr>
        <p:spPr>
          <a:xfrm>
            <a:off x="687900" y="3870130"/>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rm [OPTIONS] CONTAINER [CONTAINER………]</a:t>
            </a:r>
            <a:endParaRPr sz="1100">
              <a:solidFill>
                <a:srgbClr val="00084D"/>
              </a:solidFill>
              <a:latin typeface="Maven Pro"/>
              <a:ea typeface="Maven Pro"/>
              <a:cs typeface="Maven Pro"/>
              <a:sym typeface="Maven Pro"/>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78"/>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765" name="Google Shape;765;p7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rm command - Options</a:t>
            </a:r>
            <a:endParaRPr sz="2000">
              <a:solidFill>
                <a:srgbClr val="073763"/>
              </a:solidFill>
              <a:latin typeface="Maven Pro"/>
              <a:ea typeface="Maven Pro"/>
              <a:cs typeface="Maven Pro"/>
              <a:sym typeface="Maven Pro"/>
            </a:endParaRPr>
          </a:p>
        </p:txBody>
      </p:sp>
      <p:pic>
        <p:nvPicPr>
          <p:cNvPr id="766" name="Google Shape;766;p7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767" name="Google Shape;767;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768" name="Google Shape;768;p78"/>
          <p:cNvSpPr txBox="1"/>
          <p:nvPr/>
        </p:nvSpPr>
        <p:spPr>
          <a:xfrm>
            <a:off x="687900" y="1783175"/>
            <a:ext cx="7768200" cy="5664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-f --force:</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Force la suppression d'un conteneur en cours d'exécution (équivalent à docker stop suivi de docker rm)</a:t>
            </a:r>
            <a:endParaRPr sz="1100">
              <a:solidFill>
                <a:srgbClr val="00084D"/>
              </a:solidFill>
              <a:latin typeface="Maven Pro"/>
              <a:ea typeface="Maven Pro"/>
              <a:cs typeface="Maven Pro"/>
              <a:sym typeface="Maven Pro"/>
            </a:endParaRPr>
          </a:p>
        </p:txBody>
      </p:sp>
      <p:sp>
        <p:nvSpPr>
          <p:cNvPr id="769" name="Google Shape;769;p78"/>
          <p:cNvSpPr/>
          <p:nvPr/>
        </p:nvSpPr>
        <p:spPr>
          <a:xfrm rot="794">
            <a:off x="2624700" y="2400213"/>
            <a:ext cx="3894600" cy="3219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rm -f my_container</a:t>
            </a:r>
            <a:endParaRPr sz="1000">
              <a:solidFill>
                <a:schemeClr val="lt1"/>
              </a:solidFill>
              <a:latin typeface="Courier New"/>
              <a:ea typeface="Courier New"/>
              <a:cs typeface="Courier New"/>
              <a:sym typeface="Courier New"/>
            </a:endParaRPr>
          </a:p>
        </p:txBody>
      </p:sp>
      <p:sp>
        <p:nvSpPr>
          <p:cNvPr id="770" name="Google Shape;770;p78"/>
          <p:cNvSpPr txBox="1"/>
          <p:nvPr/>
        </p:nvSpPr>
        <p:spPr>
          <a:xfrm>
            <a:off x="739850" y="2772775"/>
            <a:ext cx="7768200" cy="761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-v --volumes:</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Supprime également les volumes associés au conteneur. Les volumes contiennent souvent des données persistantes comme des bases de données ou des fichiers d’application.</a:t>
            </a:r>
            <a:endParaRPr sz="1100">
              <a:solidFill>
                <a:srgbClr val="00084D"/>
              </a:solidFill>
              <a:latin typeface="Maven Pro"/>
              <a:ea typeface="Maven Pro"/>
              <a:cs typeface="Maven Pro"/>
              <a:sym typeface="Maven Pro"/>
            </a:endParaRPr>
          </a:p>
        </p:txBody>
      </p:sp>
      <p:sp>
        <p:nvSpPr>
          <p:cNvPr id="771" name="Google Shape;771;p78"/>
          <p:cNvSpPr/>
          <p:nvPr/>
        </p:nvSpPr>
        <p:spPr>
          <a:xfrm rot="794">
            <a:off x="2676650" y="3542213"/>
            <a:ext cx="3894600" cy="3219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rm -v my_container</a:t>
            </a:r>
            <a:endParaRPr sz="1000">
              <a:solidFill>
                <a:schemeClr val="lt1"/>
              </a:solidFill>
              <a:latin typeface="Courier New"/>
              <a:ea typeface="Courier New"/>
              <a:cs typeface="Courier New"/>
              <a:sym typeface="Courier New"/>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79"/>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777" name="Google Shape;777;p7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exec command</a:t>
            </a:r>
            <a:endParaRPr sz="2000">
              <a:solidFill>
                <a:srgbClr val="073763"/>
              </a:solidFill>
              <a:latin typeface="Maven Pro"/>
              <a:ea typeface="Maven Pro"/>
              <a:cs typeface="Maven Pro"/>
              <a:sym typeface="Maven Pro"/>
            </a:endParaRPr>
          </a:p>
        </p:txBody>
      </p:sp>
      <p:pic>
        <p:nvPicPr>
          <p:cNvPr id="778" name="Google Shape;778;p7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779" name="Google Shape;779;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780" name="Google Shape;780;p79"/>
          <p:cNvSpPr txBox="1"/>
          <p:nvPr/>
        </p:nvSpPr>
        <p:spPr>
          <a:xfrm>
            <a:off x="687900" y="1305456"/>
            <a:ext cx="7768200" cy="2685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a:ea typeface="Maven Pro"/>
                <a:cs typeface="Maven Pro"/>
                <a:sym typeface="Maven Pro"/>
              </a:rPr>
              <a:t>Elle permet d'exécuter des commandes à l'intérieur d'un conteneur en cours d'exécution, ce qui est très utile pour effectuer des tâches de gestion, de débogage, ou même d'interaction avec les services à l'intérieur du conteneur, sans avoir à stopper ou redémarrer le conteneur.</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La commande docker exec permet d'exécuter une commande dans un conteneur en cours d'exécution. Contrairement à docker run, qui crée un nouveau conteneur, docker exec agit sur un conteneur déjà existant et en cours d'exécution.</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Cela permet d'interagir en temps réel avec le conteneur, par exemple pour :</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10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Exécuter des commandes de gestion comme ls, top, ps, ou même apt-get pour installer des packages.</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Accéder à un terminal interactif (en utilisant bash ou sh par exemple) pour interagir directement avec le système de fichiers du conteneur.</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Déboguer des applications ou examiner l'état d'un conteneur en cours d'exécution.</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Modifier la configuration ou le comportement de l'application à l'intérieur du conteneur.</a:t>
            </a:r>
            <a:endParaRPr sz="1100">
              <a:solidFill>
                <a:srgbClr val="00084D"/>
              </a:solidFill>
              <a:latin typeface="Maven Pro"/>
              <a:ea typeface="Maven Pro"/>
              <a:cs typeface="Maven Pro"/>
              <a:sym typeface="Maven Pro"/>
            </a:endParaRPr>
          </a:p>
        </p:txBody>
      </p:sp>
      <p:sp>
        <p:nvSpPr>
          <p:cNvPr id="781" name="Google Shape;781;p79"/>
          <p:cNvSpPr txBox="1"/>
          <p:nvPr/>
        </p:nvSpPr>
        <p:spPr>
          <a:xfrm>
            <a:off x="687900" y="3870130"/>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exec [OPTIONS] CONTAINER COMMAND [ARG………]</a:t>
            </a:r>
            <a:endParaRPr sz="1100">
              <a:solidFill>
                <a:srgbClr val="00084D"/>
              </a:solidFill>
              <a:latin typeface="Maven Pro"/>
              <a:ea typeface="Maven Pro"/>
              <a:cs typeface="Maven Pro"/>
              <a:sym typeface="Maven Pro"/>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80"/>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787" name="Google Shape;787;p8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Containers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 exec command - Options</a:t>
            </a:r>
            <a:endParaRPr sz="2000">
              <a:solidFill>
                <a:srgbClr val="073763"/>
              </a:solidFill>
              <a:latin typeface="Maven Pro"/>
              <a:ea typeface="Maven Pro"/>
              <a:cs typeface="Maven Pro"/>
              <a:sym typeface="Maven Pro"/>
            </a:endParaRPr>
          </a:p>
        </p:txBody>
      </p:sp>
      <p:pic>
        <p:nvPicPr>
          <p:cNvPr id="788" name="Google Shape;788;p8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789" name="Google Shape;789;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790" name="Google Shape;790;p80"/>
          <p:cNvSpPr txBox="1"/>
          <p:nvPr/>
        </p:nvSpPr>
        <p:spPr>
          <a:xfrm>
            <a:off x="687900" y="1402175"/>
            <a:ext cx="7768200" cy="761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-i:</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L'option -i (pour "interactive") garde le flux d'entrée ouvert, permettant une interaction avec la commande exécutée.</a:t>
            </a:r>
            <a:endParaRPr sz="1100">
              <a:solidFill>
                <a:srgbClr val="00084D"/>
              </a:solidFill>
              <a:latin typeface="Maven Pro"/>
              <a:ea typeface="Maven Pro"/>
              <a:cs typeface="Maven Pro"/>
              <a:sym typeface="Maven Pro"/>
            </a:endParaRPr>
          </a:p>
        </p:txBody>
      </p:sp>
      <p:sp>
        <p:nvSpPr>
          <p:cNvPr id="791" name="Google Shape;791;p80"/>
          <p:cNvSpPr txBox="1"/>
          <p:nvPr/>
        </p:nvSpPr>
        <p:spPr>
          <a:xfrm>
            <a:off x="687900" y="2177355"/>
            <a:ext cx="7768200" cy="761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-t:</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L'option -t (pour "tty") alloue un pseudo-terminal à la commande exécutée, utile lorsque vous avez besoin d'un terminal interactif (par exemple, pour des shells comme bash).</a:t>
            </a:r>
            <a:endParaRPr sz="1100">
              <a:solidFill>
                <a:srgbClr val="00084D"/>
              </a:solidFill>
              <a:latin typeface="Maven Pro"/>
              <a:ea typeface="Maven Pro"/>
              <a:cs typeface="Maven Pro"/>
              <a:sym typeface="Maven Pro"/>
            </a:endParaRPr>
          </a:p>
        </p:txBody>
      </p:sp>
      <p:sp>
        <p:nvSpPr>
          <p:cNvPr id="792" name="Google Shape;792;p80"/>
          <p:cNvSpPr/>
          <p:nvPr/>
        </p:nvSpPr>
        <p:spPr>
          <a:xfrm rot="794">
            <a:off x="2624700" y="2946794"/>
            <a:ext cx="3894600" cy="3219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-it my_container /bin/bash</a:t>
            </a:r>
            <a:endParaRPr sz="1000">
              <a:solidFill>
                <a:schemeClr val="lt1"/>
              </a:solidFill>
              <a:latin typeface="Courier New"/>
              <a:ea typeface="Courier New"/>
              <a:cs typeface="Courier New"/>
              <a:sym typeface="Courier New"/>
            </a:endParaRPr>
          </a:p>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a:t>
            </a:r>
            <a:r>
              <a:rPr lang="en-GB" sz="1000">
                <a:solidFill>
                  <a:schemeClr val="lt1"/>
                </a:solidFill>
                <a:latin typeface="Courier New"/>
                <a:ea typeface="Courier New"/>
                <a:cs typeface="Courier New"/>
                <a:sym typeface="Courier New"/>
              </a:rPr>
              <a:t>ocker exec </a:t>
            </a:r>
            <a:r>
              <a:rPr lang="en-GB" sz="1000">
                <a:solidFill>
                  <a:schemeClr val="lt1"/>
                </a:solidFill>
                <a:latin typeface="Courier New"/>
                <a:ea typeface="Courier New"/>
                <a:cs typeface="Courier New"/>
                <a:sym typeface="Courier New"/>
              </a:rPr>
              <a:t>my_container ls /app</a:t>
            </a:r>
            <a:endParaRPr sz="1000">
              <a:solidFill>
                <a:schemeClr val="lt1"/>
              </a:solidFill>
              <a:latin typeface="Courier New"/>
              <a:ea typeface="Courier New"/>
              <a:cs typeface="Courier New"/>
              <a:sym typeface="Courier New"/>
            </a:endParaRPr>
          </a:p>
        </p:txBody>
      </p:sp>
      <p:sp>
        <p:nvSpPr>
          <p:cNvPr id="793" name="Google Shape;793;p80"/>
          <p:cNvSpPr txBox="1"/>
          <p:nvPr/>
        </p:nvSpPr>
        <p:spPr>
          <a:xfrm>
            <a:off x="687900" y="3360325"/>
            <a:ext cx="7768200" cy="5664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-d:</a:t>
            </a:r>
            <a:endParaRPr sz="1500">
              <a:solidFill>
                <a:schemeClr val="lt1"/>
              </a:solidFill>
              <a:highlight>
                <a:schemeClr val="dk1"/>
              </a:highlight>
              <a:latin typeface="Courier New"/>
              <a:ea typeface="Courier New"/>
              <a:cs typeface="Courier New"/>
              <a:sym typeface="Courier New"/>
            </a:endParaRPr>
          </a:p>
          <a:p>
            <a:pPr indent="-298450" lvl="0" marL="9144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L'option -d permet d'exécuter la commande en arrière-plan, sans afficher sa sortie dans le terminal.</a:t>
            </a:r>
            <a:endParaRPr sz="1100">
              <a:solidFill>
                <a:srgbClr val="00084D"/>
              </a:solidFill>
              <a:latin typeface="Maven Pro"/>
              <a:ea typeface="Maven Pro"/>
              <a:cs typeface="Maven Pro"/>
              <a:sym typeface="Maven Pro"/>
            </a:endParaRPr>
          </a:p>
        </p:txBody>
      </p:sp>
      <p:sp>
        <p:nvSpPr>
          <p:cNvPr id="794" name="Google Shape;794;p80"/>
          <p:cNvSpPr/>
          <p:nvPr/>
        </p:nvSpPr>
        <p:spPr>
          <a:xfrm rot="685">
            <a:off x="2624700" y="4129775"/>
            <a:ext cx="4514700" cy="3219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exec -d my_container apt install ssh</a:t>
            </a:r>
            <a:endParaRPr sz="1000">
              <a:solidFill>
                <a:schemeClr val="lt1"/>
              </a:solidFill>
              <a:latin typeface="Courier New"/>
              <a:ea typeface="Courier New"/>
              <a:cs typeface="Courier New"/>
              <a:sym typeface="Courier New"/>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81"/>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800" name="Google Shape;800;p81"/>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801" name="Google Shape;801;p81"/>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802" name="Google Shape;802;p81"/>
          <p:cNvSpPr txBox="1"/>
          <p:nvPr/>
        </p:nvSpPr>
        <p:spPr>
          <a:xfrm>
            <a:off x="478375" y="1786800"/>
            <a:ext cx="4572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Managing Images</a:t>
            </a:r>
            <a:endParaRPr sz="4500">
              <a:solidFill>
                <a:srgbClr val="E5F2FC"/>
              </a:solidFill>
              <a:latin typeface="Nunito SemiBold"/>
              <a:ea typeface="Nunito SemiBold"/>
              <a:cs typeface="Nunito SemiBold"/>
              <a:sym typeface="Nunito SemiBold"/>
            </a:endParaRPr>
          </a:p>
        </p:txBody>
      </p:sp>
      <p:sp>
        <p:nvSpPr>
          <p:cNvPr id="803" name="Google Shape;803;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82"/>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809" name="Google Shape;809;p8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a:t>
            </a:r>
            <a:r>
              <a:rPr lang="en-GB" sz="1500">
                <a:solidFill>
                  <a:srgbClr val="073763"/>
                </a:solidFill>
                <a:latin typeface="Maven Pro"/>
                <a:ea typeface="Maven Pro"/>
                <a:cs typeface="Maven Pro"/>
                <a:sym typeface="Maven Pro"/>
              </a:rPr>
              <a:t>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Definition</a:t>
            </a:r>
            <a:endParaRPr sz="2000">
              <a:solidFill>
                <a:srgbClr val="073763"/>
              </a:solidFill>
              <a:latin typeface="Maven Pro"/>
              <a:ea typeface="Maven Pro"/>
              <a:cs typeface="Maven Pro"/>
              <a:sym typeface="Maven Pro"/>
            </a:endParaRPr>
          </a:p>
        </p:txBody>
      </p:sp>
      <p:pic>
        <p:nvPicPr>
          <p:cNvPr id="810" name="Google Shape;810;p8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811" name="Google Shape;811;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12" name="Google Shape;812;p82"/>
          <p:cNvSpPr txBox="1"/>
          <p:nvPr/>
        </p:nvSpPr>
        <p:spPr>
          <a:xfrm>
            <a:off x="687900" y="1325975"/>
            <a:ext cx="7768200" cy="1650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a:ea typeface="Maven Pro"/>
                <a:cs typeface="Maven Pro"/>
                <a:sym typeface="Maven Pro"/>
              </a:rPr>
              <a:t>Une </a:t>
            </a:r>
            <a:r>
              <a:rPr lang="en-GB" sz="1100">
                <a:solidFill>
                  <a:srgbClr val="00084D"/>
                </a:solidFill>
                <a:latin typeface="Maven Pro Medium"/>
                <a:ea typeface="Maven Pro Medium"/>
                <a:cs typeface="Maven Pro Medium"/>
                <a:sym typeface="Maven Pro Medium"/>
              </a:rPr>
              <a:t>image Docker</a:t>
            </a:r>
            <a:r>
              <a:rPr lang="en-GB" sz="1100">
                <a:solidFill>
                  <a:srgbClr val="00084D"/>
                </a:solidFill>
                <a:latin typeface="Maven Pro"/>
                <a:ea typeface="Maven Pro"/>
                <a:cs typeface="Maven Pro"/>
                <a:sym typeface="Maven Pro"/>
              </a:rPr>
              <a:t> est </a:t>
            </a:r>
            <a:r>
              <a:rPr lang="en-GB" sz="1100">
                <a:solidFill>
                  <a:srgbClr val="00084D"/>
                </a:solidFill>
                <a:latin typeface="Maven Pro Medium"/>
                <a:ea typeface="Maven Pro Medium"/>
                <a:cs typeface="Maven Pro Medium"/>
                <a:sym typeface="Maven Pro Medium"/>
              </a:rPr>
              <a:t>un modèle</a:t>
            </a:r>
            <a:r>
              <a:rPr lang="en-GB" sz="1100">
                <a:solidFill>
                  <a:srgbClr val="00084D"/>
                </a:solidFill>
                <a:latin typeface="Maven Pro"/>
                <a:ea typeface="Maven Pro"/>
                <a:cs typeface="Maven Pro"/>
                <a:sym typeface="Maven Pro"/>
              </a:rPr>
              <a:t> ou un gabarit utilisé pour créer des </a:t>
            </a:r>
            <a:r>
              <a:rPr lang="en-GB" sz="1100">
                <a:solidFill>
                  <a:srgbClr val="00084D"/>
                </a:solidFill>
                <a:latin typeface="Maven Pro Medium"/>
                <a:ea typeface="Maven Pro Medium"/>
                <a:cs typeface="Maven Pro Medium"/>
                <a:sym typeface="Maven Pro Medium"/>
              </a:rPr>
              <a:t>conteneurs Docker</a:t>
            </a:r>
            <a:r>
              <a:rPr lang="en-GB" sz="1100">
                <a:solidFill>
                  <a:srgbClr val="00084D"/>
                </a:solidFill>
                <a:latin typeface="Maven Pro"/>
                <a:ea typeface="Maven Pro"/>
                <a:cs typeface="Maven Pro"/>
                <a:sym typeface="Maven Pro"/>
              </a:rPr>
              <a:t>. C'est un fichier </a:t>
            </a:r>
            <a:r>
              <a:rPr lang="en-GB" sz="1100">
                <a:solidFill>
                  <a:srgbClr val="00084D"/>
                </a:solidFill>
                <a:latin typeface="Maven Pro Medium"/>
                <a:ea typeface="Maven Pro Medium"/>
                <a:cs typeface="Maven Pro Medium"/>
                <a:sym typeface="Maven Pro Medium"/>
              </a:rPr>
              <a:t>en lecture seule</a:t>
            </a:r>
            <a:r>
              <a:rPr lang="en-GB" sz="1100">
                <a:solidFill>
                  <a:srgbClr val="00084D"/>
                </a:solidFill>
                <a:latin typeface="Maven Pro"/>
                <a:ea typeface="Maven Pro"/>
                <a:cs typeface="Maven Pro"/>
                <a:sym typeface="Maven Pro"/>
              </a:rPr>
              <a:t> qui contient tout le nécessaire pour faire fonctionner une application ou un service dans un conteneur, y compris le système d'exploitation, les bibliothèques, les dépendances, le code de l'application, et les configurations.</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En résumé, une image Docker est une version</a:t>
            </a:r>
            <a:r>
              <a:rPr lang="en-GB" sz="1100">
                <a:solidFill>
                  <a:srgbClr val="00084D"/>
                </a:solidFill>
                <a:latin typeface="Maven Pro Medium"/>
                <a:ea typeface="Maven Pro Medium"/>
                <a:cs typeface="Maven Pro Medium"/>
                <a:sym typeface="Maven Pro Medium"/>
              </a:rPr>
              <a:t> figée et portable</a:t>
            </a:r>
            <a:r>
              <a:rPr lang="en-GB" sz="1100">
                <a:solidFill>
                  <a:srgbClr val="00084D"/>
                </a:solidFill>
                <a:latin typeface="Maven Pro"/>
                <a:ea typeface="Maven Pro"/>
                <a:cs typeface="Maven Pro"/>
                <a:sym typeface="Maven Pro"/>
              </a:rPr>
              <a:t> d'un système de fichiers complet, contenant tout ce dont l'application ou le service a besoin pour s'exécuter. Chaque image Docker est constituée de plusieurs couches empilées les unes sur les autres, chaque couche correspondant à une modification ou une action spécifique (installation de dépendances, configuration de logiciels, ajout de fichiers, etc.).</a:t>
            </a:r>
            <a:endParaRPr sz="1100">
              <a:solidFill>
                <a:srgbClr val="00084D"/>
              </a:solidFill>
              <a:latin typeface="Maven Pro"/>
              <a:ea typeface="Maven Pro"/>
              <a:cs typeface="Maven Pro"/>
              <a:sym typeface="Maven Pro"/>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83"/>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818" name="Google Shape;818;p8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Pourquoi Docker images</a:t>
            </a:r>
            <a:endParaRPr sz="2000">
              <a:solidFill>
                <a:srgbClr val="073763"/>
              </a:solidFill>
              <a:latin typeface="Maven Pro"/>
              <a:ea typeface="Maven Pro"/>
              <a:cs typeface="Maven Pro"/>
              <a:sym typeface="Maven Pro"/>
            </a:endParaRPr>
          </a:p>
        </p:txBody>
      </p:sp>
      <p:pic>
        <p:nvPicPr>
          <p:cNvPr id="819" name="Google Shape;819;p8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820" name="Google Shape;820;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21" name="Google Shape;821;p83"/>
          <p:cNvSpPr txBox="1"/>
          <p:nvPr/>
        </p:nvSpPr>
        <p:spPr>
          <a:xfrm>
            <a:off x="687900" y="1325975"/>
            <a:ext cx="7768200" cy="2495700"/>
          </a:xfrm>
          <a:prstGeom prst="rect">
            <a:avLst/>
          </a:prstGeom>
          <a:noFill/>
          <a:ln>
            <a:noFill/>
          </a:ln>
        </p:spPr>
        <p:txBody>
          <a:bodyPr anchorCtr="0" anchor="t" bIns="91425" lIns="91425" spcFirstLastPara="1" rIns="91425" wrap="square" tIns="91425">
            <a:spAutoFit/>
          </a:bodyPr>
          <a:lstStyle/>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SemiBold"/>
                <a:ea typeface="Maven Pro SemiBold"/>
                <a:cs typeface="Maven Pro SemiBold"/>
                <a:sym typeface="Maven Pro SemiBold"/>
              </a:rPr>
              <a:t>Portabilité </a:t>
            </a:r>
            <a:r>
              <a:rPr lang="en-GB" sz="1100">
                <a:solidFill>
                  <a:srgbClr val="00084D"/>
                </a:solidFill>
                <a:latin typeface="Maven Pro"/>
                <a:ea typeface="Maven Pro"/>
                <a:cs typeface="Maven Pro"/>
                <a:sym typeface="Maven Pro"/>
              </a:rPr>
              <a:t>: Une image Docker encapsule tout l'environnement nécessaire pour exécuter une application, ce qui garantit qu'elle fonctionnera exactement de la même manière partout, que ce soit sur le PC d'un développeur, un serveur de staging ou un environnement de production.</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SemiBold"/>
                <a:ea typeface="Maven Pro SemiBold"/>
                <a:cs typeface="Maven Pro SemiBold"/>
                <a:sym typeface="Maven Pro SemiBold"/>
              </a:rPr>
              <a:t>Reproductibilité :</a:t>
            </a:r>
            <a:r>
              <a:rPr lang="en-GB" sz="1100">
                <a:solidFill>
                  <a:srgbClr val="00084D"/>
                </a:solidFill>
                <a:latin typeface="Maven Pro"/>
                <a:ea typeface="Maven Pro"/>
                <a:cs typeface="Maven Pro"/>
                <a:sym typeface="Maven Pro"/>
              </a:rPr>
              <a:t> À partir d'une image Docker, vous pouvez recréer un environnement exact, avec les mêmes versions de bibliothèques et de dépendances. Cela permet de minimiser les problèmes liés aux "ça marche sur ma machine".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SemiBold"/>
                <a:ea typeface="Maven Pro SemiBold"/>
                <a:cs typeface="Maven Pro SemiBold"/>
                <a:sym typeface="Maven Pro SemiBold"/>
              </a:rPr>
              <a:t>Automatisation :</a:t>
            </a:r>
            <a:r>
              <a:rPr lang="en-GB" sz="1100">
                <a:solidFill>
                  <a:srgbClr val="00084D"/>
                </a:solidFill>
                <a:latin typeface="Maven Pro"/>
                <a:ea typeface="Maven Pro"/>
                <a:cs typeface="Maven Pro"/>
                <a:sym typeface="Maven Pro"/>
              </a:rPr>
              <a:t> Les images Docker sont construites à l'aide de Dockerfiles, qui permettent de décrire le processus de configuration de manière déclarative et réutilisable. Cela rend le déploiement d'applications plus rapide et plus fiable.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SemiBold"/>
                <a:ea typeface="Maven Pro SemiBold"/>
                <a:cs typeface="Maven Pro SemiBold"/>
                <a:sym typeface="Maven Pro SemiBold"/>
              </a:rPr>
              <a:t>Scalabilité et Maintenance :</a:t>
            </a:r>
            <a:r>
              <a:rPr lang="en-GB" sz="1100">
                <a:solidFill>
                  <a:srgbClr val="00084D"/>
                </a:solidFill>
                <a:latin typeface="Maven Pro"/>
                <a:ea typeface="Maven Pro"/>
                <a:cs typeface="Maven Pro"/>
                <a:sym typeface="Maven Pro"/>
              </a:rPr>
              <a:t> Les images Docker, une fois construites, peuvent être facilement mises à jour, versionnées et distribuées à grande échelle, ce qui simplifie la gestion des versions d'applications dans des environnements complexes</a:t>
            </a:r>
            <a:endParaRPr sz="1100">
              <a:solidFill>
                <a:srgbClr val="00084D"/>
              </a:solidFill>
              <a:latin typeface="Maven Pro"/>
              <a:ea typeface="Maven Pro"/>
              <a:cs typeface="Maven Pro"/>
              <a:sym typeface="Maven Pro"/>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84"/>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827" name="Google Shape;827;p8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 docker images</a:t>
            </a:r>
            <a:r>
              <a:rPr b="1" lang="en-GB" sz="2000">
                <a:solidFill>
                  <a:srgbClr val="073763"/>
                </a:solidFill>
                <a:latin typeface="Maven Pro"/>
                <a:ea typeface="Maven Pro"/>
                <a:cs typeface="Maven Pro"/>
                <a:sym typeface="Maven Pro"/>
              </a:rPr>
              <a:t> command</a:t>
            </a:r>
            <a:endParaRPr sz="2000">
              <a:solidFill>
                <a:srgbClr val="073763"/>
              </a:solidFill>
              <a:latin typeface="Maven Pro"/>
              <a:ea typeface="Maven Pro"/>
              <a:cs typeface="Maven Pro"/>
              <a:sym typeface="Maven Pro"/>
            </a:endParaRPr>
          </a:p>
        </p:txBody>
      </p:sp>
      <p:pic>
        <p:nvPicPr>
          <p:cNvPr id="828" name="Google Shape;828;p8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829" name="Google Shape;829;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30" name="Google Shape;830;p84"/>
          <p:cNvSpPr txBox="1"/>
          <p:nvPr/>
        </p:nvSpPr>
        <p:spPr>
          <a:xfrm>
            <a:off x="687900" y="2201438"/>
            <a:ext cx="7768200" cy="10665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SemiBold"/>
                <a:ea typeface="Maven Pro SemiBold"/>
                <a:cs typeface="Maven Pro SemiBold"/>
                <a:sym typeface="Maven Pro SemiBold"/>
              </a:rPr>
              <a:t>Options :</a:t>
            </a:r>
            <a:endParaRPr sz="1100">
              <a:solidFill>
                <a:srgbClr val="00084D"/>
              </a:solidFill>
              <a:latin typeface="Maven Pro SemiBold"/>
              <a:ea typeface="Maven Pro SemiBold"/>
              <a:cs typeface="Maven Pro SemiBold"/>
              <a:sym typeface="Maven Pro SemiBold"/>
            </a:endParaRPr>
          </a:p>
          <a:p>
            <a:pPr indent="-298450" lvl="0" marL="457200" marR="0" rtl="0" algn="just">
              <a:lnSpc>
                <a:spcPct val="115000"/>
              </a:lnSpc>
              <a:spcBef>
                <a:spcPts val="100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-a</a:t>
            </a:r>
            <a:r>
              <a:rPr lang="en-GB" sz="1100">
                <a:solidFill>
                  <a:srgbClr val="00084D"/>
                </a:solidFill>
                <a:latin typeface="Maven Pro"/>
                <a:ea typeface="Maven Pro"/>
                <a:cs typeface="Maven Pro"/>
                <a:sym typeface="Maven Pro"/>
              </a:rPr>
              <a:t> ou</a:t>
            </a:r>
            <a:r>
              <a:rPr lang="en-GB" sz="1100">
                <a:solidFill>
                  <a:srgbClr val="00084D"/>
                </a:solidFill>
                <a:highlight>
                  <a:srgbClr val="B7B7B7"/>
                </a:highlight>
                <a:latin typeface="Maven Pro"/>
                <a:ea typeface="Maven Pro"/>
                <a:cs typeface="Maven Pro"/>
                <a:sym typeface="Maven Pro"/>
              </a:rPr>
              <a:t> --all</a:t>
            </a:r>
            <a:r>
              <a:rPr lang="en-GB" sz="1100">
                <a:solidFill>
                  <a:srgbClr val="00084D"/>
                </a:solidFill>
                <a:latin typeface="Maven Pro"/>
                <a:ea typeface="Maven Pro"/>
                <a:cs typeface="Maven Pro"/>
                <a:sym typeface="Maven Pro"/>
              </a:rPr>
              <a:t> : Liste toutes les images, y compris celles qui ne sont pas utilisées (dangling images).</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-q</a:t>
            </a:r>
            <a:r>
              <a:rPr lang="en-GB" sz="1100">
                <a:solidFill>
                  <a:srgbClr val="00084D"/>
                </a:solidFill>
                <a:latin typeface="Maven Pro"/>
                <a:ea typeface="Maven Pro"/>
                <a:cs typeface="Maven Pro"/>
                <a:sym typeface="Maven Pro"/>
              </a:rPr>
              <a:t> ou </a:t>
            </a:r>
            <a:r>
              <a:rPr lang="en-GB" sz="1100">
                <a:solidFill>
                  <a:srgbClr val="00084D"/>
                </a:solidFill>
                <a:highlight>
                  <a:srgbClr val="B7B7B7"/>
                </a:highlight>
                <a:latin typeface="Maven Pro"/>
                <a:ea typeface="Maven Pro"/>
                <a:cs typeface="Maven Pro"/>
                <a:sym typeface="Maven Pro"/>
              </a:rPr>
              <a:t>--quiet</a:t>
            </a:r>
            <a:r>
              <a:rPr lang="en-GB" sz="1100">
                <a:solidFill>
                  <a:srgbClr val="00084D"/>
                </a:solidFill>
                <a:latin typeface="Maven Pro"/>
                <a:ea typeface="Maven Pro"/>
                <a:cs typeface="Maven Pro"/>
                <a:sym typeface="Maven Pro"/>
              </a:rPr>
              <a:t> : Affiche uniquement les IDs des images.</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--no-trunc</a:t>
            </a:r>
            <a:r>
              <a:rPr lang="en-GB" sz="1100">
                <a:solidFill>
                  <a:srgbClr val="00084D"/>
                </a:solidFill>
                <a:latin typeface="Maven Pro"/>
                <a:ea typeface="Maven Pro"/>
                <a:cs typeface="Maven Pro"/>
                <a:sym typeface="Maven Pro"/>
              </a:rPr>
              <a:t> : Affiche les informations complètes (par défaut, les informations sont tronquées).</a:t>
            </a:r>
            <a:endParaRPr sz="1100">
              <a:solidFill>
                <a:srgbClr val="00084D"/>
              </a:solidFill>
              <a:latin typeface="Maven Pro"/>
              <a:ea typeface="Maven Pro"/>
              <a:cs typeface="Maven Pro"/>
              <a:sym typeface="Maven Pro"/>
            </a:endParaRPr>
          </a:p>
        </p:txBody>
      </p:sp>
      <p:sp>
        <p:nvSpPr>
          <p:cNvPr id="831" name="Google Shape;831;p84"/>
          <p:cNvSpPr txBox="1"/>
          <p:nvPr/>
        </p:nvSpPr>
        <p:spPr>
          <a:xfrm>
            <a:off x="687900" y="1630775"/>
            <a:ext cx="7768200" cy="354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a:t>
            </a:r>
            <a:r>
              <a:rPr lang="en-GB" sz="1100">
                <a:solidFill>
                  <a:srgbClr val="00084D"/>
                </a:solidFill>
                <a:latin typeface="Maven Pro Medium"/>
                <a:ea typeface="Maven Pro Medium"/>
                <a:cs typeface="Maven Pro Medium"/>
                <a:sym typeface="Maven Pro Medium"/>
              </a:rPr>
              <a:t>docker images</a:t>
            </a:r>
            <a:r>
              <a:rPr lang="en-GB" sz="1100">
                <a:solidFill>
                  <a:srgbClr val="00084D"/>
                </a:solidFill>
                <a:latin typeface="Maven Pro"/>
                <a:ea typeface="Maven Pro"/>
                <a:cs typeface="Maven Pro"/>
                <a:sym typeface="Maven Pro"/>
              </a:rPr>
              <a:t> permet de lister toutes les images disponibles localement sur votre machine.</a:t>
            </a:r>
            <a:endParaRPr sz="1100">
              <a:solidFill>
                <a:srgbClr val="00084D"/>
              </a:solidFill>
              <a:latin typeface="Maven Pro"/>
              <a:ea typeface="Maven Pro"/>
              <a:cs typeface="Maven Pro"/>
              <a:sym typeface="Maven Pro"/>
            </a:endParaRPr>
          </a:p>
        </p:txBody>
      </p:sp>
      <p:sp>
        <p:nvSpPr>
          <p:cNvPr id="832" name="Google Shape;832;p84"/>
          <p:cNvSpPr txBox="1"/>
          <p:nvPr/>
        </p:nvSpPr>
        <p:spPr>
          <a:xfrm>
            <a:off x="687900" y="3484630"/>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images [OPTIONS] [REPOSITORY[:TAG]]</a:t>
            </a:r>
            <a:endParaRPr sz="1100">
              <a:solidFill>
                <a:srgbClr val="00084D"/>
              </a:solidFill>
              <a:latin typeface="Maven Pro"/>
              <a:ea typeface="Maven Pro"/>
              <a:cs typeface="Maven Pro"/>
              <a:sym typeface="Maven Pro"/>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85"/>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838" name="Google Shape;838;p8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 docker pull command</a:t>
            </a:r>
            <a:endParaRPr sz="2000">
              <a:solidFill>
                <a:srgbClr val="073763"/>
              </a:solidFill>
              <a:latin typeface="Maven Pro"/>
              <a:ea typeface="Maven Pro"/>
              <a:cs typeface="Maven Pro"/>
              <a:sym typeface="Maven Pro"/>
            </a:endParaRPr>
          </a:p>
        </p:txBody>
      </p:sp>
      <p:pic>
        <p:nvPicPr>
          <p:cNvPr id="839" name="Google Shape;839;p8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840" name="Google Shape;840;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41" name="Google Shape;841;p85"/>
          <p:cNvSpPr txBox="1"/>
          <p:nvPr/>
        </p:nvSpPr>
        <p:spPr>
          <a:xfrm>
            <a:off x="687900" y="2201438"/>
            <a:ext cx="7768200" cy="871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SemiBold"/>
                <a:ea typeface="Maven Pro SemiBold"/>
                <a:cs typeface="Maven Pro SemiBold"/>
                <a:sym typeface="Maven Pro SemiBold"/>
              </a:rPr>
              <a:t>Options :</a:t>
            </a:r>
            <a:endParaRPr sz="1100">
              <a:solidFill>
                <a:srgbClr val="00084D"/>
              </a:solidFill>
              <a:latin typeface="Maven Pro SemiBold"/>
              <a:ea typeface="Maven Pro SemiBold"/>
              <a:cs typeface="Maven Pro SemiBold"/>
              <a:sym typeface="Maven Pro SemiBold"/>
            </a:endParaRPr>
          </a:p>
          <a:p>
            <a:pPr indent="-298450" lvl="0" marL="457200" marR="0" rtl="0" algn="just">
              <a:lnSpc>
                <a:spcPct val="115000"/>
              </a:lnSpc>
              <a:spcBef>
                <a:spcPts val="100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-a</a:t>
            </a:r>
            <a:r>
              <a:rPr lang="en-GB" sz="1100">
                <a:solidFill>
                  <a:srgbClr val="00084D"/>
                </a:solidFill>
                <a:latin typeface="Maven Pro"/>
                <a:ea typeface="Maven Pro"/>
                <a:cs typeface="Maven Pro"/>
                <a:sym typeface="Maven Pro"/>
              </a:rPr>
              <a:t> ou</a:t>
            </a:r>
            <a:r>
              <a:rPr lang="en-GB" sz="1100">
                <a:solidFill>
                  <a:srgbClr val="00084D"/>
                </a:solidFill>
                <a:highlight>
                  <a:srgbClr val="B7B7B7"/>
                </a:highlight>
                <a:latin typeface="Maven Pro"/>
                <a:ea typeface="Maven Pro"/>
                <a:cs typeface="Maven Pro"/>
                <a:sym typeface="Maven Pro"/>
              </a:rPr>
              <a:t> --all-tags</a:t>
            </a:r>
            <a:r>
              <a:rPr lang="en-GB" sz="1100">
                <a:solidFill>
                  <a:srgbClr val="00084D"/>
                </a:solidFill>
                <a:latin typeface="Maven Pro"/>
                <a:ea typeface="Maven Pro"/>
                <a:cs typeface="Maven Pro"/>
                <a:sym typeface="Maven Pro"/>
              </a:rPr>
              <a:t> : Téléchargez toutes les images étiquetées dans le repo.</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-q</a:t>
            </a:r>
            <a:r>
              <a:rPr lang="en-GB" sz="1100">
                <a:solidFill>
                  <a:srgbClr val="00084D"/>
                </a:solidFill>
                <a:latin typeface="Maven Pro"/>
                <a:ea typeface="Maven Pro"/>
                <a:cs typeface="Maven Pro"/>
                <a:sym typeface="Maven Pro"/>
              </a:rPr>
              <a:t> ou </a:t>
            </a:r>
            <a:r>
              <a:rPr lang="en-GB" sz="1100">
                <a:solidFill>
                  <a:srgbClr val="00084D"/>
                </a:solidFill>
                <a:highlight>
                  <a:srgbClr val="B7B7B7"/>
                </a:highlight>
                <a:latin typeface="Maven Pro"/>
                <a:ea typeface="Maven Pro"/>
                <a:cs typeface="Maven Pro"/>
                <a:sym typeface="Maven Pro"/>
              </a:rPr>
              <a:t>--quiet</a:t>
            </a:r>
            <a:r>
              <a:rPr lang="en-GB" sz="1100">
                <a:solidFill>
                  <a:srgbClr val="00084D"/>
                </a:solidFill>
                <a:latin typeface="Maven Pro"/>
                <a:ea typeface="Maven Pro"/>
                <a:cs typeface="Maven Pro"/>
                <a:sym typeface="Maven Pro"/>
              </a:rPr>
              <a:t> : Supprimer la sortie verbeuse.</a:t>
            </a:r>
            <a:endParaRPr sz="1100">
              <a:solidFill>
                <a:srgbClr val="00084D"/>
              </a:solidFill>
              <a:latin typeface="Maven Pro"/>
              <a:ea typeface="Maven Pro"/>
              <a:cs typeface="Maven Pro"/>
              <a:sym typeface="Maven Pro"/>
            </a:endParaRPr>
          </a:p>
        </p:txBody>
      </p:sp>
      <p:sp>
        <p:nvSpPr>
          <p:cNvPr id="842" name="Google Shape;842;p85"/>
          <p:cNvSpPr txBox="1"/>
          <p:nvPr/>
        </p:nvSpPr>
        <p:spPr>
          <a:xfrm>
            <a:off x="687900" y="1630775"/>
            <a:ext cx="7768200" cy="548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a:t>
            </a:r>
            <a:r>
              <a:rPr lang="en-GB" sz="1100">
                <a:solidFill>
                  <a:srgbClr val="00084D"/>
                </a:solidFill>
                <a:latin typeface="Maven Pro Medium"/>
                <a:ea typeface="Maven Pro Medium"/>
                <a:cs typeface="Maven Pro Medium"/>
                <a:sym typeface="Maven Pro Medium"/>
              </a:rPr>
              <a:t>docker pull</a:t>
            </a:r>
            <a:r>
              <a:rPr lang="en-GB" sz="1100">
                <a:solidFill>
                  <a:srgbClr val="00084D"/>
                </a:solidFill>
                <a:latin typeface="Maven Pro"/>
                <a:ea typeface="Maven Pro"/>
                <a:cs typeface="Maven Pro"/>
                <a:sym typeface="Maven Pro"/>
              </a:rPr>
              <a:t> permet de télécharger une image depuis un registre Docker, tel que Docker Hub, vers votre machine locale.</a:t>
            </a:r>
            <a:endParaRPr sz="1100">
              <a:solidFill>
                <a:srgbClr val="00084D"/>
              </a:solidFill>
              <a:latin typeface="Maven Pro"/>
              <a:ea typeface="Maven Pro"/>
              <a:cs typeface="Maven Pro"/>
              <a:sym typeface="Maven Pro"/>
            </a:endParaRPr>
          </a:p>
        </p:txBody>
      </p:sp>
      <p:sp>
        <p:nvSpPr>
          <p:cNvPr id="843" name="Google Shape;843;p85"/>
          <p:cNvSpPr txBox="1"/>
          <p:nvPr/>
        </p:nvSpPr>
        <p:spPr>
          <a:xfrm>
            <a:off x="687900" y="3484630"/>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pull [OPTIONS] NAME[:TAG|@DIGEST]</a:t>
            </a:r>
            <a:endParaRPr sz="1100">
              <a:solidFill>
                <a:srgbClr val="00084D"/>
              </a:solidFill>
              <a:latin typeface="Maven Pro"/>
              <a:ea typeface="Maven Pro"/>
              <a:cs typeface="Maven Pro"/>
              <a:sym typeface="Maven Pro"/>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86"/>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849" name="Google Shape;849;p8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 docker rename command</a:t>
            </a:r>
            <a:endParaRPr sz="2000">
              <a:solidFill>
                <a:srgbClr val="073763"/>
              </a:solidFill>
              <a:latin typeface="Maven Pro"/>
              <a:ea typeface="Maven Pro"/>
              <a:cs typeface="Maven Pro"/>
              <a:sym typeface="Maven Pro"/>
            </a:endParaRPr>
          </a:p>
        </p:txBody>
      </p:sp>
      <p:pic>
        <p:nvPicPr>
          <p:cNvPr id="850" name="Google Shape;850;p8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851" name="Google Shape;851;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52" name="Google Shape;852;p86"/>
          <p:cNvSpPr txBox="1"/>
          <p:nvPr/>
        </p:nvSpPr>
        <p:spPr>
          <a:xfrm>
            <a:off x="687900" y="1630775"/>
            <a:ext cx="7768200" cy="354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a:t>
            </a:r>
            <a:r>
              <a:rPr lang="en-GB" sz="1100">
                <a:solidFill>
                  <a:srgbClr val="00084D"/>
                </a:solidFill>
                <a:latin typeface="Maven Pro Medium"/>
                <a:ea typeface="Maven Pro Medium"/>
                <a:cs typeface="Maven Pro Medium"/>
                <a:sym typeface="Maven Pro Medium"/>
              </a:rPr>
              <a:t>docker rename</a:t>
            </a:r>
            <a:r>
              <a:rPr lang="en-GB" sz="1100">
                <a:solidFill>
                  <a:srgbClr val="00084D"/>
                </a:solidFill>
                <a:latin typeface="Maven Pro"/>
                <a:ea typeface="Maven Pro"/>
                <a:cs typeface="Maven Pro"/>
                <a:sym typeface="Maven Pro"/>
              </a:rPr>
              <a:t> permet de renommer une image Docker.</a:t>
            </a:r>
            <a:endParaRPr sz="1100">
              <a:solidFill>
                <a:srgbClr val="00084D"/>
              </a:solidFill>
              <a:latin typeface="Maven Pro"/>
              <a:ea typeface="Maven Pro"/>
              <a:cs typeface="Maven Pro"/>
              <a:sym typeface="Maven Pro"/>
            </a:endParaRPr>
          </a:p>
        </p:txBody>
      </p:sp>
      <p:sp>
        <p:nvSpPr>
          <p:cNvPr id="853" name="Google Shape;853;p86"/>
          <p:cNvSpPr txBox="1"/>
          <p:nvPr/>
        </p:nvSpPr>
        <p:spPr>
          <a:xfrm>
            <a:off x="548400" y="2163805"/>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rename CONTAINER NEW_NAME</a:t>
            </a:r>
            <a:endParaRPr sz="1100">
              <a:solidFill>
                <a:srgbClr val="00084D"/>
              </a:solidFill>
              <a:latin typeface="Maven Pro"/>
              <a:ea typeface="Maven Pro"/>
              <a:cs typeface="Maven Pro"/>
              <a:sym typeface="Maven Pro"/>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87"/>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859" name="Google Shape;859;p8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 docker rmi command</a:t>
            </a:r>
            <a:endParaRPr sz="2000">
              <a:solidFill>
                <a:srgbClr val="073763"/>
              </a:solidFill>
              <a:latin typeface="Maven Pro"/>
              <a:ea typeface="Maven Pro"/>
              <a:cs typeface="Maven Pro"/>
              <a:sym typeface="Maven Pro"/>
            </a:endParaRPr>
          </a:p>
        </p:txBody>
      </p:sp>
      <p:pic>
        <p:nvPicPr>
          <p:cNvPr id="860" name="Google Shape;860;p8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861" name="Google Shape;861;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62" name="Google Shape;862;p87"/>
          <p:cNvSpPr txBox="1"/>
          <p:nvPr/>
        </p:nvSpPr>
        <p:spPr>
          <a:xfrm>
            <a:off x="687900" y="1630775"/>
            <a:ext cx="7768200" cy="548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docker rmi est utilisée pour supprimer une ou plusieurs images Docker locales. Cela peut être utile pour libérer de l'espace disque</a:t>
            </a:r>
            <a:r>
              <a:rPr lang="en-GB" sz="1100">
                <a:solidFill>
                  <a:schemeClr val="dk1"/>
                </a:solidFill>
              </a:rPr>
              <a:t>.</a:t>
            </a:r>
            <a:endParaRPr sz="1100">
              <a:solidFill>
                <a:srgbClr val="00084D"/>
              </a:solidFill>
              <a:latin typeface="Maven Pro"/>
              <a:ea typeface="Maven Pro"/>
              <a:cs typeface="Maven Pro"/>
              <a:sym typeface="Maven Pro"/>
            </a:endParaRPr>
          </a:p>
        </p:txBody>
      </p:sp>
      <p:sp>
        <p:nvSpPr>
          <p:cNvPr id="863" name="Google Shape;863;p87"/>
          <p:cNvSpPr txBox="1"/>
          <p:nvPr/>
        </p:nvSpPr>
        <p:spPr>
          <a:xfrm>
            <a:off x="548400" y="3463655"/>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rmi [OPTIONS] IMAGE [IMAGE………]</a:t>
            </a:r>
            <a:endParaRPr sz="1100">
              <a:solidFill>
                <a:srgbClr val="00084D"/>
              </a:solidFill>
              <a:latin typeface="Maven Pro"/>
              <a:ea typeface="Maven Pro"/>
              <a:cs typeface="Maven Pro"/>
              <a:sym typeface="Maven Pro"/>
            </a:endParaRPr>
          </a:p>
        </p:txBody>
      </p:sp>
      <p:sp>
        <p:nvSpPr>
          <p:cNvPr id="864" name="Google Shape;864;p87"/>
          <p:cNvSpPr txBox="1"/>
          <p:nvPr/>
        </p:nvSpPr>
        <p:spPr>
          <a:xfrm>
            <a:off x="687900" y="2201438"/>
            <a:ext cx="7768200" cy="871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SemiBold"/>
                <a:ea typeface="Maven Pro SemiBold"/>
                <a:cs typeface="Maven Pro SemiBold"/>
                <a:sym typeface="Maven Pro SemiBold"/>
              </a:rPr>
              <a:t>Options :</a:t>
            </a:r>
            <a:endParaRPr sz="1100">
              <a:solidFill>
                <a:srgbClr val="00084D"/>
              </a:solidFill>
              <a:latin typeface="Maven Pro SemiBold"/>
              <a:ea typeface="Maven Pro SemiBold"/>
              <a:cs typeface="Maven Pro SemiBold"/>
              <a:sym typeface="Maven Pro SemiBold"/>
            </a:endParaRPr>
          </a:p>
          <a:p>
            <a:pPr indent="-298450" lvl="0" marL="457200" marR="0" rtl="0" algn="just">
              <a:lnSpc>
                <a:spcPct val="115000"/>
              </a:lnSpc>
              <a:spcBef>
                <a:spcPts val="100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-f</a:t>
            </a:r>
            <a:r>
              <a:rPr lang="en-GB" sz="1100">
                <a:solidFill>
                  <a:srgbClr val="00084D"/>
                </a:solidFill>
                <a:latin typeface="Maven Pro"/>
                <a:ea typeface="Maven Pro"/>
                <a:cs typeface="Maven Pro"/>
                <a:sym typeface="Maven Pro"/>
              </a:rPr>
              <a:t> ou</a:t>
            </a:r>
            <a:r>
              <a:rPr lang="en-GB" sz="1100">
                <a:solidFill>
                  <a:srgbClr val="00084D"/>
                </a:solidFill>
                <a:highlight>
                  <a:srgbClr val="B7B7B7"/>
                </a:highlight>
                <a:latin typeface="Maven Pro"/>
                <a:ea typeface="Maven Pro"/>
                <a:cs typeface="Maven Pro"/>
                <a:sym typeface="Maven Pro"/>
              </a:rPr>
              <a:t> --force</a:t>
            </a:r>
            <a:r>
              <a:rPr lang="en-GB" sz="1100">
                <a:solidFill>
                  <a:srgbClr val="00084D"/>
                </a:solidFill>
                <a:latin typeface="Maven Pro"/>
                <a:ea typeface="Maven Pro"/>
                <a:cs typeface="Maven Pro"/>
                <a:sym typeface="Maven Pro"/>
              </a:rPr>
              <a:t> : Supprime une image, même si elle est utilisée par des conteneurs.</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--no-prune</a:t>
            </a:r>
            <a:r>
              <a:rPr lang="en-GB" sz="1100">
                <a:solidFill>
                  <a:srgbClr val="00084D"/>
                </a:solidFill>
                <a:latin typeface="Maven Pro"/>
                <a:ea typeface="Maven Pro"/>
                <a:cs typeface="Maven Pro"/>
                <a:sym typeface="Maven Pro"/>
              </a:rPr>
              <a:t> : Ne supprime pas les images "dangling" (sans tag).</a:t>
            </a:r>
            <a:endParaRPr sz="1100">
              <a:solidFill>
                <a:srgbClr val="00084D"/>
              </a:solidFill>
              <a:latin typeface="Maven Pro"/>
              <a:ea typeface="Maven Pro"/>
              <a:cs typeface="Maven Pro"/>
              <a:sym typeface="Maven Pro"/>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88"/>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870" name="Google Shape;870;p8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 docker search command</a:t>
            </a:r>
            <a:endParaRPr sz="2000">
              <a:solidFill>
                <a:srgbClr val="073763"/>
              </a:solidFill>
              <a:latin typeface="Maven Pro"/>
              <a:ea typeface="Maven Pro"/>
              <a:cs typeface="Maven Pro"/>
              <a:sym typeface="Maven Pro"/>
            </a:endParaRPr>
          </a:p>
        </p:txBody>
      </p:sp>
      <p:pic>
        <p:nvPicPr>
          <p:cNvPr id="871" name="Google Shape;871;p8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872" name="Google Shape;872;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73" name="Google Shape;873;p88"/>
          <p:cNvSpPr txBox="1"/>
          <p:nvPr/>
        </p:nvSpPr>
        <p:spPr>
          <a:xfrm>
            <a:off x="687900" y="1630775"/>
            <a:ext cx="7768200" cy="3540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docker search permet de rechercher une image dans le registre Docker Hub.</a:t>
            </a:r>
            <a:endParaRPr sz="1100">
              <a:solidFill>
                <a:srgbClr val="00084D"/>
              </a:solidFill>
              <a:latin typeface="Maven Pro"/>
              <a:ea typeface="Maven Pro"/>
              <a:cs typeface="Maven Pro"/>
              <a:sym typeface="Maven Pro"/>
            </a:endParaRPr>
          </a:p>
        </p:txBody>
      </p:sp>
      <p:sp>
        <p:nvSpPr>
          <p:cNvPr id="874" name="Google Shape;874;p88"/>
          <p:cNvSpPr txBox="1"/>
          <p:nvPr/>
        </p:nvSpPr>
        <p:spPr>
          <a:xfrm>
            <a:off x="548400" y="3463655"/>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rmi [OPTIONS] TERM</a:t>
            </a:r>
            <a:endParaRPr sz="1100">
              <a:solidFill>
                <a:srgbClr val="00084D"/>
              </a:solidFill>
              <a:latin typeface="Maven Pro"/>
              <a:ea typeface="Maven Pro"/>
              <a:cs typeface="Maven Pro"/>
              <a:sym typeface="Maven Pro"/>
            </a:endParaRPr>
          </a:p>
        </p:txBody>
      </p:sp>
      <p:sp>
        <p:nvSpPr>
          <p:cNvPr id="875" name="Google Shape;875;p88"/>
          <p:cNvSpPr txBox="1"/>
          <p:nvPr/>
        </p:nvSpPr>
        <p:spPr>
          <a:xfrm>
            <a:off x="687900" y="2201438"/>
            <a:ext cx="7768200" cy="10665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SemiBold"/>
                <a:ea typeface="Maven Pro SemiBold"/>
                <a:cs typeface="Maven Pro SemiBold"/>
                <a:sym typeface="Maven Pro SemiBold"/>
              </a:rPr>
              <a:t>Options :</a:t>
            </a:r>
            <a:endParaRPr sz="1100">
              <a:solidFill>
                <a:srgbClr val="00084D"/>
              </a:solidFill>
              <a:latin typeface="Maven Pro SemiBold"/>
              <a:ea typeface="Maven Pro SemiBold"/>
              <a:cs typeface="Maven Pro SemiBold"/>
              <a:sym typeface="Maven Pro SemiBold"/>
            </a:endParaRPr>
          </a:p>
          <a:p>
            <a:pPr indent="-298450" lvl="0" marL="457200" marR="0" rtl="0" algn="just">
              <a:lnSpc>
                <a:spcPct val="115000"/>
              </a:lnSpc>
              <a:spcBef>
                <a:spcPts val="100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--filter</a:t>
            </a:r>
            <a:r>
              <a:rPr lang="en-GB" sz="1100">
                <a:solidFill>
                  <a:srgbClr val="00084D"/>
                </a:solidFill>
                <a:latin typeface="Maven Pro"/>
                <a:ea typeface="Maven Pro"/>
                <a:cs typeface="Maven Pro"/>
                <a:sym typeface="Maven Pro"/>
              </a:rPr>
              <a:t> : </a:t>
            </a:r>
            <a:r>
              <a:rPr lang="en-GB" sz="1100">
                <a:solidFill>
                  <a:srgbClr val="00084D"/>
                </a:solidFill>
                <a:latin typeface="Maven Pro"/>
                <a:ea typeface="Maven Pro"/>
                <a:cs typeface="Maven Pro"/>
                <a:sym typeface="Maven Pro"/>
              </a:rPr>
              <a:t>Permet de filtrer les résultats de la recherche. Par exemple, </a:t>
            </a:r>
            <a:r>
              <a:rPr lang="en-GB" sz="1100">
                <a:solidFill>
                  <a:srgbClr val="00084D"/>
                </a:solidFill>
                <a:highlight>
                  <a:srgbClr val="B7B7B7"/>
                </a:highlight>
                <a:latin typeface="Maven Pro"/>
                <a:ea typeface="Maven Pro"/>
                <a:cs typeface="Maven Pro"/>
                <a:sym typeface="Maven Pro"/>
              </a:rPr>
              <a:t>--filter is-official=true</a:t>
            </a:r>
            <a:r>
              <a:rPr lang="en-GB" sz="1100">
                <a:solidFill>
                  <a:srgbClr val="00084D"/>
                </a:solidFill>
                <a:latin typeface="Maven Pro"/>
                <a:ea typeface="Maven Pro"/>
                <a:cs typeface="Maven Pro"/>
                <a:sym typeface="Maven Pro"/>
              </a:rPr>
              <a:t> pour afficher uniquement les images officielles.</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--limit</a:t>
            </a:r>
            <a:r>
              <a:rPr lang="en-GB" sz="1100">
                <a:solidFill>
                  <a:srgbClr val="00084D"/>
                </a:solidFill>
                <a:latin typeface="Maven Pro"/>
                <a:ea typeface="Maven Pro"/>
                <a:cs typeface="Maven Pro"/>
                <a:sym typeface="Maven Pro"/>
              </a:rPr>
              <a:t> : </a:t>
            </a:r>
            <a:r>
              <a:rPr lang="en-GB" sz="1100">
                <a:solidFill>
                  <a:srgbClr val="00084D"/>
                </a:solidFill>
                <a:latin typeface="Maven Pro"/>
                <a:ea typeface="Maven Pro"/>
                <a:cs typeface="Maven Pro"/>
                <a:sym typeface="Maven Pro"/>
              </a:rPr>
              <a:t>Limite le nombre de résultats retournés.</a:t>
            </a:r>
            <a:endParaRPr sz="1100">
              <a:solidFill>
                <a:srgbClr val="00084D"/>
              </a:solidFill>
              <a:latin typeface="Maven Pro"/>
              <a:ea typeface="Maven Pro"/>
              <a:cs typeface="Maven Pro"/>
              <a:sym typeface="Maven Pr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89"/>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881" name="Google Shape;881;p8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 docker inspect command</a:t>
            </a:r>
            <a:endParaRPr sz="2000">
              <a:solidFill>
                <a:srgbClr val="073763"/>
              </a:solidFill>
              <a:latin typeface="Maven Pro"/>
              <a:ea typeface="Maven Pro"/>
              <a:cs typeface="Maven Pro"/>
              <a:sym typeface="Maven Pro"/>
            </a:endParaRPr>
          </a:p>
        </p:txBody>
      </p:sp>
      <p:pic>
        <p:nvPicPr>
          <p:cNvPr id="882" name="Google Shape;882;p8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883" name="Google Shape;883;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84" name="Google Shape;884;p89"/>
          <p:cNvSpPr txBox="1"/>
          <p:nvPr/>
        </p:nvSpPr>
        <p:spPr>
          <a:xfrm>
            <a:off x="687900" y="1630775"/>
            <a:ext cx="7768200" cy="548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docker inspect permet d'obtenir des informations détaillées sur une image ou un conteneur, telles que sa configuration, les volumes, les ports exposés, etc.</a:t>
            </a:r>
            <a:endParaRPr sz="1100">
              <a:solidFill>
                <a:srgbClr val="00084D"/>
              </a:solidFill>
              <a:latin typeface="Maven Pro"/>
              <a:ea typeface="Maven Pro"/>
              <a:cs typeface="Maven Pro"/>
              <a:sym typeface="Maven Pro"/>
            </a:endParaRPr>
          </a:p>
        </p:txBody>
      </p:sp>
      <p:sp>
        <p:nvSpPr>
          <p:cNvPr id="885" name="Google Shape;885;p89"/>
          <p:cNvSpPr txBox="1"/>
          <p:nvPr/>
        </p:nvSpPr>
        <p:spPr>
          <a:xfrm>
            <a:off x="548400" y="2571755"/>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inspect [OPTIONS] NAME|ID [NAME|ID...]</a:t>
            </a:r>
            <a:endParaRPr sz="1100">
              <a:solidFill>
                <a:srgbClr val="00084D"/>
              </a:solidFill>
              <a:latin typeface="Maven Pro"/>
              <a:ea typeface="Maven Pro"/>
              <a:cs typeface="Maven Pro"/>
              <a:sym typeface="Maven Pr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90"/>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891" name="Google Shape;891;p9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 docker tag command</a:t>
            </a:r>
            <a:endParaRPr sz="2000">
              <a:solidFill>
                <a:srgbClr val="073763"/>
              </a:solidFill>
              <a:latin typeface="Maven Pro"/>
              <a:ea typeface="Maven Pro"/>
              <a:cs typeface="Maven Pro"/>
              <a:sym typeface="Maven Pro"/>
            </a:endParaRPr>
          </a:p>
        </p:txBody>
      </p:sp>
      <p:pic>
        <p:nvPicPr>
          <p:cNvPr id="892" name="Google Shape;892;p9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893" name="Google Shape;893;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94" name="Google Shape;894;p90"/>
          <p:cNvSpPr txBox="1"/>
          <p:nvPr/>
        </p:nvSpPr>
        <p:spPr>
          <a:xfrm>
            <a:off x="687900" y="1630775"/>
            <a:ext cx="7768200" cy="548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docker tag permet de créer un alias pour une image. Cela peut être utile pour marquer une image avec plusieurs tags, par exemple, pour gérer des versions différentes.</a:t>
            </a:r>
            <a:endParaRPr sz="1100">
              <a:solidFill>
                <a:srgbClr val="00084D"/>
              </a:solidFill>
              <a:latin typeface="Maven Pro"/>
              <a:ea typeface="Maven Pro"/>
              <a:cs typeface="Maven Pro"/>
              <a:sym typeface="Maven Pro"/>
            </a:endParaRPr>
          </a:p>
        </p:txBody>
      </p:sp>
      <p:sp>
        <p:nvSpPr>
          <p:cNvPr id="895" name="Google Shape;895;p90"/>
          <p:cNvSpPr txBox="1"/>
          <p:nvPr/>
        </p:nvSpPr>
        <p:spPr>
          <a:xfrm>
            <a:off x="548400" y="2571755"/>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tag SOURCE_IMAGE[:TAG] TARGET_IMAGE[:TAG]</a:t>
            </a:r>
            <a:endParaRPr sz="1100">
              <a:solidFill>
                <a:srgbClr val="00084D"/>
              </a:solidFill>
              <a:latin typeface="Maven Pro"/>
              <a:ea typeface="Maven Pro"/>
              <a:cs typeface="Maven Pro"/>
              <a:sym typeface="Maven Pr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91"/>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01" name="Google Shape;901;p9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 docker push command</a:t>
            </a:r>
            <a:endParaRPr sz="2000">
              <a:solidFill>
                <a:srgbClr val="073763"/>
              </a:solidFill>
              <a:latin typeface="Maven Pro"/>
              <a:ea typeface="Maven Pro"/>
              <a:cs typeface="Maven Pro"/>
              <a:sym typeface="Maven Pro"/>
            </a:endParaRPr>
          </a:p>
        </p:txBody>
      </p:sp>
      <p:pic>
        <p:nvPicPr>
          <p:cNvPr id="902" name="Google Shape;902;p9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903" name="Google Shape;903;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04" name="Google Shape;904;p91"/>
          <p:cNvSpPr txBox="1"/>
          <p:nvPr/>
        </p:nvSpPr>
        <p:spPr>
          <a:xfrm>
            <a:off x="687900" y="1630775"/>
            <a:ext cx="7768200" cy="548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docker push permet d'envoyer une image Docker de votre machine locale vers un registre distant (par exemple Docker Hub).</a:t>
            </a:r>
            <a:endParaRPr sz="1100">
              <a:solidFill>
                <a:srgbClr val="00084D"/>
              </a:solidFill>
              <a:latin typeface="Maven Pro"/>
              <a:ea typeface="Maven Pro"/>
              <a:cs typeface="Maven Pro"/>
              <a:sym typeface="Maven Pro"/>
            </a:endParaRPr>
          </a:p>
        </p:txBody>
      </p:sp>
      <p:sp>
        <p:nvSpPr>
          <p:cNvPr id="905" name="Google Shape;905;p91"/>
          <p:cNvSpPr txBox="1"/>
          <p:nvPr/>
        </p:nvSpPr>
        <p:spPr>
          <a:xfrm>
            <a:off x="548400" y="2571755"/>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push [OPTIONS] NAME[:TAG]</a:t>
            </a:r>
            <a:endParaRPr sz="1100">
              <a:solidFill>
                <a:srgbClr val="00084D"/>
              </a:solidFill>
              <a:latin typeface="Maven Pro"/>
              <a:ea typeface="Maven Pro"/>
              <a:cs typeface="Maven Pro"/>
              <a:sym typeface="Maven Pro"/>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92"/>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11" name="Google Shape;911;p9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 docker save &amp; load command</a:t>
            </a:r>
            <a:endParaRPr sz="2000">
              <a:solidFill>
                <a:srgbClr val="073763"/>
              </a:solidFill>
              <a:latin typeface="Maven Pro"/>
              <a:ea typeface="Maven Pro"/>
              <a:cs typeface="Maven Pro"/>
              <a:sym typeface="Maven Pro"/>
            </a:endParaRPr>
          </a:p>
        </p:txBody>
      </p:sp>
      <p:pic>
        <p:nvPicPr>
          <p:cNvPr id="912" name="Google Shape;912;p9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913" name="Google Shape;913;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14" name="Google Shape;914;p92"/>
          <p:cNvSpPr txBox="1"/>
          <p:nvPr/>
        </p:nvSpPr>
        <p:spPr>
          <a:xfrm>
            <a:off x="687900" y="1630775"/>
            <a:ext cx="7768200" cy="548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docker save permet de sauvegarder une image Docker dans un fichier tar, tandis que docker load permet de charger une image depuis un fichier tar.</a:t>
            </a:r>
            <a:endParaRPr sz="1100">
              <a:solidFill>
                <a:srgbClr val="00084D"/>
              </a:solidFill>
              <a:latin typeface="Maven Pro"/>
              <a:ea typeface="Maven Pro"/>
              <a:cs typeface="Maven Pro"/>
              <a:sym typeface="Maven Pro"/>
            </a:endParaRPr>
          </a:p>
        </p:txBody>
      </p:sp>
      <p:sp>
        <p:nvSpPr>
          <p:cNvPr id="915" name="Google Shape;915;p92"/>
          <p:cNvSpPr txBox="1"/>
          <p:nvPr/>
        </p:nvSpPr>
        <p:spPr>
          <a:xfrm>
            <a:off x="548400" y="2571755"/>
            <a:ext cx="7768200" cy="1149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0"/>
              </a:spcAft>
              <a:buNone/>
            </a:pPr>
            <a:r>
              <a:rPr lang="en-GB" sz="1500">
                <a:solidFill>
                  <a:schemeClr val="lt1"/>
                </a:solidFill>
                <a:highlight>
                  <a:schemeClr val="dk1"/>
                </a:highlight>
                <a:latin typeface="Courier New"/>
                <a:ea typeface="Courier New"/>
                <a:cs typeface="Courier New"/>
                <a:sym typeface="Courier New"/>
              </a:rPr>
              <a:t>$ docker load -i &lt;fichier.tar&gt;</a:t>
            </a:r>
            <a:endParaRPr sz="1500">
              <a:solidFill>
                <a:schemeClr val="lt1"/>
              </a:solidFill>
              <a:highlight>
                <a:schemeClr val="dk1"/>
              </a:highlight>
              <a:latin typeface="Courier New"/>
              <a:ea typeface="Courier New"/>
              <a:cs typeface="Courier New"/>
              <a:sym typeface="Courier New"/>
            </a:endParaRPr>
          </a:p>
          <a:p>
            <a:pPr indent="457200" lvl="0" marL="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push [OPTIONS] NAME[:TAG]</a:t>
            </a:r>
            <a:endParaRPr sz="1100">
              <a:solidFill>
                <a:srgbClr val="00084D"/>
              </a:solidFill>
              <a:latin typeface="Maven Pro"/>
              <a:ea typeface="Maven Pro"/>
              <a:cs typeface="Maven Pro"/>
              <a:sym typeface="Maven Pro"/>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93"/>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21" name="Google Shape;921;p9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 docker image prune command</a:t>
            </a:r>
            <a:endParaRPr sz="2000">
              <a:solidFill>
                <a:srgbClr val="073763"/>
              </a:solidFill>
              <a:latin typeface="Maven Pro"/>
              <a:ea typeface="Maven Pro"/>
              <a:cs typeface="Maven Pro"/>
              <a:sym typeface="Maven Pro"/>
            </a:endParaRPr>
          </a:p>
        </p:txBody>
      </p:sp>
      <p:pic>
        <p:nvPicPr>
          <p:cNvPr id="922" name="Google Shape;922;p9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923" name="Google Shape;923;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24" name="Google Shape;924;p93"/>
          <p:cNvSpPr txBox="1"/>
          <p:nvPr/>
        </p:nvSpPr>
        <p:spPr>
          <a:xfrm>
            <a:off x="687900" y="1630775"/>
            <a:ext cx="7768200" cy="5487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1000"/>
              </a:spcAft>
              <a:buNone/>
            </a:pPr>
            <a:r>
              <a:rPr lang="en-GB" sz="1100">
                <a:solidFill>
                  <a:srgbClr val="00084D"/>
                </a:solidFill>
                <a:latin typeface="Maven Pro"/>
                <a:ea typeface="Maven Pro"/>
                <a:cs typeface="Maven Pro"/>
                <a:sym typeface="Maven Pro"/>
              </a:rPr>
              <a:t>La commande docker image prune permet de supprimer toutes les images inutilisées ou "dangling", c'est-à-dire les images qui ne sont plus utilisées par aucun conteneur et qui ne possèdent aucun tag.</a:t>
            </a:r>
            <a:endParaRPr sz="1100">
              <a:solidFill>
                <a:srgbClr val="00084D"/>
              </a:solidFill>
              <a:latin typeface="Maven Pro"/>
              <a:ea typeface="Maven Pro"/>
              <a:cs typeface="Maven Pro"/>
              <a:sym typeface="Maven Pro"/>
            </a:endParaRPr>
          </a:p>
        </p:txBody>
      </p:sp>
      <p:sp>
        <p:nvSpPr>
          <p:cNvPr id="925" name="Google Shape;925;p93"/>
          <p:cNvSpPr txBox="1"/>
          <p:nvPr/>
        </p:nvSpPr>
        <p:spPr>
          <a:xfrm>
            <a:off x="687900" y="3410380"/>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 docker image prune [OPTIONS]</a:t>
            </a:r>
            <a:endParaRPr sz="1100">
              <a:solidFill>
                <a:srgbClr val="00084D"/>
              </a:solidFill>
              <a:latin typeface="Maven Pro"/>
              <a:ea typeface="Maven Pro"/>
              <a:cs typeface="Maven Pro"/>
              <a:sym typeface="Maven Pro"/>
            </a:endParaRPr>
          </a:p>
        </p:txBody>
      </p:sp>
      <p:sp>
        <p:nvSpPr>
          <p:cNvPr id="926" name="Google Shape;926;p93"/>
          <p:cNvSpPr txBox="1"/>
          <p:nvPr/>
        </p:nvSpPr>
        <p:spPr>
          <a:xfrm>
            <a:off x="687900" y="2201438"/>
            <a:ext cx="7768200" cy="871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SemiBold"/>
                <a:ea typeface="Maven Pro SemiBold"/>
                <a:cs typeface="Maven Pro SemiBold"/>
                <a:sym typeface="Maven Pro SemiBold"/>
              </a:rPr>
              <a:t>Options :</a:t>
            </a:r>
            <a:endParaRPr sz="1100">
              <a:solidFill>
                <a:srgbClr val="00084D"/>
              </a:solidFill>
              <a:latin typeface="Maven Pro SemiBold"/>
              <a:ea typeface="Maven Pro SemiBold"/>
              <a:cs typeface="Maven Pro SemiBold"/>
              <a:sym typeface="Maven Pro SemiBold"/>
            </a:endParaRPr>
          </a:p>
          <a:p>
            <a:pPr indent="-298450" lvl="0" marL="457200" marR="0" rtl="0" algn="just">
              <a:lnSpc>
                <a:spcPct val="115000"/>
              </a:lnSpc>
              <a:spcBef>
                <a:spcPts val="100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-a ou </a:t>
            </a:r>
            <a:r>
              <a:rPr lang="en-GB" sz="1100">
                <a:solidFill>
                  <a:srgbClr val="00084D"/>
                </a:solidFill>
                <a:highlight>
                  <a:srgbClr val="B7B7B7"/>
                </a:highlight>
                <a:latin typeface="Maven Pro"/>
                <a:ea typeface="Maven Pro"/>
                <a:cs typeface="Maven Pro"/>
                <a:sym typeface="Maven Pro"/>
              </a:rPr>
              <a:t>--all</a:t>
            </a:r>
            <a:r>
              <a:rPr lang="en-GB" sz="1100">
                <a:solidFill>
                  <a:srgbClr val="00084D"/>
                </a:solidFill>
                <a:latin typeface="Maven Pro"/>
                <a:ea typeface="Maven Pro"/>
                <a:cs typeface="Maven Pro"/>
                <a:sym typeface="Maven Pro"/>
              </a:rPr>
              <a:t> :  Supprime toutes les images inutilisées, pas seulement celles sans tag.</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highlight>
                  <a:srgbClr val="B7B7B7"/>
                </a:highlight>
                <a:latin typeface="Maven Pro"/>
                <a:ea typeface="Maven Pro"/>
                <a:cs typeface="Maven Pro"/>
                <a:sym typeface="Maven Pro"/>
              </a:rPr>
              <a:t>-f, </a:t>
            </a:r>
            <a:r>
              <a:rPr lang="en-GB" sz="1100">
                <a:solidFill>
                  <a:srgbClr val="00084D"/>
                </a:solidFill>
                <a:highlight>
                  <a:srgbClr val="B7B7B7"/>
                </a:highlight>
                <a:latin typeface="Maven Pro"/>
                <a:ea typeface="Maven Pro"/>
                <a:cs typeface="Maven Pro"/>
                <a:sym typeface="Maven Pro"/>
              </a:rPr>
              <a:t>--force</a:t>
            </a:r>
            <a:r>
              <a:rPr lang="en-GB" sz="1100">
                <a:solidFill>
                  <a:srgbClr val="00084D"/>
                </a:solidFill>
                <a:latin typeface="Maven Pro"/>
                <a:ea typeface="Maven Pro"/>
                <a:cs typeface="Maven Pro"/>
                <a:sym typeface="Maven Pro"/>
              </a:rPr>
              <a:t> : Force la suppression sans demander de confirmation</a:t>
            </a:r>
            <a:endParaRPr sz="1100">
              <a:solidFill>
                <a:srgbClr val="00084D"/>
              </a:solidFill>
              <a:latin typeface="Maven Pro"/>
              <a:ea typeface="Maven Pro"/>
              <a:cs typeface="Maven Pro"/>
              <a:sym typeface="Maven Pro"/>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94"/>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32" name="Google Shape;932;p94"/>
          <p:cNvSpPr txBox="1"/>
          <p:nvPr/>
        </p:nvSpPr>
        <p:spPr>
          <a:xfrm>
            <a:off x="548400" y="446150"/>
            <a:ext cx="69963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Managing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Résumé des commandes principales pour la gestion des images Docker :</a:t>
            </a:r>
            <a:endParaRPr sz="2000">
              <a:solidFill>
                <a:srgbClr val="073763"/>
              </a:solidFill>
              <a:latin typeface="Maven Pro"/>
              <a:ea typeface="Maven Pro"/>
              <a:cs typeface="Maven Pro"/>
              <a:sym typeface="Maven Pro"/>
            </a:endParaRPr>
          </a:p>
        </p:txBody>
      </p:sp>
      <p:pic>
        <p:nvPicPr>
          <p:cNvPr id="933" name="Google Shape;933;p9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934" name="Google Shape;934;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35" name="Google Shape;935;p94"/>
          <p:cNvSpPr txBox="1"/>
          <p:nvPr/>
        </p:nvSpPr>
        <p:spPr>
          <a:xfrm>
            <a:off x="687900" y="1630775"/>
            <a:ext cx="7768200" cy="2495700"/>
          </a:xfrm>
          <a:prstGeom prst="rect">
            <a:avLst/>
          </a:prstGeom>
          <a:noFill/>
          <a:ln>
            <a:noFill/>
          </a:ln>
        </p:spPr>
        <p:txBody>
          <a:bodyPr anchorCtr="0" anchor="t" bIns="91425" lIns="91425" spcFirstLastPara="1" rIns="91425" wrap="square" tIns="91425">
            <a:spAutoFit/>
          </a:bodyPr>
          <a:lstStyle/>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images </a:t>
            </a:r>
            <a:r>
              <a:rPr lang="en-GB" sz="1100">
                <a:solidFill>
                  <a:srgbClr val="00084D"/>
                </a:solidFill>
                <a:latin typeface="Maven Pro"/>
                <a:ea typeface="Maven Pro"/>
                <a:cs typeface="Maven Pro"/>
                <a:sym typeface="Maven Pro"/>
              </a:rPr>
              <a:t>ou </a:t>
            </a:r>
            <a:r>
              <a:rPr lang="en-GB" sz="1100">
                <a:solidFill>
                  <a:srgbClr val="00084D"/>
                </a:solidFill>
                <a:latin typeface="Maven Pro Medium"/>
                <a:ea typeface="Maven Pro Medium"/>
                <a:cs typeface="Maven Pro Medium"/>
                <a:sym typeface="Maven Pro Medium"/>
              </a:rPr>
              <a:t>docker image ls</a:t>
            </a:r>
            <a:r>
              <a:rPr lang="en-GB" sz="1100">
                <a:solidFill>
                  <a:srgbClr val="00084D"/>
                </a:solidFill>
                <a:latin typeface="Maven Pro"/>
                <a:ea typeface="Maven Pro"/>
                <a:cs typeface="Maven Pro"/>
                <a:sym typeface="Maven Pro"/>
              </a:rPr>
              <a:t> : Liste les images locales.</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pull</a:t>
            </a:r>
            <a:r>
              <a:rPr lang="en-GB" sz="1100">
                <a:solidFill>
                  <a:srgbClr val="00084D"/>
                </a:solidFill>
                <a:latin typeface="Maven Pro"/>
                <a:ea typeface="Maven Pro"/>
                <a:cs typeface="Maven Pro"/>
                <a:sym typeface="Maven Pro"/>
              </a:rPr>
              <a:t> : Télécharge une image depuis un registre.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build</a:t>
            </a:r>
            <a:r>
              <a:rPr lang="en-GB" sz="1100">
                <a:solidFill>
                  <a:srgbClr val="00084D"/>
                </a:solidFill>
                <a:latin typeface="Maven Pro"/>
                <a:ea typeface="Maven Pro"/>
                <a:cs typeface="Maven Pro"/>
                <a:sym typeface="Maven Pro"/>
              </a:rPr>
              <a:t> : </a:t>
            </a:r>
            <a:r>
              <a:rPr lang="en-GB" sz="1100">
                <a:solidFill>
                  <a:srgbClr val="00084D"/>
                </a:solidFill>
                <a:latin typeface="Maven Pro"/>
                <a:ea typeface="Maven Pro"/>
                <a:cs typeface="Maven Pro"/>
                <a:sym typeface="Maven Pro"/>
              </a:rPr>
              <a:t>Créer</a:t>
            </a:r>
            <a:r>
              <a:rPr lang="en-GB" sz="1100">
                <a:solidFill>
                  <a:srgbClr val="00084D"/>
                </a:solidFill>
                <a:latin typeface="Maven Pro"/>
                <a:ea typeface="Maven Pro"/>
                <a:cs typeface="Maven Pro"/>
                <a:sym typeface="Maven Pro"/>
              </a:rPr>
              <a:t> une image à partir d'un Dockerfile.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rename</a:t>
            </a:r>
            <a:r>
              <a:rPr lang="en-GB" sz="1100">
                <a:solidFill>
                  <a:srgbClr val="00084D"/>
                </a:solidFill>
                <a:latin typeface="Maven Pro"/>
                <a:ea typeface="Maven Pro"/>
                <a:cs typeface="Maven Pro"/>
                <a:sym typeface="Maven Pro"/>
              </a:rPr>
              <a:t> : </a:t>
            </a:r>
            <a:r>
              <a:rPr lang="en-GB" sz="1100">
                <a:solidFill>
                  <a:srgbClr val="00084D"/>
                </a:solidFill>
                <a:latin typeface="Maven Pro"/>
                <a:ea typeface="Maven Pro"/>
                <a:cs typeface="Maven Pro"/>
                <a:sym typeface="Maven Pro"/>
              </a:rPr>
              <a:t>Renommer</a:t>
            </a:r>
            <a:r>
              <a:rPr lang="en-GB" sz="1100">
                <a:solidFill>
                  <a:srgbClr val="00084D"/>
                </a:solidFill>
                <a:latin typeface="Maven Pro"/>
                <a:ea typeface="Maven Pro"/>
                <a:cs typeface="Maven Pro"/>
                <a:sym typeface="Maven Pro"/>
              </a:rPr>
              <a:t> une image.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rmi</a:t>
            </a:r>
            <a:r>
              <a:rPr lang="en-GB" sz="1100">
                <a:solidFill>
                  <a:srgbClr val="00084D"/>
                </a:solidFill>
                <a:latin typeface="Maven Pro"/>
                <a:ea typeface="Maven Pro"/>
                <a:cs typeface="Maven Pro"/>
                <a:sym typeface="Maven Pro"/>
              </a:rPr>
              <a:t> ou </a:t>
            </a:r>
            <a:r>
              <a:rPr lang="en-GB" sz="1100">
                <a:solidFill>
                  <a:srgbClr val="00084D"/>
                </a:solidFill>
                <a:latin typeface="Maven Pro Medium"/>
                <a:ea typeface="Maven Pro Medium"/>
                <a:cs typeface="Maven Pro Medium"/>
                <a:sym typeface="Maven Pro Medium"/>
              </a:rPr>
              <a:t>docker image rm :</a:t>
            </a:r>
            <a:r>
              <a:rPr lang="en-GB" sz="1100">
                <a:solidFill>
                  <a:srgbClr val="00084D"/>
                </a:solidFill>
                <a:latin typeface="Maven Pro"/>
                <a:ea typeface="Maven Pro"/>
                <a:cs typeface="Maven Pro"/>
                <a:sym typeface="Maven Pro"/>
              </a:rPr>
              <a:t> </a:t>
            </a:r>
            <a:r>
              <a:rPr lang="en-GB" sz="1100">
                <a:solidFill>
                  <a:srgbClr val="00084D"/>
                </a:solidFill>
                <a:latin typeface="Maven Pro"/>
                <a:ea typeface="Maven Pro"/>
                <a:cs typeface="Maven Pro"/>
                <a:sym typeface="Maven Pro"/>
              </a:rPr>
              <a:t>Supprimer</a:t>
            </a:r>
            <a:r>
              <a:rPr lang="en-GB" sz="1100">
                <a:solidFill>
                  <a:srgbClr val="00084D"/>
                </a:solidFill>
                <a:latin typeface="Maven Pro"/>
                <a:ea typeface="Maven Pro"/>
                <a:cs typeface="Maven Pro"/>
                <a:sym typeface="Maven Pro"/>
              </a:rPr>
              <a:t> une image.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search</a:t>
            </a:r>
            <a:r>
              <a:rPr lang="en-GB" sz="1100">
                <a:solidFill>
                  <a:srgbClr val="00084D"/>
                </a:solidFill>
                <a:latin typeface="Maven Pro"/>
                <a:ea typeface="Maven Pro"/>
                <a:cs typeface="Maven Pro"/>
                <a:sym typeface="Maven Pro"/>
              </a:rPr>
              <a:t> : Recherche des images sur Docker Hub.</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inspect</a:t>
            </a:r>
            <a:r>
              <a:rPr lang="en-GB" sz="1100">
                <a:solidFill>
                  <a:srgbClr val="00084D"/>
                </a:solidFill>
                <a:latin typeface="Maven Pro"/>
                <a:ea typeface="Maven Pro"/>
                <a:cs typeface="Maven Pro"/>
                <a:sym typeface="Maven Pro"/>
              </a:rPr>
              <a:t> : Affiche des informations détaillées sur une image.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tag</a:t>
            </a:r>
            <a:r>
              <a:rPr lang="en-GB" sz="1100">
                <a:solidFill>
                  <a:srgbClr val="00084D"/>
                </a:solidFill>
                <a:latin typeface="Maven Pro"/>
                <a:ea typeface="Maven Pro"/>
                <a:cs typeface="Maven Pro"/>
                <a:sym typeface="Maven Pro"/>
              </a:rPr>
              <a:t> : </a:t>
            </a:r>
            <a:r>
              <a:rPr lang="en-GB" sz="1100">
                <a:solidFill>
                  <a:srgbClr val="00084D"/>
                </a:solidFill>
                <a:latin typeface="Maven Pro"/>
                <a:ea typeface="Maven Pro"/>
                <a:cs typeface="Maven Pro"/>
                <a:sym typeface="Maven Pro"/>
              </a:rPr>
              <a:t>Créer</a:t>
            </a:r>
            <a:r>
              <a:rPr lang="en-GB" sz="1100">
                <a:solidFill>
                  <a:srgbClr val="00084D"/>
                </a:solidFill>
                <a:latin typeface="Maven Pro"/>
                <a:ea typeface="Maven Pro"/>
                <a:cs typeface="Maven Pro"/>
                <a:sym typeface="Maven Pro"/>
              </a:rPr>
              <a:t> un alias pour une image.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push</a:t>
            </a:r>
            <a:r>
              <a:rPr lang="en-GB" sz="1100">
                <a:solidFill>
                  <a:srgbClr val="00084D"/>
                </a:solidFill>
                <a:latin typeface="Maven Pro"/>
                <a:ea typeface="Maven Pro"/>
                <a:cs typeface="Maven Pro"/>
                <a:sym typeface="Maven Pro"/>
              </a:rPr>
              <a:t> : Envoie une image vers un registre distant.</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save</a:t>
            </a:r>
            <a:r>
              <a:rPr lang="en-GB" sz="1100">
                <a:solidFill>
                  <a:srgbClr val="00084D"/>
                </a:solidFill>
                <a:latin typeface="Maven Pro"/>
                <a:ea typeface="Maven Pro"/>
                <a:cs typeface="Maven Pro"/>
                <a:sym typeface="Maven Pro"/>
              </a:rPr>
              <a:t> : Sauvegarde une image dans un fichier tar.</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load</a:t>
            </a:r>
            <a:r>
              <a:rPr lang="en-GB" sz="1100">
                <a:solidFill>
                  <a:srgbClr val="00084D"/>
                </a:solidFill>
                <a:latin typeface="Maven Pro"/>
                <a:ea typeface="Maven Pro"/>
                <a:cs typeface="Maven Pro"/>
                <a:sym typeface="Maven Pro"/>
              </a:rPr>
              <a:t> : Charge une image depuis un fichier tar.</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Medium"/>
                <a:ea typeface="Maven Pro Medium"/>
                <a:cs typeface="Maven Pro Medium"/>
                <a:sym typeface="Maven Pro Medium"/>
              </a:rPr>
              <a:t>docker prune</a:t>
            </a:r>
            <a:r>
              <a:rPr lang="en-GB" sz="1100">
                <a:solidFill>
                  <a:srgbClr val="00084D"/>
                </a:solidFill>
                <a:latin typeface="Maven Pro"/>
                <a:ea typeface="Maven Pro"/>
                <a:cs typeface="Maven Pro"/>
                <a:sym typeface="Maven Pro"/>
              </a:rPr>
              <a:t> : Supprime les images inutilisées.</a:t>
            </a:r>
            <a:endParaRPr sz="1100">
              <a:solidFill>
                <a:srgbClr val="00084D"/>
              </a:solidFill>
              <a:latin typeface="Maven Pro"/>
              <a:ea typeface="Maven Pro"/>
              <a:cs typeface="Maven Pro"/>
              <a:sym typeface="Maven Pro"/>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95"/>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941" name="Google Shape;941;p95"/>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942" name="Google Shape;942;p95"/>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943" name="Google Shape;943;p95"/>
          <p:cNvSpPr txBox="1"/>
          <p:nvPr/>
        </p:nvSpPr>
        <p:spPr>
          <a:xfrm>
            <a:off x="478375" y="1786800"/>
            <a:ext cx="4572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Docker Images</a:t>
            </a:r>
            <a:endParaRPr sz="4500">
              <a:solidFill>
                <a:srgbClr val="E5F2FC"/>
              </a:solidFill>
              <a:latin typeface="Nunito SemiBold"/>
              <a:ea typeface="Nunito SemiBold"/>
              <a:cs typeface="Nunito SemiBold"/>
              <a:sym typeface="Nunito SemiBold"/>
            </a:endParaRPr>
          </a:p>
        </p:txBody>
      </p:sp>
      <p:sp>
        <p:nvSpPr>
          <p:cNvPr id="944" name="Google Shape;944;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96"/>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50" name="Google Shape;950;p9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a:t>
            </a:r>
            <a:r>
              <a:rPr lang="en-GB" sz="1500">
                <a:solidFill>
                  <a:srgbClr val="073763"/>
                </a:solidFill>
                <a:latin typeface="Maven Pro"/>
                <a:ea typeface="Maven Pro"/>
                <a:cs typeface="Maven Pro"/>
                <a:sym typeface="Maven Pro"/>
              </a:rPr>
              <a:t> Image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C’est quoi images?</a:t>
            </a:r>
            <a:endParaRPr sz="2000">
              <a:solidFill>
                <a:srgbClr val="073763"/>
              </a:solidFill>
              <a:latin typeface="Maven Pro"/>
              <a:ea typeface="Maven Pro"/>
              <a:cs typeface="Maven Pro"/>
              <a:sym typeface="Maven Pro"/>
            </a:endParaRPr>
          </a:p>
        </p:txBody>
      </p:sp>
      <p:pic>
        <p:nvPicPr>
          <p:cNvPr id="951" name="Google Shape;951;p9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952" name="Google Shape;952;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53" name="Google Shape;953;p96"/>
          <p:cNvSpPr txBox="1"/>
          <p:nvPr/>
        </p:nvSpPr>
        <p:spPr>
          <a:xfrm>
            <a:off x="694900" y="1546825"/>
            <a:ext cx="5021700" cy="25578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lang="en-GB" sz="1100">
                <a:solidFill>
                  <a:srgbClr val="00084D"/>
                </a:solidFill>
                <a:latin typeface="Maven Pro"/>
                <a:ea typeface="Maven Pro"/>
                <a:cs typeface="Maven Pro"/>
                <a:sym typeface="Maven Pro"/>
              </a:rPr>
              <a:t>En Linux, tout est un fichier. Le système d'exploitation entier est un système de fichiers avec des fichiers et des dossiers stockés sur le disque local. C'est un fait important à garder à l'esprit lorsque l'on examine ce que sont les images de conteneurs. U</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0"/>
              </a:spcAft>
              <a:buNone/>
            </a:pPr>
            <a:r>
              <a:rPr lang="en-GB" sz="1100">
                <a:solidFill>
                  <a:srgbClr val="00084D"/>
                </a:solidFill>
                <a:latin typeface="Maven Pro"/>
                <a:ea typeface="Maven Pro"/>
                <a:cs typeface="Maven Pro"/>
                <a:sym typeface="Maven Pro"/>
              </a:rPr>
              <a:t>Une image est un gros fichier tar contenant un système de fichiers. Plus précisément, elle contient un système de fichiers superposé.</a:t>
            </a:r>
            <a:endParaRPr sz="1100">
              <a:solidFill>
                <a:srgbClr val="00084D"/>
              </a:solidFill>
              <a:latin typeface="Maven Pro"/>
              <a:ea typeface="Maven Pro"/>
              <a:cs typeface="Maven Pro"/>
              <a:sym typeface="Maven Pro"/>
            </a:endParaRPr>
          </a:p>
          <a:p>
            <a:pPr indent="0" lvl="0" marL="0" marR="0" rtl="0" algn="just">
              <a:lnSpc>
                <a:spcPct val="115000"/>
              </a:lnSpc>
              <a:spcBef>
                <a:spcPts val="1000"/>
              </a:spcBef>
              <a:spcAft>
                <a:spcPts val="1000"/>
              </a:spcAft>
              <a:buNone/>
            </a:pPr>
            <a:r>
              <a:rPr lang="en-GB" sz="1100">
                <a:solidFill>
                  <a:srgbClr val="00084D"/>
                </a:solidFill>
                <a:latin typeface="Maven Pro"/>
                <a:ea typeface="Maven Pro"/>
                <a:cs typeface="Maven Pro"/>
                <a:sym typeface="Maven Pro"/>
              </a:rPr>
              <a:t>Les images de conteneurs sont des modèles (</a:t>
            </a:r>
            <a:r>
              <a:rPr lang="en-GB" sz="1100">
                <a:solidFill>
                  <a:srgbClr val="00084D"/>
                </a:solidFill>
                <a:latin typeface="Maven Pro Medium"/>
                <a:ea typeface="Maven Pro Medium"/>
                <a:cs typeface="Maven Pro Medium"/>
                <a:sym typeface="Maven Pro Medium"/>
              </a:rPr>
              <a:t>templates</a:t>
            </a:r>
            <a:r>
              <a:rPr lang="en-GB" sz="1100">
                <a:solidFill>
                  <a:srgbClr val="00084D"/>
                </a:solidFill>
                <a:latin typeface="Maven Pro"/>
                <a:ea typeface="Maven Pro"/>
                <a:cs typeface="Maven Pro"/>
                <a:sym typeface="Maven Pro"/>
              </a:rPr>
              <a:t>) à partir desquels les conteneurs sont créés. Ces images ne sont pas constituées d'un seul bloc monolithique, mais sont composées de nombreuses couches. La première couche de l'image est également appelée la couche de base (the base layer).</a:t>
            </a:r>
            <a:endParaRPr sz="1100">
              <a:solidFill>
                <a:srgbClr val="00084D"/>
              </a:solidFill>
              <a:latin typeface="Maven Pro"/>
              <a:ea typeface="Maven Pro"/>
              <a:cs typeface="Maven Pro"/>
              <a:sym typeface="Maven Pro"/>
            </a:endParaRPr>
          </a:p>
        </p:txBody>
      </p:sp>
      <p:pic>
        <p:nvPicPr>
          <p:cNvPr id="954" name="Google Shape;954;p96"/>
          <p:cNvPicPr preferRelativeResize="0"/>
          <p:nvPr/>
        </p:nvPicPr>
        <p:blipFill>
          <a:blip r:embed="rId4">
            <a:alphaModFix/>
          </a:blip>
          <a:stretch>
            <a:fillRect/>
          </a:stretch>
        </p:blipFill>
        <p:spPr>
          <a:xfrm>
            <a:off x="5786425" y="200975"/>
            <a:ext cx="3287675" cy="446225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97"/>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60" name="Google Shape;960;p9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C’est quoi images?</a:t>
            </a:r>
            <a:endParaRPr sz="2000">
              <a:solidFill>
                <a:srgbClr val="073763"/>
              </a:solidFill>
              <a:latin typeface="Maven Pro"/>
              <a:ea typeface="Maven Pro"/>
              <a:cs typeface="Maven Pro"/>
              <a:sym typeface="Maven Pro"/>
            </a:endParaRPr>
          </a:p>
        </p:txBody>
      </p:sp>
      <p:pic>
        <p:nvPicPr>
          <p:cNvPr id="961" name="Google Shape;961;p9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962" name="Google Shape;962;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63" name="Google Shape;963;p97"/>
          <p:cNvSpPr txBox="1"/>
          <p:nvPr/>
        </p:nvSpPr>
        <p:spPr>
          <a:xfrm>
            <a:off x="687750" y="1232000"/>
            <a:ext cx="7862400" cy="163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100">
                <a:solidFill>
                  <a:srgbClr val="00084D"/>
                </a:solidFill>
                <a:latin typeface="Maven Pro"/>
                <a:ea typeface="Maven Pro"/>
                <a:cs typeface="Maven Pro"/>
                <a:sym typeface="Maven Pro"/>
              </a:rPr>
              <a:t>Chaque couche contient des fichiers et des dossiers. Chaque couche ne contient que les modifications du système de fichiers concernant les couches sous-jacentes. </a:t>
            </a:r>
            <a:endParaRPr sz="1100">
              <a:solidFill>
                <a:srgbClr val="00084D"/>
              </a:solidFill>
              <a:latin typeface="Maven Pro"/>
              <a:ea typeface="Maven Pro"/>
              <a:cs typeface="Maven Pro"/>
              <a:sym typeface="Maven Pro"/>
            </a:endParaRPr>
          </a:p>
          <a:p>
            <a:pPr indent="0" lvl="0" marL="0" rtl="0" algn="l">
              <a:lnSpc>
                <a:spcPct val="115000"/>
              </a:lnSpc>
              <a:spcBef>
                <a:spcPts val="1200"/>
              </a:spcBef>
              <a:spcAft>
                <a:spcPts val="0"/>
              </a:spcAft>
              <a:buNone/>
            </a:pPr>
            <a:r>
              <a:rPr lang="en-GB" sz="1100">
                <a:solidFill>
                  <a:srgbClr val="00084D"/>
                </a:solidFill>
                <a:latin typeface="Maven Pro"/>
                <a:ea typeface="Maven Pro"/>
                <a:cs typeface="Maven Pro"/>
                <a:sym typeface="Maven Pro"/>
              </a:rPr>
              <a:t>Les couches d'une image de conteneur sont toutes immutables. Immuable signifie qu'une fois générée, la couche ne peut jamais être modifiée. La seule opération possible affectant la couche est sa suppression physique.</a:t>
            </a:r>
            <a:endParaRPr sz="1100">
              <a:solidFill>
                <a:srgbClr val="00084D"/>
              </a:solidFill>
              <a:latin typeface="Maven Pro"/>
              <a:ea typeface="Maven Pro"/>
              <a:cs typeface="Maven Pro"/>
              <a:sym typeface="Maven Pro"/>
            </a:endParaRPr>
          </a:p>
          <a:p>
            <a:pPr indent="0" lvl="0" marL="0" rtl="0" algn="l">
              <a:lnSpc>
                <a:spcPct val="115000"/>
              </a:lnSpc>
              <a:spcBef>
                <a:spcPts val="1200"/>
              </a:spcBef>
              <a:spcAft>
                <a:spcPts val="1200"/>
              </a:spcAft>
              <a:buNone/>
            </a:pPr>
            <a:r>
              <a:rPr lang="en-GB" sz="1100">
                <a:solidFill>
                  <a:srgbClr val="00084D"/>
                </a:solidFill>
                <a:latin typeface="Maven Pro"/>
                <a:ea typeface="Maven Pro"/>
                <a:cs typeface="Maven Pro"/>
                <a:sym typeface="Maven Pro"/>
              </a:rPr>
              <a:t>Dans la figure suivante, nous pouvons voir à quoi pourrait ressembler une image personnalisée pour une application web, utilisant Nginx comme serveur web :</a:t>
            </a:r>
            <a:endParaRPr sz="1100">
              <a:solidFill>
                <a:srgbClr val="00084D"/>
              </a:solidFill>
              <a:latin typeface="Maven Pro"/>
              <a:ea typeface="Maven Pro"/>
              <a:cs typeface="Maven Pro"/>
              <a:sym typeface="Maven Pro"/>
            </a:endParaRPr>
          </a:p>
        </p:txBody>
      </p:sp>
      <p:pic>
        <p:nvPicPr>
          <p:cNvPr id="964" name="Google Shape;964;p97"/>
          <p:cNvPicPr preferRelativeResize="0"/>
          <p:nvPr/>
        </p:nvPicPr>
        <p:blipFill>
          <a:blip r:embed="rId4">
            <a:alphaModFix/>
          </a:blip>
          <a:stretch>
            <a:fillRect/>
          </a:stretch>
        </p:blipFill>
        <p:spPr>
          <a:xfrm>
            <a:off x="2248212" y="2751625"/>
            <a:ext cx="4647572" cy="239187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98"/>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70" name="Google Shape;970;p9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The writable container Layer</a:t>
            </a:r>
            <a:endParaRPr sz="2000">
              <a:solidFill>
                <a:srgbClr val="073763"/>
              </a:solidFill>
              <a:latin typeface="Maven Pro"/>
              <a:ea typeface="Maven Pro"/>
              <a:cs typeface="Maven Pro"/>
              <a:sym typeface="Maven Pro"/>
            </a:endParaRPr>
          </a:p>
        </p:txBody>
      </p:sp>
      <p:pic>
        <p:nvPicPr>
          <p:cNvPr id="971" name="Google Shape;971;p9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972" name="Google Shape;972;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73" name="Google Shape;973;p98"/>
          <p:cNvSpPr txBox="1"/>
          <p:nvPr/>
        </p:nvSpPr>
        <p:spPr>
          <a:xfrm>
            <a:off x="687750" y="1232000"/>
            <a:ext cx="7862400" cy="74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100">
                <a:solidFill>
                  <a:srgbClr val="00084D"/>
                </a:solidFill>
                <a:latin typeface="Maven Pro"/>
                <a:ea typeface="Maven Pro"/>
                <a:cs typeface="Maven Pro"/>
                <a:sym typeface="Maven Pro"/>
              </a:rPr>
              <a:t>une image de conteneur est composée d'une pile de couches immutables ou en lecture seule. Lorsque Docker Engine crée un conteneur à partir de cette image, il ajoute une couche de conteneur accessible en écriture au-dessus de cette pile de couches immutables. Notre pile ressemble maintenant à ceci :</a:t>
            </a:r>
            <a:endParaRPr sz="1100">
              <a:solidFill>
                <a:srgbClr val="00084D"/>
              </a:solidFill>
              <a:latin typeface="Maven Pro"/>
              <a:ea typeface="Maven Pro"/>
              <a:cs typeface="Maven Pro"/>
              <a:sym typeface="Maven Pro"/>
            </a:endParaRPr>
          </a:p>
        </p:txBody>
      </p:sp>
      <p:pic>
        <p:nvPicPr>
          <p:cNvPr id="974" name="Google Shape;974;p98"/>
          <p:cNvPicPr preferRelativeResize="0"/>
          <p:nvPr/>
        </p:nvPicPr>
        <p:blipFill>
          <a:blip r:embed="rId4">
            <a:alphaModFix/>
          </a:blip>
          <a:stretch>
            <a:fillRect/>
          </a:stretch>
        </p:blipFill>
        <p:spPr>
          <a:xfrm>
            <a:off x="2479348" y="1899199"/>
            <a:ext cx="4185298" cy="325547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99"/>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80" name="Google Shape;980;p9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The writable container Layer</a:t>
            </a:r>
            <a:endParaRPr sz="2000">
              <a:solidFill>
                <a:srgbClr val="073763"/>
              </a:solidFill>
              <a:latin typeface="Maven Pro"/>
              <a:ea typeface="Maven Pro"/>
              <a:cs typeface="Maven Pro"/>
              <a:sym typeface="Maven Pro"/>
            </a:endParaRPr>
          </a:p>
        </p:txBody>
      </p:sp>
      <p:pic>
        <p:nvPicPr>
          <p:cNvPr id="981" name="Google Shape;981;p9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982" name="Google Shape;982;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83" name="Google Shape;983;p99"/>
          <p:cNvSpPr txBox="1"/>
          <p:nvPr/>
        </p:nvSpPr>
        <p:spPr>
          <a:xfrm>
            <a:off x="548400" y="1763100"/>
            <a:ext cx="2960100" cy="2106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GB" sz="1100">
                <a:solidFill>
                  <a:srgbClr val="00084D"/>
                </a:solidFill>
                <a:latin typeface="Maven Pro"/>
                <a:ea typeface="Maven Pro"/>
                <a:cs typeface="Maven Pro"/>
                <a:sym typeface="Maven Pro"/>
              </a:rPr>
              <a:t>La couche du conteneur est marquée comme lecture/écriture (r/w). Un autre avantage de l'immutabilité des couches d'images est qu'elles peuvent être partagées entre plusieurs conteneurs créés à partir de cette image. Tout ce qu'il faut, c'est une fine couche de conteneur accessible en écriture pour chaque conteneur, comme montré dans la figure suivante :</a:t>
            </a:r>
            <a:endParaRPr sz="1100">
              <a:solidFill>
                <a:srgbClr val="00084D"/>
              </a:solidFill>
              <a:latin typeface="Maven Pro"/>
              <a:ea typeface="Maven Pro"/>
              <a:cs typeface="Maven Pro"/>
              <a:sym typeface="Maven Pro"/>
            </a:endParaRPr>
          </a:p>
        </p:txBody>
      </p:sp>
      <p:pic>
        <p:nvPicPr>
          <p:cNvPr id="984" name="Google Shape;984;p99"/>
          <p:cNvPicPr preferRelativeResize="0"/>
          <p:nvPr/>
        </p:nvPicPr>
        <p:blipFill>
          <a:blip r:embed="rId4">
            <a:alphaModFix/>
          </a:blip>
          <a:stretch>
            <a:fillRect/>
          </a:stretch>
        </p:blipFill>
        <p:spPr>
          <a:xfrm>
            <a:off x="3885600" y="1227962"/>
            <a:ext cx="5055749" cy="360892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100"/>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90" name="Google Shape;990;p10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Copy-on-write</a:t>
            </a:r>
            <a:endParaRPr sz="2000">
              <a:solidFill>
                <a:srgbClr val="073763"/>
              </a:solidFill>
              <a:latin typeface="Maven Pro"/>
              <a:ea typeface="Maven Pro"/>
              <a:cs typeface="Maven Pro"/>
              <a:sym typeface="Maven Pro"/>
            </a:endParaRPr>
          </a:p>
        </p:txBody>
      </p:sp>
      <p:pic>
        <p:nvPicPr>
          <p:cNvPr id="991" name="Google Shape;991;p10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992" name="Google Shape;992;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993" name="Google Shape;993;p100"/>
          <p:cNvPicPr preferRelativeResize="0"/>
          <p:nvPr/>
        </p:nvPicPr>
        <p:blipFill>
          <a:blip r:embed="rId4">
            <a:alphaModFix/>
          </a:blip>
          <a:stretch>
            <a:fillRect/>
          </a:stretch>
        </p:blipFill>
        <p:spPr>
          <a:xfrm>
            <a:off x="1153473" y="1577528"/>
            <a:ext cx="6837052" cy="3211826"/>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01"/>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999" name="Google Shape;999;p10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Creating Docker Images</a:t>
            </a:r>
            <a:endParaRPr sz="2000">
              <a:solidFill>
                <a:srgbClr val="073763"/>
              </a:solidFill>
              <a:latin typeface="Maven Pro"/>
              <a:ea typeface="Maven Pro"/>
              <a:cs typeface="Maven Pro"/>
              <a:sym typeface="Maven Pro"/>
            </a:endParaRPr>
          </a:p>
        </p:txBody>
      </p:sp>
      <p:pic>
        <p:nvPicPr>
          <p:cNvPr id="1000" name="Google Shape;1000;p10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001" name="Google Shape;1001;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002" name="Google Shape;1002;p101"/>
          <p:cNvPicPr preferRelativeResize="0"/>
          <p:nvPr/>
        </p:nvPicPr>
        <p:blipFill>
          <a:blip r:embed="rId4">
            <a:alphaModFix/>
          </a:blip>
          <a:stretch>
            <a:fillRect/>
          </a:stretch>
        </p:blipFill>
        <p:spPr>
          <a:xfrm>
            <a:off x="3161457" y="1937525"/>
            <a:ext cx="2821060" cy="775424"/>
          </a:xfrm>
          <a:prstGeom prst="rect">
            <a:avLst/>
          </a:prstGeom>
          <a:noFill/>
          <a:ln>
            <a:noFill/>
          </a:ln>
        </p:spPr>
      </p:pic>
      <p:pic>
        <p:nvPicPr>
          <p:cNvPr id="1003" name="Google Shape;1003;p101"/>
          <p:cNvPicPr preferRelativeResize="0"/>
          <p:nvPr/>
        </p:nvPicPr>
        <p:blipFill>
          <a:blip r:embed="rId5">
            <a:alphaModFix/>
          </a:blip>
          <a:stretch>
            <a:fillRect/>
          </a:stretch>
        </p:blipFill>
        <p:spPr>
          <a:xfrm>
            <a:off x="1445100" y="2923151"/>
            <a:ext cx="2821060" cy="775424"/>
          </a:xfrm>
          <a:prstGeom prst="rect">
            <a:avLst/>
          </a:prstGeom>
          <a:noFill/>
          <a:ln>
            <a:noFill/>
          </a:ln>
        </p:spPr>
      </p:pic>
      <p:pic>
        <p:nvPicPr>
          <p:cNvPr id="1004" name="Google Shape;1004;p101"/>
          <p:cNvPicPr preferRelativeResize="0"/>
          <p:nvPr/>
        </p:nvPicPr>
        <p:blipFill>
          <a:blip r:embed="rId6">
            <a:alphaModFix/>
          </a:blip>
          <a:stretch>
            <a:fillRect/>
          </a:stretch>
        </p:blipFill>
        <p:spPr>
          <a:xfrm>
            <a:off x="4877815" y="2916931"/>
            <a:ext cx="2821060" cy="775424"/>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102"/>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010" name="Google Shape;1010;p10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Interactive image creation</a:t>
            </a:r>
            <a:endParaRPr sz="2000">
              <a:solidFill>
                <a:srgbClr val="073763"/>
              </a:solidFill>
              <a:latin typeface="Maven Pro"/>
              <a:ea typeface="Maven Pro"/>
              <a:cs typeface="Maven Pro"/>
              <a:sym typeface="Maven Pro"/>
            </a:endParaRPr>
          </a:p>
        </p:txBody>
      </p:sp>
      <p:pic>
        <p:nvPicPr>
          <p:cNvPr id="1011" name="Google Shape;1011;p10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012" name="Google Shape;1012;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13" name="Google Shape;1013;p102"/>
          <p:cNvSpPr txBox="1"/>
          <p:nvPr/>
        </p:nvSpPr>
        <p:spPr>
          <a:xfrm>
            <a:off x="573900" y="1344650"/>
            <a:ext cx="7996200" cy="743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GB" sz="1100">
                <a:solidFill>
                  <a:srgbClr val="00084D"/>
                </a:solidFill>
                <a:latin typeface="Maven Pro"/>
                <a:ea typeface="Maven Pro"/>
                <a:cs typeface="Maven Pro"/>
                <a:sym typeface="Maven Pro"/>
              </a:rPr>
              <a:t>La première façon de créer une image personnalisée est de construire un conteneur de manière interactive. Autrement dit, nous commençons avec une image de base que nous souhaitons utiliser comme modèle et nous exécutons un conteneur à partir de celle-ci de manière interactive. Disons que c'est l'image Alpine :</a:t>
            </a:r>
            <a:endParaRPr sz="1100">
              <a:solidFill>
                <a:srgbClr val="00084D"/>
              </a:solidFill>
              <a:latin typeface="Maven Pro"/>
              <a:ea typeface="Maven Pro"/>
              <a:cs typeface="Maven Pro"/>
              <a:sym typeface="Maven Pro"/>
            </a:endParaRPr>
          </a:p>
        </p:txBody>
      </p:sp>
      <p:sp>
        <p:nvSpPr>
          <p:cNvPr id="1014" name="Google Shape;1014;p102"/>
          <p:cNvSpPr/>
          <p:nvPr/>
        </p:nvSpPr>
        <p:spPr>
          <a:xfrm rot="763">
            <a:off x="1870050" y="2035350"/>
            <a:ext cx="5403900" cy="4722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container run -it </a:t>
            </a:r>
            <a:r>
              <a:rPr lang="en-GB" sz="1000">
                <a:solidFill>
                  <a:schemeClr val="lt1"/>
                </a:solidFill>
                <a:latin typeface="Courier New"/>
                <a:ea typeface="Courier New"/>
                <a:cs typeface="Courier New"/>
                <a:sym typeface="Courier New"/>
              </a:rPr>
              <a:t>--name sample alpine /bin/sh</a:t>
            </a:r>
            <a:endParaRPr sz="1000">
              <a:solidFill>
                <a:schemeClr val="lt1"/>
              </a:solidFill>
              <a:latin typeface="Courier New"/>
              <a:ea typeface="Courier New"/>
              <a:cs typeface="Courier New"/>
              <a:sym typeface="Courier New"/>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03"/>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020" name="Google Shape;1020;p10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Interactive image creation</a:t>
            </a:r>
            <a:endParaRPr sz="2000">
              <a:solidFill>
                <a:srgbClr val="073763"/>
              </a:solidFill>
              <a:latin typeface="Maven Pro"/>
              <a:ea typeface="Maven Pro"/>
              <a:cs typeface="Maven Pro"/>
              <a:sym typeface="Maven Pro"/>
            </a:endParaRPr>
          </a:p>
        </p:txBody>
      </p:sp>
      <p:pic>
        <p:nvPicPr>
          <p:cNvPr id="1021" name="Google Shape;1021;p10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022" name="Google Shape;1022;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23" name="Google Shape;1023;p103"/>
          <p:cNvSpPr txBox="1"/>
          <p:nvPr/>
        </p:nvSpPr>
        <p:spPr>
          <a:xfrm>
            <a:off x="573900" y="1344650"/>
            <a:ext cx="7996200" cy="743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GB" sz="1100">
                <a:solidFill>
                  <a:srgbClr val="00084D"/>
                </a:solidFill>
                <a:latin typeface="Maven Pro"/>
                <a:ea typeface="Maven Pro"/>
                <a:cs typeface="Maven Pro"/>
                <a:sym typeface="Maven Pro"/>
              </a:rPr>
              <a:t>La première façon de créer une image personnalisée est de construire un conteneur de manière interactive. Autrement dit, nous commençons avec une image de base que nous souhaitons utiliser comme modèle et nous exécutons un conteneur à partir de celle-ci de manière interactive. Disons que c'est l'image Alpine :</a:t>
            </a:r>
            <a:endParaRPr sz="1100">
              <a:solidFill>
                <a:srgbClr val="00084D"/>
              </a:solidFill>
              <a:latin typeface="Maven Pro"/>
              <a:ea typeface="Maven Pro"/>
              <a:cs typeface="Maven Pro"/>
              <a:sym typeface="Maven Pro"/>
            </a:endParaRPr>
          </a:p>
        </p:txBody>
      </p:sp>
      <p:sp>
        <p:nvSpPr>
          <p:cNvPr id="1024" name="Google Shape;1024;p103"/>
          <p:cNvSpPr/>
          <p:nvPr/>
        </p:nvSpPr>
        <p:spPr>
          <a:xfrm rot="763">
            <a:off x="1870050" y="2035350"/>
            <a:ext cx="5403900" cy="4722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container run -it --name sample alpine /bin/sh</a:t>
            </a:r>
            <a:endParaRPr sz="1000">
              <a:solidFill>
                <a:schemeClr val="lt1"/>
              </a:solidFill>
              <a:latin typeface="Courier New"/>
              <a:ea typeface="Courier New"/>
              <a:cs typeface="Courier New"/>
              <a:sym typeface="Courier New"/>
            </a:endParaRPr>
          </a:p>
        </p:txBody>
      </p:sp>
      <p:sp>
        <p:nvSpPr>
          <p:cNvPr id="1025" name="Google Shape;1025;p103"/>
          <p:cNvSpPr/>
          <p:nvPr/>
        </p:nvSpPr>
        <p:spPr>
          <a:xfrm rot="763">
            <a:off x="1870048" y="2689250"/>
            <a:ext cx="54039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a:t>
            </a:r>
            <a:r>
              <a:rPr lang="en-GB" sz="1000">
                <a:solidFill>
                  <a:schemeClr val="lt1"/>
                </a:solidFill>
                <a:latin typeface="Courier New"/>
                <a:ea typeface="Courier New"/>
                <a:cs typeface="Courier New"/>
                <a:sym typeface="Courier New"/>
              </a:rPr>
              <a:t> </a:t>
            </a:r>
            <a:r>
              <a:rPr lang="en-GB" sz="1000">
                <a:solidFill>
                  <a:schemeClr val="lt1"/>
                </a:solidFill>
                <a:latin typeface="Courier New"/>
                <a:ea typeface="Courier New"/>
                <a:cs typeface="Courier New"/>
                <a:sym typeface="Courier New"/>
              </a:rPr>
              <a:t>apk update &amp;&amp; apk add curl</a:t>
            </a:r>
            <a:endParaRPr sz="1000">
              <a:solidFill>
                <a:schemeClr val="lt1"/>
              </a:solidFill>
              <a:latin typeface="Courier New"/>
              <a:ea typeface="Courier New"/>
              <a:cs typeface="Courier New"/>
              <a:sym typeface="Courier New"/>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04"/>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031" name="Google Shape;1031;p10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Interactive image creation</a:t>
            </a:r>
            <a:endParaRPr sz="2000">
              <a:solidFill>
                <a:srgbClr val="073763"/>
              </a:solidFill>
              <a:latin typeface="Maven Pro"/>
              <a:ea typeface="Maven Pro"/>
              <a:cs typeface="Maven Pro"/>
              <a:sym typeface="Maven Pro"/>
            </a:endParaRPr>
          </a:p>
        </p:txBody>
      </p:sp>
      <p:pic>
        <p:nvPicPr>
          <p:cNvPr id="1032" name="Google Shape;1032;p10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033" name="Google Shape;1033;p1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34" name="Google Shape;1034;p104"/>
          <p:cNvSpPr txBox="1"/>
          <p:nvPr/>
        </p:nvSpPr>
        <p:spPr>
          <a:xfrm>
            <a:off x="573900" y="1344650"/>
            <a:ext cx="7996200" cy="743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GB" sz="1100">
                <a:solidFill>
                  <a:srgbClr val="00084D"/>
                </a:solidFill>
                <a:latin typeface="Maven Pro"/>
                <a:ea typeface="Maven Pro"/>
                <a:cs typeface="Maven Pro"/>
                <a:sym typeface="Maven Pro"/>
              </a:rPr>
              <a:t>La première façon de créer une image personnalisée est de construire un conteneur de manière interactive. Autrement dit, nous commençons avec une image de base que nous souhaitons utiliser comme modèle et nous exécutons un conteneur à partir de celle-ci de manière interactive. Disons que c'est l'image Alpine :</a:t>
            </a:r>
            <a:endParaRPr sz="1100">
              <a:solidFill>
                <a:srgbClr val="00084D"/>
              </a:solidFill>
              <a:latin typeface="Maven Pro"/>
              <a:ea typeface="Maven Pro"/>
              <a:cs typeface="Maven Pro"/>
              <a:sym typeface="Maven Pro"/>
            </a:endParaRPr>
          </a:p>
        </p:txBody>
      </p:sp>
      <p:sp>
        <p:nvSpPr>
          <p:cNvPr id="1035" name="Google Shape;1035;p104"/>
          <p:cNvSpPr/>
          <p:nvPr/>
        </p:nvSpPr>
        <p:spPr>
          <a:xfrm rot="763">
            <a:off x="1870050" y="2035350"/>
            <a:ext cx="5403900" cy="4722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container run -it --name sample alpine /bin/sh</a:t>
            </a:r>
            <a:endParaRPr sz="1000">
              <a:solidFill>
                <a:schemeClr val="lt1"/>
              </a:solidFill>
              <a:latin typeface="Courier New"/>
              <a:ea typeface="Courier New"/>
              <a:cs typeface="Courier New"/>
              <a:sym typeface="Courier New"/>
            </a:endParaRPr>
          </a:p>
        </p:txBody>
      </p:sp>
      <p:sp>
        <p:nvSpPr>
          <p:cNvPr id="1036" name="Google Shape;1036;p104"/>
          <p:cNvSpPr/>
          <p:nvPr/>
        </p:nvSpPr>
        <p:spPr>
          <a:xfrm rot="763">
            <a:off x="1870048" y="2689250"/>
            <a:ext cx="54039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a:t>
            </a:r>
            <a:r>
              <a:rPr lang="en-GB" sz="1000">
                <a:solidFill>
                  <a:schemeClr val="lt1"/>
                </a:solidFill>
                <a:latin typeface="Courier New"/>
                <a:ea typeface="Courier New"/>
                <a:cs typeface="Courier New"/>
                <a:sym typeface="Courier New"/>
              </a:rPr>
              <a:t> apk update &amp;&amp; apk add curl</a:t>
            </a:r>
            <a:endParaRPr sz="1000">
              <a:solidFill>
                <a:schemeClr val="lt1"/>
              </a:solidFill>
              <a:latin typeface="Courier New"/>
              <a:ea typeface="Courier New"/>
              <a:cs typeface="Courier New"/>
              <a:sym typeface="Courier New"/>
            </a:endParaRPr>
          </a:p>
        </p:txBody>
      </p:sp>
      <p:sp>
        <p:nvSpPr>
          <p:cNvPr id="1037" name="Google Shape;1037;p104"/>
          <p:cNvSpPr/>
          <p:nvPr/>
        </p:nvSpPr>
        <p:spPr>
          <a:xfrm rot="763">
            <a:off x="1870048" y="3406750"/>
            <a:ext cx="54039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a:t>
            </a:r>
            <a:r>
              <a:rPr lang="en-GB" sz="1000">
                <a:solidFill>
                  <a:schemeClr val="lt1"/>
                </a:solidFill>
                <a:latin typeface="Courier New"/>
                <a:ea typeface="Courier New"/>
                <a:cs typeface="Courier New"/>
                <a:sym typeface="Courier New"/>
              </a:rPr>
              <a:t> curl -I https://google.com</a:t>
            </a:r>
            <a:endParaRPr sz="1000">
              <a:solidFill>
                <a:schemeClr val="lt1"/>
              </a:solidFill>
              <a:latin typeface="Courier New"/>
              <a:ea typeface="Courier New"/>
              <a:cs typeface="Courier New"/>
              <a:sym typeface="Courier New"/>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05"/>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043" name="Google Shape;1043;p10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Interactive image creation</a:t>
            </a:r>
            <a:endParaRPr sz="2000">
              <a:solidFill>
                <a:srgbClr val="073763"/>
              </a:solidFill>
              <a:latin typeface="Maven Pro"/>
              <a:ea typeface="Maven Pro"/>
              <a:cs typeface="Maven Pro"/>
              <a:sym typeface="Maven Pro"/>
            </a:endParaRPr>
          </a:p>
        </p:txBody>
      </p:sp>
      <p:pic>
        <p:nvPicPr>
          <p:cNvPr id="1044" name="Google Shape;1044;p10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045" name="Google Shape;1045;p1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46" name="Google Shape;1046;p105"/>
          <p:cNvSpPr txBox="1"/>
          <p:nvPr/>
        </p:nvSpPr>
        <p:spPr>
          <a:xfrm>
            <a:off x="573900" y="1344650"/>
            <a:ext cx="7996200" cy="743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GB" sz="1100">
                <a:solidFill>
                  <a:srgbClr val="00084D"/>
                </a:solidFill>
                <a:latin typeface="Maven Pro"/>
                <a:ea typeface="Maven Pro"/>
                <a:cs typeface="Maven Pro"/>
                <a:sym typeface="Maven Pro"/>
              </a:rPr>
              <a:t>La première façon de créer une image personnalisée est de construire un conteneur de manière interactive. Autrement dit, nous commençons avec une image de base que nous souhaitons utiliser comme modèle et nous exécutons un conteneur à partir de celle-ci de manière interactive. Disons que c'est l'image Alpine :</a:t>
            </a:r>
            <a:endParaRPr sz="1100">
              <a:solidFill>
                <a:srgbClr val="00084D"/>
              </a:solidFill>
              <a:latin typeface="Maven Pro"/>
              <a:ea typeface="Maven Pro"/>
              <a:cs typeface="Maven Pro"/>
              <a:sym typeface="Maven Pro"/>
            </a:endParaRPr>
          </a:p>
        </p:txBody>
      </p:sp>
      <p:sp>
        <p:nvSpPr>
          <p:cNvPr id="1047" name="Google Shape;1047;p105"/>
          <p:cNvSpPr/>
          <p:nvPr/>
        </p:nvSpPr>
        <p:spPr>
          <a:xfrm rot="763">
            <a:off x="1870050" y="2035350"/>
            <a:ext cx="5403900" cy="4722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container run -it --name sample alpine /bin/sh</a:t>
            </a:r>
            <a:endParaRPr sz="1000">
              <a:solidFill>
                <a:schemeClr val="lt1"/>
              </a:solidFill>
              <a:latin typeface="Courier New"/>
              <a:ea typeface="Courier New"/>
              <a:cs typeface="Courier New"/>
              <a:sym typeface="Courier New"/>
            </a:endParaRPr>
          </a:p>
        </p:txBody>
      </p:sp>
      <p:sp>
        <p:nvSpPr>
          <p:cNvPr id="1048" name="Google Shape;1048;p105"/>
          <p:cNvSpPr/>
          <p:nvPr/>
        </p:nvSpPr>
        <p:spPr>
          <a:xfrm rot="763">
            <a:off x="1870048" y="2689250"/>
            <a:ext cx="54039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a:t>
            </a:r>
            <a:r>
              <a:rPr lang="en-GB" sz="1000">
                <a:solidFill>
                  <a:schemeClr val="lt1"/>
                </a:solidFill>
                <a:latin typeface="Courier New"/>
                <a:ea typeface="Courier New"/>
                <a:cs typeface="Courier New"/>
                <a:sym typeface="Courier New"/>
              </a:rPr>
              <a:t> apk update &amp;&amp; apk add curl</a:t>
            </a:r>
            <a:endParaRPr sz="1000">
              <a:solidFill>
                <a:schemeClr val="lt1"/>
              </a:solidFill>
              <a:latin typeface="Courier New"/>
              <a:ea typeface="Courier New"/>
              <a:cs typeface="Courier New"/>
              <a:sym typeface="Courier New"/>
            </a:endParaRPr>
          </a:p>
        </p:txBody>
      </p:sp>
      <p:sp>
        <p:nvSpPr>
          <p:cNvPr id="1049" name="Google Shape;1049;p105"/>
          <p:cNvSpPr/>
          <p:nvPr/>
        </p:nvSpPr>
        <p:spPr>
          <a:xfrm rot="763">
            <a:off x="1870048" y="3406750"/>
            <a:ext cx="54039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a:t>
            </a:r>
            <a:r>
              <a:rPr lang="en-GB" sz="1000">
                <a:solidFill>
                  <a:schemeClr val="lt1"/>
                </a:solidFill>
                <a:latin typeface="Courier New"/>
                <a:ea typeface="Courier New"/>
                <a:cs typeface="Courier New"/>
                <a:sym typeface="Courier New"/>
              </a:rPr>
              <a:t> curl -I https://google.com</a:t>
            </a:r>
            <a:endParaRPr sz="1000">
              <a:solidFill>
                <a:schemeClr val="lt1"/>
              </a:solidFill>
              <a:latin typeface="Courier New"/>
              <a:ea typeface="Courier New"/>
              <a:cs typeface="Courier New"/>
              <a:sym typeface="Courier New"/>
            </a:endParaRPr>
          </a:p>
        </p:txBody>
      </p:sp>
      <p:sp>
        <p:nvSpPr>
          <p:cNvPr id="1050" name="Google Shape;1050;p105"/>
          <p:cNvSpPr/>
          <p:nvPr/>
        </p:nvSpPr>
        <p:spPr>
          <a:xfrm rot="763">
            <a:off x="1870048" y="4124250"/>
            <a:ext cx="54039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a:t>
            </a:r>
            <a:r>
              <a:rPr lang="en-GB" sz="1000">
                <a:solidFill>
                  <a:schemeClr val="lt1"/>
                </a:solidFill>
                <a:latin typeface="Courier New"/>
                <a:ea typeface="Courier New"/>
                <a:cs typeface="Courier New"/>
                <a:sym typeface="Courier New"/>
              </a:rPr>
              <a:t> exit</a:t>
            </a:r>
            <a:endParaRPr sz="1000">
              <a:solidFill>
                <a:schemeClr val="lt1"/>
              </a:solidFill>
              <a:latin typeface="Courier New"/>
              <a:ea typeface="Courier New"/>
              <a:cs typeface="Courier New"/>
              <a:sym typeface="Courier New"/>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06"/>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056" name="Google Shape;1056;p10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Interactive image creation</a:t>
            </a:r>
            <a:endParaRPr sz="2000">
              <a:solidFill>
                <a:srgbClr val="073763"/>
              </a:solidFill>
              <a:latin typeface="Maven Pro"/>
              <a:ea typeface="Maven Pro"/>
              <a:cs typeface="Maven Pro"/>
              <a:sym typeface="Maven Pro"/>
            </a:endParaRPr>
          </a:p>
        </p:txBody>
      </p:sp>
      <p:pic>
        <p:nvPicPr>
          <p:cNvPr id="1057" name="Google Shape;1057;p10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058" name="Google Shape;1058;p1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59" name="Google Shape;1059;p106"/>
          <p:cNvSpPr/>
          <p:nvPr/>
        </p:nvSpPr>
        <p:spPr>
          <a:xfrm rot="763">
            <a:off x="1870050" y="1334550"/>
            <a:ext cx="5403900" cy="4722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a:t>
            </a:r>
            <a:r>
              <a:rPr lang="en-GB" sz="1000">
                <a:solidFill>
                  <a:schemeClr val="lt1"/>
                </a:solidFill>
                <a:latin typeface="Courier New"/>
                <a:ea typeface="Courier New"/>
                <a:cs typeface="Courier New"/>
                <a:sym typeface="Courier New"/>
              </a:rPr>
              <a:t>docker container ls -a | grep sample</a:t>
            </a:r>
            <a:endParaRPr sz="1000">
              <a:solidFill>
                <a:schemeClr val="lt1"/>
              </a:solidFill>
              <a:latin typeface="Courier New"/>
              <a:ea typeface="Courier New"/>
              <a:cs typeface="Courier New"/>
              <a:sym typeface="Courier New"/>
            </a:endParaRPr>
          </a:p>
        </p:txBody>
      </p:sp>
      <p:sp>
        <p:nvSpPr>
          <p:cNvPr id="1060" name="Google Shape;1060;p106"/>
          <p:cNvSpPr/>
          <p:nvPr/>
        </p:nvSpPr>
        <p:spPr>
          <a:xfrm rot="763">
            <a:off x="1870048" y="1988450"/>
            <a:ext cx="54039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container diff sample</a:t>
            </a:r>
            <a:endParaRPr sz="1000">
              <a:solidFill>
                <a:schemeClr val="lt1"/>
              </a:solidFill>
              <a:latin typeface="Courier New"/>
              <a:ea typeface="Courier New"/>
              <a:cs typeface="Courier New"/>
              <a:sym typeface="Courier New"/>
            </a:endParaRPr>
          </a:p>
        </p:txBody>
      </p:sp>
      <p:sp>
        <p:nvSpPr>
          <p:cNvPr id="1061" name="Google Shape;1061;p106"/>
          <p:cNvSpPr/>
          <p:nvPr/>
        </p:nvSpPr>
        <p:spPr>
          <a:xfrm rot="763">
            <a:off x="1870048" y="2705950"/>
            <a:ext cx="54039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container commit sample my-alpine</a:t>
            </a:r>
            <a:endParaRPr sz="1000">
              <a:solidFill>
                <a:schemeClr val="lt1"/>
              </a:solidFill>
              <a:latin typeface="Courier New"/>
              <a:ea typeface="Courier New"/>
              <a:cs typeface="Courier New"/>
              <a:sym typeface="Courier New"/>
            </a:endParaRPr>
          </a:p>
        </p:txBody>
      </p:sp>
      <p:sp>
        <p:nvSpPr>
          <p:cNvPr id="1062" name="Google Shape;1062;p106"/>
          <p:cNvSpPr/>
          <p:nvPr/>
        </p:nvSpPr>
        <p:spPr>
          <a:xfrm rot="763">
            <a:off x="1870048" y="3423450"/>
            <a:ext cx="54039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image ls</a:t>
            </a:r>
            <a:endParaRPr sz="1000">
              <a:solidFill>
                <a:schemeClr val="lt1"/>
              </a:solidFill>
              <a:latin typeface="Courier New"/>
              <a:ea typeface="Courier New"/>
              <a:cs typeface="Courier New"/>
              <a:sym typeface="Courier New"/>
            </a:endParaRPr>
          </a:p>
        </p:txBody>
      </p:sp>
      <p:sp>
        <p:nvSpPr>
          <p:cNvPr id="1063" name="Google Shape;1063;p106"/>
          <p:cNvSpPr/>
          <p:nvPr/>
        </p:nvSpPr>
        <p:spPr>
          <a:xfrm rot="763">
            <a:off x="1870048" y="4140950"/>
            <a:ext cx="5403900" cy="5358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image history my-alpine</a:t>
            </a:r>
            <a:endParaRPr sz="1000">
              <a:solidFill>
                <a:schemeClr val="lt1"/>
              </a:solidFill>
              <a:latin typeface="Courier New"/>
              <a:ea typeface="Courier New"/>
              <a:cs typeface="Courier New"/>
              <a:sym typeface="Courier New"/>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107"/>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069" name="Google Shape;1069;p10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Declarative</a:t>
            </a:r>
            <a:r>
              <a:rPr b="1" lang="en-GB" sz="2000">
                <a:solidFill>
                  <a:srgbClr val="073763"/>
                </a:solidFill>
                <a:latin typeface="Maven Pro"/>
                <a:ea typeface="Maven Pro"/>
                <a:cs typeface="Maven Pro"/>
                <a:sym typeface="Maven Pro"/>
              </a:rPr>
              <a:t> image creation - Dockerfile</a:t>
            </a:r>
            <a:endParaRPr sz="2000">
              <a:solidFill>
                <a:srgbClr val="073763"/>
              </a:solidFill>
              <a:latin typeface="Maven Pro"/>
              <a:ea typeface="Maven Pro"/>
              <a:cs typeface="Maven Pro"/>
              <a:sym typeface="Maven Pro"/>
            </a:endParaRPr>
          </a:p>
        </p:txBody>
      </p:sp>
      <p:pic>
        <p:nvPicPr>
          <p:cNvPr id="1070" name="Google Shape;1070;p10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071" name="Google Shape;1071;p1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72" name="Google Shape;1072;p107"/>
          <p:cNvSpPr txBox="1"/>
          <p:nvPr/>
        </p:nvSpPr>
        <p:spPr>
          <a:xfrm>
            <a:off x="573900" y="1344650"/>
            <a:ext cx="7996200" cy="2024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100">
                <a:solidFill>
                  <a:srgbClr val="00084D"/>
                </a:solidFill>
                <a:latin typeface="Maven Pro"/>
                <a:ea typeface="Maven Pro"/>
                <a:cs typeface="Maven Pro"/>
                <a:sym typeface="Maven Pro"/>
              </a:rPr>
              <a:t>La création manuelle d'images personnalisées, comme déjà montré, est très utile lors de l'exploration, de la création de prototypes ou de la rédaction d'études de faisabilité. Mais cela présente un inconvénient majeur : </a:t>
            </a:r>
            <a:endParaRPr sz="1100">
              <a:solidFill>
                <a:srgbClr val="00084D"/>
              </a:solidFill>
              <a:latin typeface="Maven Pro"/>
              <a:ea typeface="Maven Pro"/>
              <a:cs typeface="Maven Pro"/>
              <a:sym typeface="Maven Pro"/>
            </a:endParaRPr>
          </a:p>
          <a:p>
            <a:pPr indent="-298450" lvl="0" marL="457200" rtl="0" algn="l">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c'est un processus manuel et donc non reproductible ni évolutif. </a:t>
            </a:r>
            <a:endParaRPr sz="1100">
              <a:solidFill>
                <a:srgbClr val="00084D"/>
              </a:solidFill>
              <a:latin typeface="Maven Pro"/>
              <a:ea typeface="Maven Pro"/>
              <a:cs typeface="Maven Pro"/>
              <a:sym typeface="Maven Pro"/>
            </a:endParaRPr>
          </a:p>
          <a:p>
            <a:pPr indent="-298450" lvl="0" marL="457200" rtl="0" algn="l">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Il est également sujet aux erreurs, comme toute autre tâche exécutée manuellement par des humains. Il doit y avoir une meilleure façon de faire.</a:t>
            </a:r>
            <a:endParaRPr sz="1100">
              <a:solidFill>
                <a:srgbClr val="00084D"/>
              </a:solidFill>
              <a:latin typeface="Maven Pro"/>
              <a:ea typeface="Maven Pro"/>
              <a:cs typeface="Maven Pro"/>
              <a:sym typeface="Maven Pro"/>
            </a:endParaRPr>
          </a:p>
          <a:p>
            <a:pPr indent="0" lvl="0" marL="0" rtl="0" algn="l">
              <a:lnSpc>
                <a:spcPct val="115000"/>
              </a:lnSpc>
              <a:spcBef>
                <a:spcPts val="1200"/>
              </a:spcBef>
              <a:spcAft>
                <a:spcPts val="1200"/>
              </a:spcAft>
              <a:buNone/>
            </a:pPr>
            <a:r>
              <a:rPr lang="en-GB" sz="1100">
                <a:solidFill>
                  <a:srgbClr val="00084D"/>
                </a:solidFill>
                <a:latin typeface="Maven Pro"/>
                <a:ea typeface="Maven Pro"/>
                <a:cs typeface="Maven Pro"/>
                <a:sym typeface="Maven Pro"/>
              </a:rPr>
              <a:t>C'est là qu'intervient le </a:t>
            </a:r>
            <a:r>
              <a:rPr lang="en-GB" sz="1100">
                <a:solidFill>
                  <a:srgbClr val="00084D"/>
                </a:solidFill>
                <a:latin typeface="Maven Pro Medium"/>
                <a:ea typeface="Maven Pro Medium"/>
                <a:cs typeface="Maven Pro Medium"/>
                <a:sym typeface="Maven Pro Medium"/>
              </a:rPr>
              <a:t>Dockerfile</a:t>
            </a:r>
            <a:r>
              <a:rPr lang="en-GB" sz="1100">
                <a:solidFill>
                  <a:srgbClr val="00084D"/>
                </a:solidFill>
                <a:latin typeface="Maven Pro"/>
                <a:ea typeface="Maven Pro"/>
                <a:cs typeface="Maven Pro"/>
                <a:sym typeface="Maven Pro"/>
              </a:rPr>
              <a:t>. Un Dockerfile est un fichier texte qui, par défaut, s'appelle Dockerfile. Il contient des instructions sur la manière de construire une image de conteneur personnalisée. C'est une manière déclarative de construire des images.</a:t>
            </a:r>
            <a:endParaRPr sz="1100">
              <a:solidFill>
                <a:srgbClr val="00084D"/>
              </a:solidFill>
              <a:latin typeface="Maven Pro"/>
              <a:ea typeface="Maven Pro"/>
              <a:cs typeface="Maven Pro"/>
              <a:sym typeface="Maven Pro"/>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08"/>
          <p:cNvSpPr/>
          <p:nvPr/>
        </p:nvSpPr>
        <p:spPr>
          <a:xfrm>
            <a:off x="0" y="0"/>
            <a:ext cx="9144000" cy="5143500"/>
          </a:xfrm>
          <a:prstGeom prst="rect">
            <a:avLst/>
          </a:prstGeom>
          <a:solidFill>
            <a:srgbClr val="E5F2FC"/>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078" name="Google Shape;1078;p10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Declarative image creation - Dockerfile</a:t>
            </a:r>
            <a:endParaRPr sz="2000">
              <a:solidFill>
                <a:srgbClr val="073763"/>
              </a:solidFill>
              <a:latin typeface="Maven Pro"/>
              <a:ea typeface="Maven Pro"/>
              <a:cs typeface="Maven Pro"/>
              <a:sym typeface="Maven Pro"/>
            </a:endParaRPr>
          </a:p>
        </p:txBody>
      </p:sp>
      <p:pic>
        <p:nvPicPr>
          <p:cNvPr id="1079" name="Google Shape;1079;p10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080" name="Google Shape;1080;p1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81" name="Google Shape;1081;p108"/>
          <p:cNvSpPr txBox="1"/>
          <p:nvPr/>
        </p:nvSpPr>
        <p:spPr>
          <a:xfrm>
            <a:off x="548400" y="1672550"/>
            <a:ext cx="3998100" cy="23073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200"/>
              </a:spcBef>
              <a:spcAft>
                <a:spcPts val="0"/>
              </a:spcAft>
              <a:buNone/>
            </a:pPr>
            <a:r>
              <a:rPr lang="en-GB" sz="1100">
                <a:solidFill>
                  <a:srgbClr val="00084D"/>
                </a:solidFill>
                <a:latin typeface="Maven Pro"/>
                <a:ea typeface="Maven Pro"/>
                <a:cs typeface="Maven Pro"/>
                <a:sym typeface="Maven Pro"/>
              </a:rPr>
              <a:t>Un Dockerfile est un fichier texte qui contient un ensemble d'instructions pour construire une image Docker. </a:t>
            </a:r>
            <a:endParaRPr sz="1100">
              <a:solidFill>
                <a:srgbClr val="00084D"/>
              </a:solidFill>
              <a:latin typeface="Maven Pro"/>
              <a:ea typeface="Maven Pro"/>
              <a:cs typeface="Maven Pro"/>
              <a:sym typeface="Maven Pro"/>
            </a:endParaRPr>
          </a:p>
          <a:p>
            <a:pPr indent="0" lvl="0" marL="0" rtl="0" algn="just">
              <a:lnSpc>
                <a:spcPct val="115000"/>
              </a:lnSpc>
              <a:spcBef>
                <a:spcPts val="1200"/>
              </a:spcBef>
              <a:spcAft>
                <a:spcPts val="0"/>
              </a:spcAft>
              <a:buNone/>
            </a:pPr>
            <a:r>
              <a:rPr lang="en-GB" sz="1100">
                <a:solidFill>
                  <a:srgbClr val="00084D"/>
                </a:solidFill>
                <a:latin typeface="Maven Pro"/>
                <a:ea typeface="Maven Pro"/>
                <a:cs typeface="Maven Pro"/>
                <a:sym typeface="Maven Pro"/>
              </a:rPr>
              <a:t>Il décrit toutes les étapes nécessaires pour configurer un environnement, telles que l'installation de logiciels, la copie de fichiers et la définition des options de configuration.</a:t>
            </a:r>
            <a:endParaRPr sz="1100">
              <a:solidFill>
                <a:srgbClr val="00084D"/>
              </a:solidFill>
              <a:latin typeface="Maven Pro"/>
              <a:ea typeface="Maven Pro"/>
              <a:cs typeface="Maven Pro"/>
              <a:sym typeface="Maven Pro"/>
            </a:endParaRPr>
          </a:p>
          <a:p>
            <a:pPr indent="0" lvl="0" marL="0" rtl="0" algn="just">
              <a:lnSpc>
                <a:spcPct val="115000"/>
              </a:lnSpc>
              <a:spcBef>
                <a:spcPts val="1200"/>
              </a:spcBef>
              <a:spcAft>
                <a:spcPts val="1200"/>
              </a:spcAft>
              <a:buNone/>
            </a:pPr>
            <a:r>
              <a:rPr lang="en-GB" sz="1100">
                <a:solidFill>
                  <a:srgbClr val="00084D"/>
                </a:solidFill>
                <a:latin typeface="Maven Pro"/>
                <a:ea typeface="Maven Pro"/>
                <a:cs typeface="Maven Pro"/>
                <a:sym typeface="Maven Pro"/>
              </a:rPr>
              <a:t>Lorsque vous exécutez la commande Docker build, elle lit le Dockerfile et crée une image basée sur ces instructions. Cela vous permet d'automatiser et de recréer de manière cohérente l'environnement pour votre application.</a:t>
            </a:r>
            <a:endParaRPr sz="1100">
              <a:solidFill>
                <a:srgbClr val="00084D"/>
              </a:solidFill>
              <a:latin typeface="Maven Pro"/>
              <a:ea typeface="Maven Pro"/>
              <a:cs typeface="Maven Pro"/>
              <a:sym typeface="Maven Pro"/>
            </a:endParaRPr>
          </a:p>
        </p:txBody>
      </p:sp>
      <p:pic>
        <p:nvPicPr>
          <p:cNvPr id="1082" name="Google Shape;1082;p108"/>
          <p:cNvPicPr preferRelativeResize="0"/>
          <p:nvPr/>
        </p:nvPicPr>
        <p:blipFill>
          <a:blip r:embed="rId4">
            <a:alphaModFix/>
          </a:blip>
          <a:stretch>
            <a:fillRect/>
          </a:stretch>
        </p:blipFill>
        <p:spPr>
          <a:xfrm>
            <a:off x="4572000" y="1803506"/>
            <a:ext cx="4572001" cy="1925419"/>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09"/>
          <p:cNvSpPr/>
          <p:nvPr/>
        </p:nvSpPr>
        <p:spPr>
          <a:xfrm>
            <a:off x="0" y="0"/>
            <a:ext cx="9144000" cy="5143500"/>
          </a:xfrm>
          <a:prstGeom prst="rect">
            <a:avLst/>
          </a:prstGeom>
          <a:solidFill>
            <a:srgbClr val="FFFFFF"/>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sp>
        <p:nvSpPr>
          <p:cNvPr id="1088" name="Google Shape;1088;p10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Clr>
                <a:schemeClr val="dk1"/>
              </a:buClr>
              <a:buSzPts val="1100"/>
              <a:buFont typeface="Arial"/>
              <a:buNone/>
            </a:pPr>
            <a:r>
              <a:rPr b="1" lang="en-GB" sz="2000">
                <a:solidFill>
                  <a:srgbClr val="073763"/>
                </a:solidFill>
                <a:latin typeface="Maven Pro"/>
                <a:ea typeface="Maven Pro"/>
                <a:cs typeface="Maven Pro"/>
                <a:sym typeface="Maven Pro"/>
              </a:rPr>
              <a:t>Declarative image creation - Dockerfile</a:t>
            </a:r>
            <a:endParaRPr sz="2000">
              <a:solidFill>
                <a:srgbClr val="073763"/>
              </a:solidFill>
              <a:latin typeface="Maven Pro"/>
              <a:ea typeface="Maven Pro"/>
              <a:cs typeface="Maven Pro"/>
              <a:sym typeface="Maven Pro"/>
            </a:endParaRPr>
          </a:p>
        </p:txBody>
      </p:sp>
      <p:pic>
        <p:nvPicPr>
          <p:cNvPr id="1089" name="Google Shape;1089;p10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090" name="Google Shape;1090;p1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091" name="Google Shape;1091;p109"/>
          <p:cNvSpPr txBox="1"/>
          <p:nvPr/>
        </p:nvSpPr>
        <p:spPr>
          <a:xfrm>
            <a:off x="573900" y="1344650"/>
            <a:ext cx="7996200" cy="938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n-GB" sz="1100">
                <a:solidFill>
                  <a:srgbClr val="00084D"/>
                </a:solidFill>
                <a:latin typeface="Maven Pro"/>
                <a:ea typeface="Maven Pro"/>
                <a:cs typeface="Maven Pro"/>
                <a:sym typeface="Maven Pro"/>
              </a:rPr>
              <a:t>Chaque ligne du Dockerfile correspond à une couche dans l'image résultante. Dans la figure suivante, l'image est représentée à l'envers par rapport aux figures précédentes de ce chapitre, montrant une image comme une pile de couches. Ici, la couche de base est montrée en haut. Ne vous laissez pas tromper par cela. En réalité, la couche de base est toujours la plus basse dans la pile.</a:t>
            </a:r>
            <a:endParaRPr sz="1100">
              <a:solidFill>
                <a:srgbClr val="00084D"/>
              </a:solidFill>
              <a:latin typeface="Maven Pro"/>
              <a:ea typeface="Maven Pro"/>
              <a:cs typeface="Maven Pro"/>
              <a:sym typeface="Maven Pro"/>
            </a:endParaRPr>
          </a:p>
        </p:txBody>
      </p:sp>
      <p:pic>
        <p:nvPicPr>
          <p:cNvPr id="1092" name="Google Shape;1092;p109"/>
          <p:cNvPicPr preferRelativeResize="0"/>
          <p:nvPr/>
        </p:nvPicPr>
        <p:blipFill>
          <a:blip r:embed="rId4">
            <a:alphaModFix/>
          </a:blip>
          <a:stretch>
            <a:fillRect/>
          </a:stretch>
        </p:blipFill>
        <p:spPr>
          <a:xfrm>
            <a:off x="1715051" y="2362601"/>
            <a:ext cx="5713900" cy="278090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10"/>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pic>
        <p:nvPicPr>
          <p:cNvPr id="1098" name="Google Shape;1098;p110"/>
          <p:cNvPicPr preferRelativeResize="0"/>
          <p:nvPr/>
        </p:nvPicPr>
        <p:blipFill>
          <a:blip r:embed="rId3">
            <a:alphaModFix/>
          </a:blip>
          <a:stretch>
            <a:fillRect/>
          </a:stretch>
        </p:blipFill>
        <p:spPr>
          <a:xfrm>
            <a:off x="1725268" y="1108200"/>
            <a:ext cx="5724921" cy="2234400"/>
          </a:xfrm>
          <a:prstGeom prst="rect">
            <a:avLst/>
          </a:prstGeom>
          <a:noFill/>
          <a:ln>
            <a:noFill/>
          </a:ln>
        </p:spPr>
      </p:pic>
      <p:sp>
        <p:nvSpPr>
          <p:cNvPr id="1099" name="Google Shape;1099;p110"/>
          <p:cNvSpPr txBox="1"/>
          <p:nvPr/>
        </p:nvSpPr>
        <p:spPr>
          <a:xfrm>
            <a:off x="3087729" y="3342600"/>
            <a:ext cx="3000000" cy="1800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500">
                <a:solidFill>
                  <a:srgbClr val="CC0000"/>
                </a:solidFill>
                <a:latin typeface="Nunito"/>
                <a:ea typeface="Nunito"/>
                <a:cs typeface="Nunito"/>
                <a:sym typeface="Nunito"/>
              </a:rPr>
              <a:t>Dockerfile is the starting point. It’s a script with instructions on how to build a Docker image. It defines everything your application needs, such as base operating system, dependencies, and configuration.</a:t>
            </a:r>
            <a:endParaRPr sz="1500">
              <a:solidFill>
                <a:srgbClr val="CC0000"/>
              </a:solidFill>
              <a:latin typeface="Nunito"/>
              <a:ea typeface="Nunito"/>
              <a:cs typeface="Nunito"/>
              <a:sym typeface="Nunito"/>
            </a:endParaRPr>
          </a:p>
        </p:txBody>
      </p:sp>
      <p:sp>
        <p:nvSpPr>
          <p:cNvPr id="1100" name="Google Shape;1100;p110"/>
          <p:cNvSpPr txBox="1"/>
          <p:nvPr/>
        </p:nvSpPr>
        <p:spPr>
          <a:xfrm>
            <a:off x="31450" y="3311275"/>
            <a:ext cx="3000000" cy="1800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500">
                <a:solidFill>
                  <a:srgbClr val="222222"/>
                </a:solidFill>
                <a:latin typeface="Nunito"/>
                <a:ea typeface="Nunito"/>
                <a:cs typeface="Nunito"/>
                <a:sym typeface="Nunito"/>
              </a:rPr>
              <a:t>Docker Image is the result of building a Dockerfile. It’s a read-only template that contains the application and everything required to run it. You can think of an image as a blueprint for creating containers.</a:t>
            </a:r>
            <a:endParaRPr sz="1500">
              <a:solidFill>
                <a:srgbClr val="222222"/>
              </a:solidFill>
              <a:latin typeface="Nunito"/>
              <a:ea typeface="Nunito"/>
              <a:cs typeface="Nunito"/>
              <a:sym typeface="Nunito"/>
            </a:endParaRPr>
          </a:p>
        </p:txBody>
      </p:sp>
      <p:sp>
        <p:nvSpPr>
          <p:cNvPr id="1101" name="Google Shape;1101;p110"/>
          <p:cNvSpPr txBox="1"/>
          <p:nvPr/>
        </p:nvSpPr>
        <p:spPr>
          <a:xfrm>
            <a:off x="6144000" y="3342600"/>
            <a:ext cx="3000000" cy="1800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500">
                <a:solidFill>
                  <a:srgbClr val="0000FF"/>
                </a:solidFill>
                <a:latin typeface="Nunito"/>
                <a:ea typeface="Nunito"/>
                <a:cs typeface="Nunito"/>
                <a:sym typeface="Nunito"/>
              </a:rPr>
              <a:t>Docker Container is a running instance of a Docker image. When you run an image, it becomes a container. Containers are lightweight and isolated environments where the application runs.</a:t>
            </a:r>
            <a:endParaRPr sz="1500">
              <a:solidFill>
                <a:srgbClr val="0000FF"/>
              </a:solidFill>
              <a:latin typeface="Nunito"/>
              <a:ea typeface="Nunito"/>
              <a:cs typeface="Nunito"/>
              <a:sym typeface="Nunito"/>
            </a:endParaRPr>
          </a:p>
        </p:txBody>
      </p:sp>
      <p:sp>
        <p:nvSpPr>
          <p:cNvPr id="1102" name="Google Shape;1102;p110"/>
          <p:cNvSpPr txBox="1"/>
          <p:nvPr/>
        </p:nvSpPr>
        <p:spPr>
          <a:xfrm>
            <a:off x="6144000" y="0"/>
            <a:ext cx="30000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500">
                <a:solidFill>
                  <a:srgbClr val="262526"/>
                </a:solidFill>
                <a:latin typeface="Nunito"/>
                <a:ea typeface="Nunito"/>
                <a:cs typeface="Nunito"/>
                <a:sym typeface="Nunito"/>
              </a:rPr>
              <a:t>Docker is the platform that manages everything. It provides the tools to create, run, and manage containers.</a:t>
            </a:r>
            <a:endParaRPr sz="1500">
              <a:solidFill>
                <a:srgbClr val="262526"/>
              </a:solidFill>
              <a:latin typeface="Nunito"/>
              <a:ea typeface="Nunito"/>
              <a:cs typeface="Nunito"/>
              <a:sym typeface="Nunito"/>
            </a:endParaRPr>
          </a:p>
        </p:txBody>
      </p:sp>
      <p:pic>
        <p:nvPicPr>
          <p:cNvPr id="1103" name="Google Shape;1103;p110"/>
          <p:cNvPicPr preferRelativeResize="0"/>
          <p:nvPr/>
        </p:nvPicPr>
        <p:blipFill>
          <a:blip r:embed="rId4">
            <a:alphaModFix/>
          </a:blip>
          <a:stretch>
            <a:fillRect/>
          </a:stretch>
        </p:blipFill>
        <p:spPr>
          <a:xfrm>
            <a:off x="69525" y="4789342"/>
            <a:ext cx="408863" cy="322826"/>
          </a:xfrm>
          <a:prstGeom prst="rect">
            <a:avLst/>
          </a:prstGeom>
          <a:noFill/>
          <a:ln>
            <a:noFill/>
          </a:ln>
        </p:spPr>
      </p:pic>
      <p:sp>
        <p:nvSpPr>
          <p:cNvPr id="1104" name="Google Shape;1104;p1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05" name="Google Shape;1105;p11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Relation Dockerfile-Image-Container</a:t>
            </a:r>
            <a:endParaRPr sz="2000">
              <a:solidFill>
                <a:srgbClr val="073763"/>
              </a:solidFill>
              <a:latin typeface="Maven Pro"/>
              <a:ea typeface="Maven Pro"/>
              <a:cs typeface="Maven Pro"/>
              <a:sym typeface="Maven Pro"/>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111"/>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11" name="Google Shape;1111;p1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12" name="Google Shape;1112;p111"/>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113" name="Google Shape;1113;p111"/>
          <p:cNvPicPr preferRelativeResize="0"/>
          <p:nvPr/>
        </p:nvPicPr>
        <p:blipFill>
          <a:blip r:embed="rId4">
            <a:alphaModFix/>
          </a:blip>
          <a:stretch>
            <a:fillRect/>
          </a:stretch>
        </p:blipFill>
        <p:spPr>
          <a:xfrm>
            <a:off x="4572000" y="1047819"/>
            <a:ext cx="4572001" cy="1925419"/>
          </a:xfrm>
          <a:prstGeom prst="rect">
            <a:avLst/>
          </a:prstGeom>
          <a:noFill/>
          <a:ln>
            <a:noFill/>
          </a:ln>
        </p:spPr>
      </p:pic>
      <p:sp>
        <p:nvSpPr>
          <p:cNvPr id="1114" name="Google Shape;1114;p111"/>
          <p:cNvSpPr/>
          <p:nvPr/>
        </p:nvSpPr>
        <p:spPr>
          <a:xfrm>
            <a:off x="4286900" y="1037996"/>
            <a:ext cx="440400" cy="330300"/>
          </a:xfrm>
          <a:prstGeom prst="rightArrow">
            <a:avLst>
              <a:gd fmla="val 50000" name="adj1"/>
              <a:gd fmla="val 50000" name="adj2"/>
            </a:avLst>
          </a:prstGeom>
          <a:solidFill>
            <a:srgbClr val="FF0000"/>
          </a:solidFill>
          <a:ln cap="flat" cmpd="sng" w="9525">
            <a:solidFill>
              <a:srgbClr val="00084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15" name="Google Shape;1115;p11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FROM instruction</a:t>
            </a:r>
            <a:endParaRPr sz="2000">
              <a:solidFill>
                <a:srgbClr val="073763"/>
              </a:solidFill>
              <a:latin typeface="Maven Pro"/>
              <a:ea typeface="Maven Pro"/>
              <a:cs typeface="Maven Pro"/>
              <a:sym typeface="Maven Pro"/>
            </a:endParaRPr>
          </a:p>
        </p:txBody>
      </p:sp>
      <p:sp>
        <p:nvSpPr>
          <p:cNvPr id="1116" name="Google Shape;1116;p111"/>
          <p:cNvSpPr txBox="1"/>
          <p:nvPr/>
        </p:nvSpPr>
        <p:spPr>
          <a:xfrm>
            <a:off x="548400" y="1822938"/>
            <a:ext cx="3998100" cy="11328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Chaque Dockerfile commence par le mot-clé FROM</a:t>
            </a:r>
            <a:endParaRPr sz="1100">
              <a:solidFill>
                <a:srgbClr val="00084D"/>
              </a:solidFill>
              <a:latin typeface="Maven Pro"/>
              <a:ea typeface="Maven Pro"/>
              <a:cs typeface="Maven Pro"/>
              <a:sym typeface="Maven Pro"/>
            </a:endParaRPr>
          </a:p>
          <a:p>
            <a:pPr indent="-298450" lvl="0" marL="45720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Spécifie l'image de base pour le conteneur Docker.</a:t>
            </a:r>
            <a:endParaRPr sz="1100">
              <a:solidFill>
                <a:srgbClr val="00084D"/>
              </a:solidFill>
              <a:latin typeface="Maven Pro"/>
              <a:ea typeface="Maven Pro"/>
              <a:cs typeface="Maven Pro"/>
              <a:sym typeface="Maven Pro"/>
            </a:endParaRPr>
          </a:p>
          <a:p>
            <a:pPr indent="-298450" lvl="0" marL="45720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C'est obligatoire et toujours la première instruction. Sans cela, Docker ne saura pas quelle image de base utiliser.</a:t>
            </a:r>
            <a:endParaRPr sz="1100">
              <a:solidFill>
                <a:srgbClr val="00084D"/>
              </a:solidFill>
              <a:latin typeface="Maven Pro"/>
              <a:ea typeface="Maven Pro"/>
              <a:cs typeface="Maven Pro"/>
              <a:sym typeface="Maven Pro"/>
            </a:endParaRPr>
          </a:p>
        </p:txBody>
      </p:sp>
      <p:sp>
        <p:nvSpPr>
          <p:cNvPr id="1117" name="Google Shape;1117;p111"/>
          <p:cNvSpPr txBox="1"/>
          <p:nvPr/>
        </p:nvSpPr>
        <p:spPr>
          <a:xfrm>
            <a:off x="687900" y="3410380"/>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FROM &lt;base image&gt;</a:t>
            </a:r>
            <a:endParaRPr sz="1100">
              <a:solidFill>
                <a:srgbClr val="00084D"/>
              </a:solidFill>
              <a:latin typeface="Maven Pro"/>
              <a:ea typeface="Maven Pro"/>
              <a:cs typeface="Maven Pro"/>
              <a:sym typeface="Maven Pro"/>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112"/>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23" name="Google Shape;1123;p1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24" name="Google Shape;1124;p112"/>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125" name="Google Shape;1125;p112"/>
          <p:cNvPicPr preferRelativeResize="0"/>
          <p:nvPr/>
        </p:nvPicPr>
        <p:blipFill>
          <a:blip r:embed="rId4">
            <a:alphaModFix/>
          </a:blip>
          <a:stretch>
            <a:fillRect/>
          </a:stretch>
        </p:blipFill>
        <p:spPr>
          <a:xfrm>
            <a:off x="4572000" y="1047819"/>
            <a:ext cx="4572001" cy="1925419"/>
          </a:xfrm>
          <a:prstGeom prst="rect">
            <a:avLst/>
          </a:prstGeom>
          <a:noFill/>
          <a:ln>
            <a:noFill/>
          </a:ln>
        </p:spPr>
      </p:pic>
      <p:sp>
        <p:nvSpPr>
          <p:cNvPr id="1126" name="Google Shape;1126;p112"/>
          <p:cNvSpPr/>
          <p:nvPr/>
        </p:nvSpPr>
        <p:spPr>
          <a:xfrm>
            <a:off x="4273775" y="1281088"/>
            <a:ext cx="440400" cy="330300"/>
          </a:xfrm>
          <a:prstGeom prst="rightArrow">
            <a:avLst>
              <a:gd fmla="val 50000" name="adj1"/>
              <a:gd fmla="val 50000" name="adj2"/>
            </a:avLst>
          </a:prstGeom>
          <a:solidFill>
            <a:srgbClr val="FF0000"/>
          </a:solidFill>
          <a:ln cap="flat" cmpd="sng" w="9525">
            <a:solidFill>
              <a:srgbClr val="00084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27" name="Google Shape;1127;p11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RUN</a:t>
            </a:r>
            <a:r>
              <a:rPr b="1" lang="en-GB" sz="2000">
                <a:solidFill>
                  <a:srgbClr val="073763"/>
                </a:solidFill>
                <a:latin typeface="Maven Pro"/>
                <a:ea typeface="Maven Pro"/>
                <a:cs typeface="Maven Pro"/>
                <a:sym typeface="Maven Pro"/>
              </a:rPr>
              <a:t> instruction</a:t>
            </a:r>
            <a:endParaRPr sz="2000">
              <a:solidFill>
                <a:srgbClr val="073763"/>
              </a:solidFill>
              <a:latin typeface="Maven Pro"/>
              <a:ea typeface="Maven Pro"/>
              <a:cs typeface="Maven Pro"/>
              <a:sym typeface="Maven Pro"/>
            </a:endParaRPr>
          </a:p>
        </p:txBody>
      </p:sp>
      <p:sp>
        <p:nvSpPr>
          <p:cNvPr id="1128" name="Google Shape;1128;p112"/>
          <p:cNvSpPr txBox="1"/>
          <p:nvPr/>
        </p:nvSpPr>
        <p:spPr>
          <a:xfrm>
            <a:off x="548400" y="1822938"/>
            <a:ext cx="3998100" cy="19116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Exécute des commandes dans le conteneur au moment de Build.</a:t>
            </a:r>
            <a:endParaRPr sz="1100">
              <a:solidFill>
                <a:srgbClr val="00084D"/>
              </a:solidFill>
              <a:latin typeface="Maven Pro"/>
              <a:ea typeface="Maven Pro"/>
              <a:cs typeface="Maven Pro"/>
              <a:sym typeface="Maven Pro"/>
            </a:endParaRPr>
          </a:p>
          <a:p>
            <a:pPr indent="-298450" lvl="0" marL="45720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Utilisé pour installer des logiciels ou effectuer d'autres tâches de configuration à l'intérieur du conteneur.</a:t>
            </a:r>
            <a:endParaRPr sz="1100">
              <a:solidFill>
                <a:srgbClr val="00084D"/>
              </a:solidFill>
              <a:latin typeface="Maven Pro"/>
              <a:ea typeface="Maven Pro"/>
              <a:cs typeface="Maven Pro"/>
              <a:sym typeface="Maven Pro"/>
            </a:endParaRPr>
          </a:p>
          <a:p>
            <a:pPr indent="-298450" lvl="0" marL="45720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Chaque instruction RUN crée une nouvelle couche dans l'image. Il est essentiel de combiner les commandes pour réduire le nombre de couches et obtenir des images plus petites.</a:t>
            </a:r>
            <a:endParaRPr sz="1100">
              <a:solidFill>
                <a:srgbClr val="00084D"/>
              </a:solidFill>
              <a:latin typeface="Maven Pro"/>
              <a:ea typeface="Maven Pro"/>
              <a:cs typeface="Maven Pro"/>
              <a:sym typeface="Maven Pro"/>
            </a:endParaRPr>
          </a:p>
        </p:txBody>
      </p:sp>
      <p:sp>
        <p:nvSpPr>
          <p:cNvPr id="1129" name="Google Shape;1129;p112"/>
          <p:cNvSpPr txBox="1"/>
          <p:nvPr/>
        </p:nvSpPr>
        <p:spPr>
          <a:xfrm>
            <a:off x="687900" y="3667555"/>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RUN</a:t>
            </a:r>
            <a:r>
              <a:rPr lang="en-GB" sz="1500">
                <a:solidFill>
                  <a:schemeClr val="lt1"/>
                </a:solidFill>
                <a:highlight>
                  <a:schemeClr val="dk1"/>
                </a:highlight>
                <a:latin typeface="Courier New"/>
                <a:ea typeface="Courier New"/>
                <a:cs typeface="Courier New"/>
                <a:sym typeface="Courier New"/>
              </a:rPr>
              <a:t> &lt;some linux commands&gt;</a:t>
            </a:r>
            <a:endParaRPr sz="1100">
              <a:solidFill>
                <a:srgbClr val="00084D"/>
              </a:solidFill>
              <a:latin typeface="Maven Pro"/>
              <a:ea typeface="Maven Pro"/>
              <a:cs typeface="Maven Pro"/>
              <a:sym typeface="Maven Pro"/>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113"/>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35" name="Google Shape;1135;p1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36" name="Google Shape;1136;p113"/>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137" name="Google Shape;1137;p113"/>
          <p:cNvPicPr preferRelativeResize="0"/>
          <p:nvPr/>
        </p:nvPicPr>
        <p:blipFill>
          <a:blip r:embed="rId4">
            <a:alphaModFix/>
          </a:blip>
          <a:stretch>
            <a:fillRect/>
          </a:stretch>
        </p:blipFill>
        <p:spPr>
          <a:xfrm>
            <a:off x="4572000" y="1047819"/>
            <a:ext cx="4572001" cy="1925419"/>
          </a:xfrm>
          <a:prstGeom prst="rect">
            <a:avLst/>
          </a:prstGeom>
          <a:noFill/>
          <a:ln>
            <a:noFill/>
          </a:ln>
        </p:spPr>
      </p:pic>
      <p:sp>
        <p:nvSpPr>
          <p:cNvPr id="1138" name="Google Shape;1138;p113"/>
          <p:cNvSpPr/>
          <p:nvPr/>
        </p:nvSpPr>
        <p:spPr>
          <a:xfrm>
            <a:off x="4254475" y="1563988"/>
            <a:ext cx="440400" cy="330300"/>
          </a:xfrm>
          <a:prstGeom prst="rightArrow">
            <a:avLst>
              <a:gd fmla="val 50000" name="adj1"/>
              <a:gd fmla="val 50000" name="adj2"/>
            </a:avLst>
          </a:prstGeom>
          <a:solidFill>
            <a:srgbClr val="FF0000"/>
          </a:solidFill>
          <a:ln cap="flat" cmpd="sng" w="9525">
            <a:solidFill>
              <a:srgbClr val="00084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39" name="Google Shape;1139;p11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WORKDIR</a:t>
            </a:r>
            <a:r>
              <a:rPr b="1" lang="en-GB" sz="2000">
                <a:solidFill>
                  <a:srgbClr val="073763"/>
                </a:solidFill>
                <a:latin typeface="Maven Pro"/>
                <a:ea typeface="Maven Pro"/>
                <a:cs typeface="Maven Pro"/>
                <a:sym typeface="Maven Pro"/>
              </a:rPr>
              <a:t> instruction</a:t>
            </a:r>
            <a:endParaRPr sz="2000">
              <a:solidFill>
                <a:srgbClr val="073763"/>
              </a:solidFill>
              <a:latin typeface="Maven Pro"/>
              <a:ea typeface="Maven Pro"/>
              <a:cs typeface="Maven Pro"/>
              <a:sym typeface="Maven Pro"/>
            </a:endParaRPr>
          </a:p>
        </p:txBody>
      </p:sp>
      <p:sp>
        <p:nvSpPr>
          <p:cNvPr id="1140" name="Google Shape;1140;p113"/>
          <p:cNvSpPr txBox="1"/>
          <p:nvPr/>
        </p:nvSpPr>
        <p:spPr>
          <a:xfrm>
            <a:off x="548400" y="1822938"/>
            <a:ext cx="3998100" cy="17169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Définit le répertoire de travail pour les instructions RUN, CMD, ENTRYPOINT, COPY ou ADD suivantes.</a:t>
            </a:r>
            <a:endParaRPr sz="1100">
              <a:solidFill>
                <a:srgbClr val="00084D"/>
              </a:solidFill>
              <a:latin typeface="Maven Pro"/>
              <a:ea typeface="Maven Pro"/>
              <a:cs typeface="Maven Pro"/>
              <a:sym typeface="Maven Pro"/>
            </a:endParaRPr>
          </a:p>
          <a:p>
            <a:pPr indent="-298450" lvl="0" marL="45720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Change le répertoire à l'intérieur du conteneur où les commandes seront exécutées.</a:t>
            </a:r>
            <a:endParaRPr sz="1100">
              <a:solidFill>
                <a:srgbClr val="00084D"/>
              </a:solidFill>
              <a:latin typeface="Maven Pro"/>
              <a:ea typeface="Maven Pro"/>
              <a:cs typeface="Maven Pro"/>
              <a:sym typeface="Maven Pro"/>
            </a:endParaRPr>
          </a:p>
          <a:p>
            <a:pPr indent="-298450" lvl="0" marL="45720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C'est préférable à l'utilisation de RUN cd, car WORKDIR garantit que toutes les commandes suivantes se dérouleront dans le répertoire spécifié, et cela persiste entre les instructions.</a:t>
            </a:r>
            <a:endParaRPr sz="1100">
              <a:solidFill>
                <a:srgbClr val="00084D"/>
              </a:solidFill>
              <a:latin typeface="Maven Pro"/>
              <a:ea typeface="Maven Pro"/>
              <a:cs typeface="Maven Pro"/>
              <a:sym typeface="Maven Pro"/>
            </a:endParaRPr>
          </a:p>
        </p:txBody>
      </p:sp>
      <p:sp>
        <p:nvSpPr>
          <p:cNvPr id="1141" name="Google Shape;1141;p113"/>
          <p:cNvSpPr txBox="1"/>
          <p:nvPr/>
        </p:nvSpPr>
        <p:spPr>
          <a:xfrm>
            <a:off x="687900" y="3667555"/>
            <a:ext cx="7768200" cy="75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Syntaxe:</a:t>
            </a:r>
            <a:endParaRPr b="1" sz="1200">
              <a:solidFill>
                <a:srgbClr val="FF0000"/>
              </a:solidFill>
              <a:latin typeface="Maven Pro"/>
              <a:ea typeface="Maven Pro"/>
              <a:cs typeface="Maven Pro"/>
              <a:sym typeface="Maven Pro"/>
            </a:endParaRPr>
          </a:p>
          <a:p>
            <a:pPr indent="457200" lvl="0" marL="0" marR="0" rtl="0" algn="just">
              <a:lnSpc>
                <a:spcPct val="115000"/>
              </a:lnSpc>
              <a:spcBef>
                <a:spcPts val="1000"/>
              </a:spcBef>
              <a:spcAft>
                <a:spcPts val="1000"/>
              </a:spcAft>
              <a:buNone/>
            </a:pPr>
            <a:r>
              <a:rPr lang="en-GB" sz="1500">
                <a:solidFill>
                  <a:schemeClr val="lt1"/>
                </a:solidFill>
                <a:highlight>
                  <a:schemeClr val="dk1"/>
                </a:highlight>
                <a:latin typeface="Courier New"/>
                <a:ea typeface="Courier New"/>
                <a:cs typeface="Courier New"/>
                <a:sym typeface="Courier New"/>
              </a:rPr>
              <a:t>WORKDIR</a:t>
            </a:r>
            <a:r>
              <a:rPr lang="en-GB" sz="1500">
                <a:solidFill>
                  <a:schemeClr val="lt1"/>
                </a:solidFill>
                <a:highlight>
                  <a:schemeClr val="dk1"/>
                </a:highlight>
                <a:latin typeface="Courier New"/>
                <a:ea typeface="Courier New"/>
                <a:cs typeface="Courier New"/>
                <a:sym typeface="Courier New"/>
              </a:rPr>
              <a:t> &lt;WORK DIR PATH&gt;</a:t>
            </a:r>
            <a:endParaRPr sz="1100">
              <a:solidFill>
                <a:srgbClr val="00084D"/>
              </a:solidFill>
              <a:latin typeface="Maven Pro"/>
              <a:ea typeface="Maven Pro"/>
              <a:cs typeface="Maven Pro"/>
              <a:sym typeface="Maven Pro"/>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14"/>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47" name="Google Shape;1147;p1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48" name="Google Shape;1148;p114"/>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149" name="Google Shape;1149;p114"/>
          <p:cNvPicPr preferRelativeResize="0"/>
          <p:nvPr/>
        </p:nvPicPr>
        <p:blipFill>
          <a:blip r:embed="rId4">
            <a:alphaModFix/>
          </a:blip>
          <a:stretch>
            <a:fillRect/>
          </a:stretch>
        </p:blipFill>
        <p:spPr>
          <a:xfrm>
            <a:off x="4572000" y="1047819"/>
            <a:ext cx="4572001" cy="1925419"/>
          </a:xfrm>
          <a:prstGeom prst="rect">
            <a:avLst/>
          </a:prstGeom>
          <a:noFill/>
          <a:ln>
            <a:noFill/>
          </a:ln>
        </p:spPr>
      </p:pic>
      <p:sp>
        <p:nvSpPr>
          <p:cNvPr id="1150" name="Google Shape;1150;p114"/>
          <p:cNvSpPr/>
          <p:nvPr/>
        </p:nvSpPr>
        <p:spPr>
          <a:xfrm>
            <a:off x="4273775" y="1845363"/>
            <a:ext cx="440400" cy="330300"/>
          </a:xfrm>
          <a:prstGeom prst="rightArrow">
            <a:avLst>
              <a:gd fmla="val 50000" name="adj1"/>
              <a:gd fmla="val 50000" name="adj2"/>
            </a:avLst>
          </a:prstGeom>
          <a:solidFill>
            <a:srgbClr val="FF0000"/>
          </a:solidFill>
          <a:ln cap="flat" cmpd="sng" w="9525">
            <a:solidFill>
              <a:srgbClr val="00084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51" name="Google Shape;1151;p11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COPY</a:t>
            </a:r>
            <a:r>
              <a:rPr b="1" lang="en-GB" sz="2000">
                <a:solidFill>
                  <a:srgbClr val="073763"/>
                </a:solidFill>
                <a:latin typeface="Maven Pro"/>
                <a:ea typeface="Maven Pro"/>
                <a:cs typeface="Maven Pro"/>
                <a:sym typeface="Maven Pro"/>
              </a:rPr>
              <a:t> and ADD instructions</a:t>
            </a:r>
            <a:endParaRPr sz="2000">
              <a:solidFill>
                <a:srgbClr val="073763"/>
              </a:solidFill>
              <a:latin typeface="Maven Pro"/>
              <a:ea typeface="Maven Pro"/>
              <a:cs typeface="Maven Pro"/>
              <a:sym typeface="Maven Pro"/>
            </a:endParaRPr>
          </a:p>
        </p:txBody>
      </p:sp>
      <p:sp>
        <p:nvSpPr>
          <p:cNvPr id="1152" name="Google Shape;1152;p114"/>
          <p:cNvSpPr txBox="1"/>
          <p:nvPr/>
        </p:nvSpPr>
        <p:spPr>
          <a:xfrm>
            <a:off x="548400" y="1047813"/>
            <a:ext cx="3998100" cy="4202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n-GB" sz="1100">
                <a:solidFill>
                  <a:srgbClr val="00084D"/>
                </a:solidFill>
                <a:latin typeface="Maven Pro SemiBold"/>
                <a:ea typeface="Maven Pro SemiBold"/>
                <a:cs typeface="Maven Pro SemiBold"/>
                <a:sym typeface="Maven Pro SemiBold"/>
              </a:rPr>
              <a:t>COPY</a:t>
            </a:r>
            <a:r>
              <a:rPr lang="en-GB" sz="1100">
                <a:solidFill>
                  <a:srgbClr val="00084D"/>
                </a:solidFill>
                <a:latin typeface="Maven Pro"/>
                <a:ea typeface="Maven Pro"/>
                <a:cs typeface="Maven Pro"/>
                <a:sym typeface="Maven Pro"/>
              </a:rPr>
              <a:t> :</a:t>
            </a:r>
            <a:endParaRPr sz="1100">
              <a:solidFill>
                <a:srgbClr val="00084D"/>
              </a:solidFill>
              <a:latin typeface="Maven Pro"/>
              <a:ea typeface="Maven Pro"/>
              <a:cs typeface="Maven Pro"/>
              <a:sym typeface="Maven Pro"/>
            </a:endParaRPr>
          </a:p>
          <a:p>
            <a:pPr indent="-298450" lvl="0" marL="457200" marR="0" rtl="0" algn="just">
              <a:lnSpc>
                <a:spcPct val="100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Copie des fichiers depuis la machine hôte (système de fichiers local) vers le conteneur.</a:t>
            </a:r>
            <a:endParaRPr sz="1100">
              <a:solidFill>
                <a:srgbClr val="00084D"/>
              </a:solidFill>
              <a:latin typeface="Maven Pro"/>
              <a:ea typeface="Maven Pro"/>
              <a:cs typeface="Maven Pro"/>
              <a:sym typeface="Maven Pro"/>
            </a:endParaRPr>
          </a:p>
          <a:p>
            <a:pPr indent="-298450" lvl="0" marL="457200" marR="0" rtl="0" algn="just">
              <a:lnSpc>
                <a:spcPct val="100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Transfère des fichiers ou des répertoires depuis votre système de fichiers local vers le conteneur.</a:t>
            </a:r>
            <a:endParaRPr sz="1100">
              <a:solidFill>
                <a:srgbClr val="00084D"/>
              </a:solidFill>
              <a:latin typeface="Maven Pro"/>
              <a:ea typeface="Maven Pro"/>
              <a:cs typeface="Maven Pro"/>
              <a:sym typeface="Maven Pro"/>
            </a:endParaRPr>
          </a:p>
          <a:p>
            <a:pPr indent="-298450" lvl="0" marL="457200" marR="0" rtl="0" algn="just">
              <a:lnSpc>
                <a:spcPct val="100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COPY copie uniquement des fichiers depuis la machine hôte. C'est plus simple que ADD, qui offre plus de fonctionnalités.</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None/>
            </a:pPr>
            <a:r>
              <a:rPr lang="en-GB" sz="1100">
                <a:solidFill>
                  <a:srgbClr val="00084D"/>
                </a:solidFill>
                <a:latin typeface="Maven Pro SemiBold"/>
                <a:ea typeface="Maven Pro SemiBold"/>
                <a:cs typeface="Maven Pro SemiBold"/>
                <a:sym typeface="Maven Pro SemiBold"/>
              </a:rPr>
              <a:t>ADD :</a:t>
            </a:r>
            <a:endParaRPr sz="1100">
              <a:solidFill>
                <a:srgbClr val="00084D"/>
              </a:solidFill>
              <a:latin typeface="Maven Pro"/>
              <a:ea typeface="Maven Pro"/>
              <a:cs typeface="Maven Pro"/>
              <a:sym typeface="Maven Pro"/>
            </a:endParaRPr>
          </a:p>
          <a:p>
            <a:pPr indent="-298450" lvl="0" marL="457200" marR="0" rtl="0" algn="just">
              <a:lnSpc>
                <a:spcPct val="100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Semblable à COPY, mais permet également des fonctionnalités supplémentaires, comme la copie de fichiers depuis une URL ou l'extraction automatique de fichiers tar.</a:t>
            </a:r>
            <a:endParaRPr sz="1100">
              <a:solidFill>
                <a:srgbClr val="00084D"/>
              </a:solidFill>
              <a:latin typeface="Maven Pro"/>
              <a:ea typeface="Maven Pro"/>
              <a:cs typeface="Maven Pro"/>
              <a:sym typeface="Maven Pro"/>
            </a:endParaRPr>
          </a:p>
          <a:p>
            <a:pPr indent="-298450" lvl="0" marL="457200" marR="0" rtl="0" algn="just">
              <a:lnSpc>
                <a:spcPct val="100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Peut copier des fichiers depuis un chemin local ou une URL et peut décompresser automatiquement des archives compressées.</a:t>
            </a:r>
            <a:endParaRPr sz="1100">
              <a:solidFill>
                <a:srgbClr val="00084D"/>
              </a:solidFill>
              <a:latin typeface="Maven Pro"/>
              <a:ea typeface="Maven Pro"/>
              <a:cs typeface="Maven Pro"/>
              <a:sym typeface="Maven Pro"/>
            </a:endParaRPr>
          </a:p>
          <a:p>
            <a:pPr indent="-298450" lvl="0" marL="457200" marR="0" rtl="0" algn="just">
              <a:lnSpc>
                <a:spcPct val="100000"/>
              </a:lnSpc>
              <a:spcBef>
                <a:spcPts val="0"/>
              </a:spcBef>
              <a:spcAft>
                <a:spcPts val="1200"/>
              </a:spcAft>
              <a:buClr>
                <a:srgbClr val="00084D"/>
              </a:buClr>
              <a:buSzPts val="1100"/>
              <a:buFont typeface="Maven Pro"/>
              <a:buChar char="●"/>
            </a:pPr>
            <a:r>
              <a:rPr lang="en-GB" sz="1100">
                <a:solidFill>
                  <a:srgbClr val="00084D"/>
                </a:solidFill>
                <a:latin typeface="Maven Pro"/>
                <a:ea typeface="Maven Pro"/>
                <a:cs typeface="Maven Pro"/>
                <a:sym typeface="Maven Pro"/>
              </a:rPr>
              <a:t>ADD est plus puissant mais moins prévisible que COPY, il est donc préférable d'utiliser COPY à moins que vous n'ayez besoin des fonctionnalités supplémentaires d'ADD (par exemple, télécharger des fichiers depuis une URL ou gérer des archives).</a:t>
            </a:r>
            <a:endParaRPr sz="1100">
              <a:solidFill>
                <a:srgbClr val="00084D"/>
              </a:solidFill>
              <a:latin typeface="Maven Pro"/>
              <a:ea typeface="Maven Pro"/>
              <a:cs typeface="Maven Pro"/>
              <a:sym typeface="Maven Pro"/>
            </a:endParaRPr>
          </a:p>
        </p:txBody>
      </p:sp>
      <p:sp>
        <p:nvSpPr>
          <p:cNvPr id="1153" name="Google Shape;1153;p114"/>
          <p:cNvSpPr txBox="1"/>
          <p:nvPr/>
        </p:nvSpPr>
        <p:spPr>
          <a:xfrm>
            <a:off x="4915950" y="3288200"/>
            <a:ext cx="3884100" cy="1320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None/>
            </a:pPr>
            <a:r>
              <a:rPr b="1" lang="en-GB" sz="1200">
                <a:solidFill>
                  <a:srgbClr val="073763"/>
                </a:solidFill>
                <a:latin typeface="Maven Pro"/>
                <a:ea typeface="Maven Pro"/>
                <a:cs typeface="Maven Pro"/>
                <a:sym typeface="Maven Pro"/>
              </a:rPr>
              <a:t>Example</a:t>
            </a:r>
            <a:r>
              <a:rPr b="1" lang="en-GB" sz="1200">
                <a:solidFill>
                  <a:srgbClr val="073763"/>
                </a:solidFill>
                <a:latin typeface="Maven Pro"/>
                <a:ea typeface="Maven Pro"/>
                <a:cs typeface="Maven Pro"/>
                <a:sym typeface="Maven Pro"/>
              </a:rPr>
              <a:t>:</a:t>
            </a:r>
            <a:endParaRPr b="1" sz="1200">
              <a:solidFill>
                <a:srgbClr val="FF0000"/>
              </a:solidFill>
              <a:latin typeface="Maven Pro"/>
              <a:ea typeface="Maven Pro"/>
              <a:cs typeface="Maven Pro"/>
              <a:sym typeface="Maven Pro"/>
            </a:endParaRPr>
          </a:p>
          <a:p>
            <a:pPr indent="0" lvl="0" marL="0" rtl="0" algn="l">
              <a:lnSpc>
                <a:spcPct val="100000"/>
              </a:lnSpc>
              <a:spcBef>
                <a:spcPts val="0"/>
              </a:spcBef>
              <a:spcAft>
                <a:spcPts val="0"/>
              </a:spcAft>
              <a:buClr>
                <a:schemeClr val="dk1"/>
              </a:buClr>
              <a:buSzPts val="1100"/>
              <a:buFont typeface="Arial"/>
              <a:buNone/>
            </a:pPr>
            <a:r>
              <a:rPr lang="en-GB" sz="1200">
                <a:solidFill>
                  <a:schemeClr val="lt1"/>
                </a:solidFill>
                <a:highlight>
                  <a:schemeClr val="dk1"/>
                </a:highlight>
                <a:latin typeface="Courier New"/>
                <a:ea typeface="Courier New"/>
                <a:cs typeface="Courier New"/>
                <a:sym typeface="Courier New"/>
              </a:rPr>
              <a:t>COPY . /app</a:t>
            </a:r>
            <a:endParaRPr sz="1200">
              <a:solidFill>
                <a:schemeClr val="lt1"/>
              </a:solidFill>
              <a:highlight>
                <a:schemeClr val="dk1"/>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GB" sz="1200">
                <a:solidFill>
                  <a:schemeClr val="lt1"/>
                </a:solidFill>
                <a:highlight>
                  <a:schemeClr val="dk1"/>
                </a:highlight>
                <a:latin typeface="Courier New"/>
                <a:ea typeface="Courier New"/>
                <a:cs typeface="Courier New"/>
                <a:sym typeface="Courier New"/>
              </a:rPr>
              <a:t>C</a:t>
            </a:r>
            <a:r>
              <a:rPr lang="en-GB" sz="1200">
                <a:solidFill>
                  <a:schemeClr val="lt1"/>
                </a:solidFill>
                <a:highlight>
                  <a:schemeClr val="dk1"/>
                </a:highlight>
                <a:latin typeface="Courier New"/>
                <a:ea typeface="Courier New"/>
                <a:cs typeface="Courier New"/>
                <a:sym typeface="Courier New"/>
              </a:rPr>
              <a:t>OPY ./web /app/web</a:t>
            </a:r>
            <a:endParaRPr sz="1200">
              <a:solidFill>
                <a:schemeClr val="lt1"/>
              </a:solidFill>
              <a:highlight>
                <a:schemeClr val="dk1"/>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GB" sz="1200">
                <a:solidFill>
                  <a:schemeClr val="lt1"/>
                </a:solidFill>
                <a:highlight>
                  <a:schemeClr val="dk1"/>
                </a:highlight>
                <a:latin typeface="Courier New"/>
                <a:ea typeface="Courier New"/>
                <a:cs typeface="Courier New"/>
                <a:sym typeface="Courier New"/>
              </a:rPr>
              <a:t>COPY sample.txt /data/my-sample.txt</a:t>
            </a:r>
            <a:endParaRPr sz="1200">
              <a:solidFill>
                <a:schemeClr val="lt1"/>
              </a:solidFill>
              <a:highlight>
                <a:schemeClr val="dk1"/>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lang="en-GB" sz="1200">
                <a:solidFill>
                  <a:schemeClr val="lt1"/>
                </a:solidFill>
                <a:highlight>
                  <a:schemeClr val="dk1"/>
                </a:highlight>
                <a:latin typeface="Courier New"/>
                <a:ea typeface="Courier New"/>
                <a:cs typeface="Courier New"/>
                <a:sym typeface="Courier New"/>
              </a:rPr>
              <a:t>ADD sample.tar /app/bin/</a:t>
            </a:r>
            <a:endParaRPr sz="1200">
              <a:solidFill>
                <a:schemeClr val="lt1"/>
              </a:solidFill>
              <a:highlight>
                <a:schemeClr val="dk1"/>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GB" sz="1200">
                <a:solidFill>
                  <a:schemeClr val="lt1"/>
                </a:solidFill>
                <a:highlight>
                  <a:schemeClr val="dk1"/>
                </a:highlight>
                <a:latin typeface="Courier New"/>
                <a:ea typeface="Courier New"/>
                <a:cs typeface="Courier New"/>
                <a:sym typeface="Courier New"/>
              </a:rPr>
              <a:t>ADD http://example.com/sample.txt /data/</a:t>
            </a:r>
            <a:endParaRPr sz="1200">
              <a:solidFill>
                <a:srgbClr val="00084D"/>
              </a:solidFill>
              <a:latin typeface="Courier New"/>
              <a:ea typeface="Courier New"/>
              <a:cs typeface="Courier New"/>
              <a:sym typeface="Courier New"/>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115"/>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59" name="Google Shape;1159;p1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60" name="Google Shape;1160;p115"/>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161" name="Google Shape;1161;p115"/>
          <p:cNvPicPr preferRelativeResize="0"/>
          <p:nvPr/>
        </p:nvPicPr>
        <p:blipFill>
          <a:blip r:embed="rId4">
            <a:alphaModFix/>
          </a:blip>
          <a:stretch>
            <a:fillRect/>
          </a:stretch>
        </p:blipFill>
        <p:spPr>
          <a:xfrm>
            <a:off x="4572000" y="1047819"/>
            <a:ext cx="4572001" cy="1925419"/>
          </a:xfrm>
          <a:prstGeom prst="rect">
            <a:avLst/>
          </a:prstGeom>
          <a:noFill/>
          <a:ln>
            <a:noFill/>
          </a:ln>
        </p:spPr>
      </p:pic>
      <p:sp>
        <p:nvSpPr>
          <p:cNvPr id="1162" name="Google Shape;1162;p115"/>
          <p:cNvSpPr/>
          <p:nvPr/>
        </p:nvSpPr>
        <p:spPr>
          <a:xfrm>
            <a:off x="4246975" y="2379799"/>
            <a:ext cx="440400" cy="330300"/>
          </a:xfrm>
          <a:prstGeom prst="rightArrow">
            <a:avLst>
              <a:gd fmla="val 50000" name="adj1"/>
              <a:gd fmla="val 50000" name="adj2"/>
            </a:avLst>
          </a:prstGeom>
          <a:solidFill>
            <a:srgbClr val="FF0000"/>
          </a:solidFill>
          <a:ln cap="flat" cmpd="sng" w="9525">
            <a:solidFill>
              <a:srgbClr val="00084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63" name="Google Shape;1163;p11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CMD</a:t>
            </a:r>
            <a:r>
              <a:rPr b="1" lang="en-GB" sz="2000">
                <a:solidFill>
                  <a:srgbClr val="073763"/>
                </a:solidFill>
                <a:latin typeface="Maven Pro"/>
                <a:ea typeface="Maven Pro"/>
                <a:cs typeface="Maven Pro"/>
                <a:sym typeface="Maven Pro"/>
              </a:rPr>
              <a:t> &amp; ENTRYPOINT instruction</a:t>
            </a:r>
            <a:endParaRPr sz="2000">
              <a:solidFill>
                <a:srgbClr val="073763"/>
              </a:solidFill>
              <a:latin typeface="Maven Pro"/>
              <a:ea typeface="Maven Pro"/>
              <a:cs typeface="Maven Pro"/>
              <a:sym typeface="Maven Pro"/>
            </a:endParaRPr>
          </a:p>
        </p:txBody>
      </p:sp>
      <p:sp>
        <p:nvSpPr>
          <p:cNvPr id="1164" name="Google Shape;1164;p115"/>
          <p:cNvSpPr txBox="1"/>
          <p:nvPr/>
        </p:nvSpPr>
        <p:spPr>
          <a:xfrm>
            <a:off x="548400" y="1357647"/>
            <a:ext cx="3998100" cy="3355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n-GB" sz="1100">
                <a:solidFill>
                  <a:srgbClr val="00084D"/>
                </a:solidFill>
                <a:latin typeface="Maven Pro"/>
                <a:ea typeface="Maven Pro"/>
                <a:cs typeface="Maven Pro"/>
                <a:sym typeface="Maven Pro"/>
              </a:rPr>
              <a:t>Alors que tous les autres mots-clés définis pour un Dockerfile sont exécutés au moment où l'image est construite par le constructeur Docker, ces deux mots-clés sont des définitions de ce qui se passera lorsque un conteneur sera démarré à partir de l'image que nous définissons. </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None/>
            </a:pPr>
            <a:r>
              <a:rPr lang="en-GB" sz="1100">
                <a:solidFill>
                  <a:srgbClr val="00084D"/>
                </a:solidFill>
                <a:latin typeface="Maven Pro"/>
                <a:ea typeface="Maven Pro"/>
                <a:cs typeface="Maven Pro"/>
                <a:sym typeface="Maven Pro"/>
              </a:rPr>
              <a:t>Lorsque le container runtime démarre un conteneur, il doit savoir quel sera le processus ou l'application devant être exécuté à l'intérieur de ce conteneur. C'est exactement à cela que servent CMD et ENTRYPOINT : </a:t>
            </a:r>
            <a:r>
              <a:rPr lang="en-GB" sz="1100">
                <a:solidFill>
                  <a:srgbClr val="00084D"/>
                </a:solidFill>
                <a:latin typeface="Maven Pro Medium"/>
                <a:ea typeface="Maven Pro Medium"/>
                <a:cs typeface="Maven Pro Medium"/>
                <a:sym typeface="Maven Pro Medium"/>
              </a:rPr>
              <a:t>indiquer à Docker quel est le processus de démarrage et comment démarrer ce processus.</a:t>
            </a:r>
            <a:endParaRPr sz="1100">
              <a:solidFill>
                <a:srgbClr val="00084D"/>
              </a:solidFill>
              <a:latin typeface="Maven Pro Medium"/>
              <a:ea typeface="Maven Pro Medium"/>
              <a:cs typeface="Maven Pro Medium"/>
              <a:sym typeface="Maven Pro Medium"/>
            </a:endParaRPr>
          </a:p>
          <a:p>
            <a:pPr indent="-298450" lvl="0" marL="457200" marR="0" rtl="0" algn="just">
              <a:lnSpc>
                <a:spcPct val="100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Spécifie la commande par défaut à exécuter lorsque le conteneur démarre.</a:t>
            </a:r>
            <a:endParaRPr sz="1100">
              <a:solidFill>
                <a:srgbClr val="00084D"/>
              </a:solidFill>
              <a:latin typeface="Maven Pro"/>
              <a:ea typeface="Maven Pro"/>
              <a:cs typeface="Maven Pro"/>
              <a:sym typeface="Maven Pro"/>
            </a:endParaRPr>
          </a:p>
          <a:p>
            <a:pPr indent="-298450" lvl="0" marL="457200" marR="0" rtl="0" algn="just">
              <a:lnSpc>
                <a:spcPct val="100000"/>
              </a:lnSpc>
              <a:spcBef>
                <a:spcPts val="1200"/>
              </a:spcBef>
              <a:spcAft>
                <a:spcPts val="1200"/>
              </a:spcAft>
              <a:buClr>
                <a:srgbClr val="00084D"/>
              </a:buClr>
              <a:buSzPts val="1100"/>
              <a:buFont typeface="Maven Pro"/>
              <a:buChar char="●"/>
            </a:pPr>
            <a:r>
              <a:rPr lang="en-GB" sz="1100">
                <a:solidFill>
                  <a:srgbClr val="00084D"/>
                </a:solidFill>
                <a:latin typeface="Maven Pro"/>
                <a:ea typeface="Maven Pro"/>
                <a:cs typeface="Maven Pro"/>
                <a:sym typeface="Maven Pro"/>
              </a:rPr>
              <a:t>Définit l'exécutable qui sera lancé à l'intérieur du conteneur.</a:t>
            </a:r>
            <a:endParaRPr sz="1100">
              <a:solidFill>
                <a:srgbClr val="00084D"/>
              </a:solidFill>
              <a:latin typeface="Maven Pro"/>
              <a:ea typeface="Maven Pro"/>
              <a:cs typeface="Maven Pro"/>
              <a:sym typeface="Maven Pro"/>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116"/>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70" name="Google Shape;1170;p1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71" name="Google Shape;1171;p11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172" name="Google Shape;1172;p11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CMD &amp; ENTRYPOINT instruction</a:t>
            </a:r>
            <a:endParaRPr sz="2000">
              <a:solidFill>
                <a:srgbClr val="073763"/>
              </a:solidFill>
              <a:latin typeface="Maven Pro"/>
              <a:ea typeface="Maven Pro"/>
              <a:cs typeface="Maven Pro"/>
              <a:sym typeface="Maven Pro"/>
            </a:endParaRPr>
          </a:p>
        </p:txBody>
      </p:sp>
      <p:sp>
        <p:nvSpPr>
          <p:cNvPr id="1173" name="Google Shape;1173;p116"/>
          <p:cNvSpPr txBox="1"/>
          <p:nvPr/>
        </p:nvSpPr>
        <p:spPr>
          <a:xfrm>
            <a:off x="657000" y="1357650"/>
            <a:ext cx="78300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100">
                <a:solidFill>
                  <a:srgbClr val="00084D"/>
                </a:solidFill>
                <a:latin typeface="Maven Pro"/>
                <a:ea typeface="Maven Pro"/>
                <a:cs typeface="Maven Pro"/>
                <a:sym typeface="Maven Pro"/>
              </a:rPr>
              <a:t>Pour mieux comprendre comment utiliser ces deux mots-clés, analysons à quoi ressemble une commande ou une expression typique sous Linux. Prenons l'exemple de l'utilitaire ping, comme suit :</a:t>
            </a:r>
            <a:endParaRPr sz="1100">
              <a:solidFill>
                <a:srgbClr val="00084D"/>
              </a:solidFill>
              <a:latin typeface="Maven Pro"/>
              <a:ea typeface="Maven Pro"/>
              <a:cs typeface="Maven Pro"/>
              <a:sym typeface="Maven Pro"/>
            </a:endParaRPr>
          </a:p>
        </p:txBody>
      </p:sp>
      <p:sp>
        <p:nvSpPr>
          <p:cNvPr id="1174" name="Google Shape;1174;p116"/>
          <p:cNvSpPr/>
          <p:nvPr/>
        </p:nvSpPr>
        <p:spPr>
          <a:xfrm rot="763">
            <a:off x="1870050" y="188145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ping -c 8.8.8.8</a:t>
            </a:r>
            <a:endParaRPr sz="1000">
              <a:solidFill>
                <a:schemeClr val="lt1"/>
              </a:solidFill>
              <a:latin typeface="Courier New"/>
              <a:ea typeface="Courier New"/>
              <a:cs typeface="Courier New"/>
              <a:sym typeface="Courier New"/>
            </a:endParaRPr>
          </a:p>
        </p:txBody>
      </p:sp>
      <p:sp>
        <p:nvSpPr>
          <p:cNvPr id="1175" name="Google Shape;1175;p116"/>
          <p:cNvSpPr txBox="1"/>
          <p:nvPr/>
        </p:nvSpPr>
        <p:spPr>
          <a:xfrm>
            <a:off x="657000" y="2274450"/>
            <a:ext cx="78300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100">
                <a:solidFill>
                  <a:srgbClr val="00084D"/>
                </a:solidFill>
                <a:latin typeface="Maven Pro"/>
                <a:ea typeface="Maven Pro"/>
                <a:cs typeface="Maven Pro"/>
                <a:sym typeface="Maven Pro"/>
              </a:rPr>
              <a:t>Dans l'expression précédente, ping est la commande, et -c 3 8.8.8.8 sont les paramètres de cette commande. Examinons une autre expression ici :</a:t>
            </a:r>
            <a:endParaRPr sz="1100">
              <a:solidFill>
                <a:srgbClr val="00084D"/>
              </a:solidFill>
              <a:latin typeface="Maven Pro"/>
              <a:ea typeface="Maven Pro"/>
              <a:cs typeface="Maven Pro"/>
              <a:sym typeface="Maven Pro"/>
            </a:endParaRPr>
          </a:p>
        </p:txBody>
      </p:sp>
      <p:sp>
        <p:nvSpPr>
          <p:cNvPr id="1176" name="Google Shape;1176;p116"/>
          <p:cNvSpPr/>
          <p:nvPr/>
        </p:nvSpPr>
        <p:spPr>
          <a:xfrm rot="763">
            <a:off x="1870050" y="279825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wget -O - http://example.com/downloads/script.sh</a:t>
            </a:r>
            <a:endParaRPr sz="1000">
              <a:solidFill>
                <a:schemeClr val="lt1"/>
              </a:solidFill>
              <a:latin typeface="Courier New"/>
              <a:ea typeface="Courier New"/>
              <a:cs typeface="Courier New"/>
              <a:sym typeface="Courier New"/>
            </a:endParaRPr>
          </a:p>
        </p:txBody>
      </p:sp>
      <p:sp>
        <p:nvSpPr>
          <p:cNvPr id="1177" name="Google Shape;1177;p116"/>
          <p:cNvSpPr txBox="1"/>
          <p:nvPr/>
        </p:nvSpPr>
        <p:spPr>
          <a:xfrm>
            <a:off x="657000" y="3191250"/>
            <a:ext cx="78300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100">
                <a:solidFill>
                  <a:srgbClr val="00084D"/>
                </a:solidFill>
                <a:latin typeface="Maven Pro"/>
                <a:ea typeface="Maven Pro"/>
                <a:cs typeface="Maven Pro"/>
                <a:sym typeface="Maven Pro"/>
              </a:rPr>
              <a:t>Encore une fois, dans l'expression précédente, wget est la commande, et -O - http://example.com/downloads/script.sh sont les paramètres.</a:t>
            </a:r>
            <a:endParaRPr sz="1100">
              <a:solidFill>
                <a:srgbClr val="00084D"/>
              </a:solidFill>
              <a:latin typeface="Maven Pro"/>
              <a:ea typeface="Maven Pro"/>
              <a:cs typeface="Maven Pro"/>
              <a:sym typeface="Maven Pro"/>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117"/>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83" name="Google Shape;1183;p1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84" name="Google Shape;1184;p11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185" name="Google Shape;1185;p11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CMD &amp; ENTRYPOINT instruction</a:t>
            </a:r>
            <a:endParaRPr sz="2000">
              <a:solidFill>
                <a:srgbClr val="073763"/>
              </a:solidFill>
              <a:latin typeface="Maven Pro"/>
              <a:ea typeface="Maven Pro"/>
              <a:cs typeface="Maven Pro"/>
              <a:sym typeface="Maven Pro"/>
            </a:endParaRPr>
          </a:p>
        </p:txBody>
      </p:sp>
      <p:sp>
        <p:nvSpPr>
          <p:cNvPr id="1186" name="Google Shape;1186;p117"/>
          <p:cNvSpPr txBox="1"/>
          <p:nvPr/>
        </p:nvSpPr>
        <p:spPr>
          <a:xfrm>
            <a:off x="657000" y="1357650"/>
            <a:ext cx="4814700" cy="1031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100">
                <a:solidFill>
                  <a:srgbClr val="00084D"/>
                </a:solidFill>
                <a:latin typeface="Maven Pro Medium"/>
                <a:ea typeface="Maven Pro Medium"/>
                <a:cs typeface="Maven Pro Medium"/>
                <a:sym typeface="Maven Pro Medium"/>
              </a:rPr>
              <a:t>ENTRYPOINT</a:t>
            </a:r>
            <a:r>
              <a:rPr lang="en-GB" sz="1100">
                <a:solidFill>
                  <a:srgbClr val="00084D"/>
                </a:solidFill>
                <a:latin typeface="Maven Pro"/>
                <a:ea typeface="Maven Pro"/>
                <a:cs typeface="Maven Pro"/>
                <a:sym typeface="Maven Pro"/>
              </a:rPr>
              <a:t> est utilisé pour définir la commande de l'expression, tandis que</a:t>
            </a:r>
            <a:r>
              <a:rPr lang="en-GB" sz="1100">
                <a:solidFill>
                  <a:srgbClr val="00084D"/>
                </a:solidFill>
                <a:latin typeface="Maven Pro Medium"/>
                <a:ea typeface="Maven Pro Medium"/>
                <a:cs typeface="Maven Pro Medium"/>
                <a:sym typeface="Maven Pro Medium"/>
              </a:rPr>
              <a:t> CMD</a:t>
            </a:r>
            <a:r>
              <a:rPr lang="en-GB" sz="1100">
                <a:solidFill>
                  <a:srgbClr val="00084D"/>
                </a:solidFill>
                <a:latin typeface="Maven Pro"/>
                <a:ea typeface="Maven Pro"/>
                <a:cs typeface="Maven Pro"/>
                <a:sym typeface="Maven Pro"/>
              </a:rPr>
              <a:t> est utilisé pour définir les paramètres de la commande. Ainsi, un Dockerfile utilisant Alpine comme image de base et définissant ping comme le processus à exécuter dans le conteneur pourrait ressembler à ceci :</a:t>
            </a:r>
            <a:endParaRPr sz="1100">
              <a:solidFill>
                <a:srgbClr val="00084D"/>
              </a:solidFill>
              <a:latin typeface="Maven Pro"/>
              <a:ea typeface="Maven Pro"/>
              <a:cs typeface="Maven Pro"/>
              <a:sym typeface="Maven Pro"/>
            </a:endParaRPr>
          </a:p>
        </p:txBody>
      </p:sp>
      <p:sp>
        <p:nvSpPr>
          <p:cNvPr id="1187" name="Google Shape;1187;p117"/>
          <p:cNvSpPr/>
          <p:nvPr/>
        </p:nvSpPr>
        <p:spPr>
          <a:xfrm rot="902">
            <a:off x="5471700" y="1414403"/>
            <a:ext cx="3432000" cy="826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300">
                <a:solidFill>
                  <a:srgbClr val="EAD1DC"/>
                </a:solidFill>
                <a:latin typeface="Courier New"/>
                <a:ea typeface="Courier New"/>
                <a:cs typeface="Courier New"/>
                <a:sym typeface="Courier New"/>
              </a:rPr>
              <a:t>FROM</a:t>
            </a:r>
            <a:r>
              <a:rPr lang="en-GB" sz="1300">
                <a:solidFill>
                  <a:schemeClr val="lt1"/>
                </a:solidFill>
                <a:latin typeface="Courier New"/>
                <a:ea typeface="Courier New"/>
                <a:cs typeface="Courier New"/>
                <a:sym typeface="Courier New"/>
              </a:rPr>
              <a:t> </a:t>
            </a:r>
            <a:r>
              <a:rPr lang="en-GB" sz="1300">
                <a:solidFill>
                  <a:srgbClr val="C9DAF8"/>
                </a:solidFill>
                <a:latin typeface="Courier New"/>
                <a:ea typeface="Courier New"/>
                <a:cs typeface="Courier New"/>
                <a:sym typeface="Courier New"/>
              </a:rPr>
              <a:t>alpine:3.17</a:t>
            </a:r>
            <a:endParaRPr sz="1300">
              <a:solidFill>
                <a:srgbClr val="C9DAF8"/>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GB" sz="1300">
                <a:solidFill>
                  <a:srgbClr val="EAD1DC"/>
                </a:solidFill>
                <a:latin typeface="Courier New"/>
                <a:ea typeface="Courier New"/>
                <a:cs typeface="Courier New"/>
                <a:sym typeface="Courier New"/>
              </a:rPr>
              <a:t>ENTRYPOINT </a:t>
            </a:r>
            <a:r>
              <a:rPr lang="en-GB" sz="1300">
                <a:solidFill>
                  <a:srgbClr val="C9DAF8"/>
                </a:solidFill>
                <a:latin typeface="Courier New"/>
                <a:ea typeface="Courier New"/>
                <a:cs typeface="Courier New"/>
                <a:sym typeface="Courier New"/>
              </a:rPr>
              <a:t>[ "ping" ]</a:t>
            </a:r>
            <a:endParaRPr sz="1300">
              <a:solidFill>
                <a:srgbClr val="C9DAF8"/>
              </a:solidFill>
              <a:latin typeface="Courier New"/>
              <a:ea typeface="Courier New"/>
              <a:cs typeface="Courier New"/>
              <a:sym typeface="Courier New"/>
            </a:endParaRPr>
          </a:p>
          <a:p>
            <a:pPr indent="0" lvl="0" marL="0" rtl="0" algn="l">
              <a:spcBef>
                <a:spcPts val="0"/>
              </a:spcBef>
              <a:spcAft>
                <a:spcPts val="0"/>
              </a:spcAft>
              <a:buNone/>
            </a:pPr>
            <a:r>
              <a:rPr lang="en-GB" sz="1300">
                <a:solidFill>
                  <a:srgbClr val="EAD1DC"/>
                </a:solidFill>
                <a:latin typeface="Courier New"/>
                <a:ea typeface="Courier New"/>
                <a:cs typeface="Courier New"/>
                <a:sym typeface="Courier New"/>
              </a:rPr>
              <a:t>CMD</a:t>
            </a:r>
            <a:r>
              <a:rPr lang="en-GB" sz="1300">
                <a:solidFill>
                  <a:schemeClr val="lt1"/>
                </a:solidFill>
                <a:latin typeface="Courier New"/>
                <a:ea typeface="Courier New"/>
                <a:cs typeface="Courier New"/>
                <a:sym typeface="Courier New"/>
              </a:rPr>
              <a:t> </a:t>
            </a:r>
            <a:r>
              <a:rPr lang="en-GB" sz="1300">
                <a:solidFill>
                  <a:srgbClr val="C9DAF8"/>
                </a:solidFill>
                <a:latin typeface="Courier New"/>
                <a:ea typeface="Courier New"/>
                <a:cs typeface="Courier New"/>
                <a:sym typeface="Courier New"/>
              </a:rPr>
              <a:t>[ "-c", "3", "8.8.8.8" ]</a:t>
            </a:r>
            <a:endParaRPr sz="1300">
              <a:solidFill>
                <a:srgbClr val="C9DAF8"/>
              </a:solidFill>
              <a:latin typeface="Courier New"/>
              <a:ea typeface="Courier New"/>
              <a:cs typeface="Courier New"/>
              <a:sym typeface="Courier New"/>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118"/>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193" name="Google Shape;1193;p1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94" name="Google Shape;1194;p11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195" name="Google Shape;1195;p11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CMD &amp; ENTRYPOINT instruction</a:t>
            </a:r>
            <a:endParaRPr sz="2000">
              <a:solidFill>
                <a:srgbClr val="073763"/>
              </a:solidFill>
              <a:latin typeface="Maven Pro"/>
              <a:ea typeface="Maven Pro"/>
              <a:cs typeface="Maven Pro"/>
              <a:sym typeface="Maven Pro"/>
            </a:endParaRPr>
          </a:p>
        </p:txBody>
      </p:sp>
      <p:sp>
        <p:nvSpPr>
          <p:cNvPr id="1196" name="Google Shape;1196;p118"/>
          <p:cNvSpPr txBox="1"/>
          <p:nvPr/>
        </p:nvSpPr>
        <p:spPr>
          <a:xfrm>
            <a:off x="657000" y="1357650"/>
            <a:ext cx="4814700" cy="1031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100">
                <a:solidFill>
                  <a:srgbClr val="00084D"/>
                </a:solidFill>
                <a:latin typeface="Maven Pro Medium"/>
                <a:ea typeface="Maven Pro Medium"/>
                <a:cs typeface="Maven Pro Medium"/>
                <a:sym typeface="Maven Pro Medium"/>
              </a:rPr>
              <a:t>ENTRYPOINT</a:t>
            </a:r>
            <a:r>
              <a:rPr lang="en-GB" sz="1100">
                <a:solidFill>
                  <a:srgbClr val="00084D"/>
                </a:solidFill>
                <a:latin typeface="Maven Pro"/>
                <a:ea typeface="Maven Pro"/>
                <a:cs typeface="Maven Pro"/>
                <a:sym typeface="Maven Pro"/>
              </a:rPr>
              <a:t> est utilisé pour définir la commande de l'expression, tandis que</a:t>
            </a:r>
            <a:r>
              <a:rPr lang="en-GB" sz="1100">
                <a:solidFill>
                  <a:srgbClr val="00084D"/>
                </a:solidFill>
                <a:latin typeface="Maven Pro Medium"/>
                <a:ea typeface="Maven Pro Medium"/>
                <a:cs typeface="Maven Pro Medium"/>
                <a:sym typeface="Maven Pro Medium"/>
              </a:rPr>
              <a:t> CMD</a:t>
            </a:r>
            <a:r>
              <a:rPr lang="en-GB" sz="1100">
                <a:solidFill>
                  <a:srgbClr val="00084D"/>
                </a:solidFill>
                <a:latin typeface="Maven Pro"/>
                <a:ea typeface="Maven Pro"/>
                <a:cs typeface="Maven Pro"/>
                <a:sym typeface="Maven Pro"/>
              </a:rPr>
              <a:t> est utilisé pour définir les paramètres de la commande. Ainsi, un Dockerfile utilisant Alpine comme image de base et définissant ping comme le processus à exécuter dans le conteneur pourrait ressembler à ceci :</a:t>
            </a:r>
            <a:endParaRPr sz="1100">
              <a:solidFill>
                <a:srgbClr val="00084D"/>
              </a:solidFill>
              <a:latin typeface="Maven Pro"/>
              <a:ea typeface="Maven Pro"/>
              <a:cs typeface="Maven Pro"/>
              <a:sym typeface="Maven Pro"/>
            </a:endParaRPr>
          </a:p>
        </p:txBody>
      </p:sp>
      <p:sp>
        <p:nvSpPr>
          <p:cNvPr id="1197" name="Google Shape;1197;p118"/>
          <p:cNvSpPr/>
          <p:nvPr/>
        </p:nvSpPr>
        <p:spPr>
          <a:xfrm rot="902">
            <a:off x="5471700" y="1414403"/>
            <a:ext cx="3432000" cy="826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EAD1DC"/>
                </a:solidFill>
                <a:latin typeface="Courier New"/>
                <a:ea typeface="Courier New"/>
                <a:cs typeface="Courier New"/>
                <a:sym typeface="Courier New"/>
              </a:rPr>
              <a:t>FROM</a:t>
            </a:r>
            <a:r>
              <a:rPr lang="en-GB" sz="1300">
                <a:solidFill>
                  <a:schemeClr val="lt1"/>
                </a:solidFill>
                <a:latin typeface="Courier New"/>
                <a:ea typeface="Courier New"/>
                <a:cs typeface="Courier New"/>
                <a:sym typeface="Courier New"/>
              </a:rPr>
              <a:t> </a:t>
            </a:r>
            <a:r>
              <a:rPr lang="en-GB" sz="1300">
                <a:solidFill>
                  <a:srgbClr val="C9DAF8"/>
                </a:solidFill>
                <a:latin typeface="Courier New"/>
                <a:ea typeface="Courier New"/>
                <a:cs typeface="Courier New"/>
                <a:sym typeface="Courier New"/>
              </a:rPr>
              <a:t>alpine:3.17</a:t>
            </a:r>
            <a:endParaRPr sz="1300">
              <a:solidFill>
                <a:srgbClr val="C9DAF8"/>
              </a:solidFill>
              <a:latin typeface="Courier New"/>
              <a:ea typeface="Courier New"/>
              <a:cs typeface="Courier New"/>
              <a:sym typeface="Courier New"/>
            </a:endParaRPr>
          </a:p>
          <a:p>
            <a:pPr indent="0" lvl="0" marL="0" rtl="0" algn="l">
              <a:spcBef>
                <a:spcPts val="0"/>
              </a:spcBef>
              <a:spcAft>
                <a:spcPts val="0"/>
              </a:spcAft>
              <a:buNone/>
            </a:pPr>
            <a:r>
              <a:rPr lang="en-GB" sz="1300">
                <a:solidFill>
                  <a:srgbClr val="EAD1DC"/>
                </a:solidFill>
                <a:latin typeface="Courier New"/>
                <a:ea typeface="Courier New"/>
                <a:cs typeface="Courier New"/>
                <a:sym typeface="Courier New"/>
              </a:rPr>
              <a:t>ENTRYPOINT </a:t>
            </a:r>
            <a:r>
              <a:rPr lang="en-GB" sz="1300">
                <a:solidFill>
                  <a:srgbClr val="C9DAF8"/>
                </a:solidFill>
                <a:latin typeface="Courier New"/>
                <a:ea typeface="Courier New"/>
                <a:cs typeface="Courier New"/>
                <a:sym typeface="Courier New"/>
              </a:rPr>
              <a:t>[ "ping" ]</a:t>
            </a:r>
            <a:endParaRPr sz="1300">
              <a:solidFill>
                <a:srgbClr val="C9DAF8"/>
              </a:solidFill>
              <a:latin typeface="Courier New"/>
              <a:ea typeface="Courier New"/>
              <a:cs typeface="Courier New"/>
              <a:sym typeface="Courier New"/>
            </a:endParaRPr>
          </a:p>
          <a:p>
            <a:pPr indent="0" lvl="0" marL="0" rtl="0" algn="l">
              <a:spcBef>
                <a:spcPts val="0"/>
              </a:spcBef>
              <a:spcAft>
                <a:spcPts val="0"/>
              </a:spcAft>
              <a:buNone/>
            </a:pPr>
            <a:r>
              <a:rPr lang="en-GB" sz="1300">
                <a:solidFill>
                  <a:srgbClr val="EAD1DC"/>
                </a:solidFill>
                <a:latin typeface="Courier New"/>
                <a:ea typeface="Courier New"/>
                <a:cs typeface="Courier New"/>
                <a:sym typeface="Courier New"/>
              </a:rPr>
              <a:t>CMD</a:t>
            </a:r>
            <a:r>
              <a:rPr lang="en-GB" sz="1300">
                <a:solidFill>
                  <a:schemeClr val="lt1"/>
                </a:solidFill>
                <a:latin typeface="Courier New"/>
                <a:ea typeface="Courier New"/>
                <a:cs typeface="Courier New"/>
                <a:sym typeface="Courier New"/>
              </a:rPr>
              <a:t> </a:t>
            </a:r>
            <a:r>
              <a:rPr lang="en-GB" sz="1300">
                <a:solidFill>
                  <a:srgbClr val="C9DAF8"/>
                </a:solidFill>
                <a:latin typeface="Courier New"/>
                <a:ea typeface="Courier New"/>
                <a:cs typeface="Courier New"/>
                <a:sym typeface="Courier New"/>
              </a:rPr>
              <a:t>[ "-c", "3", "8.8.8.8" ]</a:t>
            </a:r>
            <a:endParaRPr sz="1300">
              <a:solidFill>
                <a:srgbClr val="C9DAF8"/>
              </a:solidFill>
              <a:latin typeface="Courier New"/>
              <a:ea typeface="Courier New"/>
              <a:cs typeface="Courier New"/>
              <a:sym typeface="Courier New"/>
            </a:endParaRPr>
          </a:p>
        </p:txBody>
      </p:sp>
      <p:sp>
        <p:nvSpPr>
          <p:cNvPr id="1198" name="Google Shape;1198;p118"/>
          <p:cNvSpPr txBox="1"/>
          <p:nvPr/>
        </p:nvSpPr>
        <p:spPr>
          <a:xfrm>
            <a:off x="657000" y="2742325"/>
            <a:ext cx="4814700" cy="52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100">
                <a:solidFill>
                  <a:srgbClr val="00084D"/>
                </a:solidFill>
                <a:latin typeface="Maven Pro"/>
                <a:ea typeface="Maven Pro"/>
                <a:cs typeface="Maven Pro"/>
                <a:sym typeface="Maven Pro"/>
              </a:rPr>
              <a:t>Nous pouvons maintenant construire une image appelée pinger à partir du Dockerfile précédent, comme suit :</a:t>
            </a:r>
            <a:endParaRPr sz="1100">
              <a:solidFill>
                <a:srgbClr val="00084D"/>
              </a:solidFill>
              <a:latin typeface="Maven Pro"/>
              <a:ea typeface="Maven Pro"/>
              <a:cs typeface="Maven Pro"/>
              <a:sym typeface="Maven Pro"/>
            </a:endParaRPr>
          </a:p>
        </p:txBody>
      </p:sp>
      <p:sp>
        <p:nvSpPr>
          <p:cNvPr id="1199" name="Google Shape;1199;p118"/>
          <p:cNvSpPr/>
          <p:nvPr/>
        </p:nvSpPr>
        <p:spPr>
          <a:xfrm rot="763">
            <a:off x="1870050" y="34478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image build -t pinger .</a:t>
            </a:r>
            <a:endParaRPr sz="1000">
              <a:solidFill>
                <a:schemeClr val="lt1"/>
              </a:solidFill>
              <a:latin typeface="Courier New"/>
              <a:ea typeface="Courier New"/>
              <a:cs typeface="Courier New"/>
              <a:sym typeface="Courier New"/>
            </a:endParaRPr>
          </a:p>
        </p:txBody>
      </p:sp>
      <p:sp>
        <p:nvSpPr>
          <p:cNvPr id="1200" name="Google Shape;1200;p118"/>
          <p:cNvSpPr/>
          <p:nvPr/>
        </p:nvSpPr>
        <p:spPr>
          <a:xfrm rot="763">
            <a:off x="1870050" y="41226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container run --rm -it pinger</a:t>
            </a:r>
            <a:endParaRPr sz="1000">
              <a:solidFill>
                <a:schemeClr val="lt1"/>
              </a:solidFill>
              <a:latin typeface="Courier New"/>
              <a:ea typeface="Courier New"/>
              <a:cs typeface="Courier New"/>
              <a:sym typeface="Courier New"/>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19"/>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06" name="Google Shape;1206;p1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07" name="Google Shape;1207;p11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208" name="Google Shape;1208;p11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CMD &amp; ENTRYPOINT instruction</a:t>
            </a:r>
            <a:endParaRPr sz="2000">
              <a:solidFill>
                <a:srgbClr val="073763"/>
              </a:solidFill>
              <a:latin typeface="Maven Pro"/>
              <a:ea typeface="Maven Pro"/>
              <a:cs typeface="Maven Pro"/>
              <a:sym typeface="Maven Pro"/>
            </a:endParaRPr>
          </a:p>
        </p:txBody>
      </p:sp>
      <p:sp>
        <p:nvSpPr>
          <p:cNvPr id="1209" name="Google Shape;1209;p119"/>
          <p:cNvSpPr txBox="1"/>
          <p:nvPr/>
        </p:nvSpPr>
        <p:spPr>
          <a:xfrm>
            <a:off x="657000" y="1357650"/>
            <a:ext cx="4814700" cy="1031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100">
                <a:solidFill>
                  <a:srgbClr val="00084D"/>
                </a:solidFill>
                <a:latin typeface="Maven Pro Medium"/>
                <a:ea typeface="Maven Pro Medium"/>
                <a:cs typeface="Maven Pro Medium"/>
                <a:sym typeface="Maven Pro Medium"/>
              </a:rPr>
              <a:t>ENTRYPOINT</a:t>
            </a:r>
            <a:r>
              <a:rPr lang="en-GB" sz="1100">
                <a:solidFill>
                  <a:srgbClr val="00084D"/>
                </a:solidFill>
                <a:latin typeface="Maven Pro"/>
                <a:ea typeface="Maven Pro"/>
                <a:cs typeface="Maven Pro"/>
                <a:sym typeface="Maven Pro"/>
              </a:rPr>
              <a:t> est utilisé pour définir la commande de l'expression, tandis que</a:t>
            </a:r>
            <a:r>
              <a:rPr lang="en-GB" sz="1100">
                <a:solidFill>
                  <a:srgbClr val="00084D"/>
                </a:solidFill>
                <a:latin typeface="Maven Pro Medium"/>
                <a:ea typeface="Maven Pro Medium"/>
                <a:cs typeface="Maven Pro Medium"/>
                <a:sym typeface="Maven Pro Medium"/>
              </a:rPr>
              <a:t> CMD</a:t>
            </a:r>
            <a:r>
              <a:rPr lang="en-GB" sz="1100">
                <a:solidFill>
                  <a:srgbClr val="00084D"/>
                </a:solidFill>
                <a:latin typeface="Maven Pro"/>
                <a:ea typeface="Maven Pro"/>
                <a:cs typeface="Maven Pro"/>
                <a:sym typeface="Maven Pro"/>
              </a:rPr>
              <a:t> est utilisé pour définir les paramètres de la commande. Ainsi, un Dockerfile utilisant Alpine comme image de base et définissant ping comme le processus à exécuter dans le conteneur pourrait ressembler à ceci :</a:t>
            </a:r>
            <a:endParaRPr sz="1100">
              <a:solidFill>
                <a:srgbClr val="00084D"/>
              </a:solidFill>
              <a:latin typeface="Maven Pro"/>
              <a:ea typeface="Maven Pro"/>
              <a:cs typeface="Maven Pro"/>
              <a:sym typeface="Maven Pro"/>
            </a:endParaRPr>
          </a:p>
        </p:txBody>
      </p:sp>
      <p:sp>
        <p:nvSpPr>
          <p:cNvPr id="1210" name="Google Shape;1210;p119"/>
          <p:cNvSpPr/>
          <p:nvPr/>
        </p:nvSpPr>
        <p:spPr>
          <a:xfrm rot="902">
            <a:off x="5471700" y="1414403"/>
            <a:ext cx="3432000" cy="826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EAD1DC"/>
                </a:solidFill>
                <a:latin typeface="Courier New"/>
                <a:ea typeface="Courier New"/>
                <a:cs typeface="Courier New"/>
                <a:sym typeface="Courier New"/>
              </a:rPr>
              <a:t>FROM</a:t>
            </a:r>
            <a:r>
              <a:rPr lang="en-GB" sz="1300">
                <a:solidFill>
                  <a:schemeClr val="lt1"/>
                </a:solidFill>
                <a:latin typeface="Courier New"/>
                <a:ea typeface="Courier New"/>
                <a:cs typeface="Courier New"/>
                <a:sym typeface="Courier New"/>
              </a:rPr>
              <a:t> </a:t>
            </a:r>
            <a:r>
              <a:rPr lang="en-GB" sz="1300">
                <a:solidFill>
                  <a:srgbClr val="C9DAF8"/>
                </a:solidFill>
                <a:latin typeface="Courier New"/>
                <a:ea typeface="Courier New"/>
                <a:cs typeface="Courier New"/>
                <a:sym typeface="Courier New"/>
              </a:rPr>
              <a:t>alpine:3.17</a:t>
            </a:r>
            <a:endParaRPr sz="1300">
              <a:solidFill>
                <a:srgbClr val="C9DAF8"/>
              </a:solidFill>
              <a:latin typeface="Courier New"/>
              <a:ea typeface="Courier New"/>
              <a:cs typeface="Courier New"/>
              <a:sym typeface="Courier New"/>
            </a:endParaRPr>
          </a:p>
          <a:p>
            <a:pPr indent="0" lvl="0" marL="0" rtl="0" algn="l">
              <a:spcBef>
                <a:spcPts val="0"/>
              </a:spcBef>
              <a:spcAft>
                <a:spcPts val="0"/>
              </a:spcAft>
              <a:buNone/>
            </a:pPr>
            <a:r>
              <a:rPr lang="en-GB" sz="1300">
                <a:solidFill>
                  <a:srgbClr val="EAD1DC"/>
                </a:solidFill>
                <a:latin typeface="Courier New"/>
                <a:ea typeface="Courier New"/>
                <a:cs typeface="Courier New"/>
                <a:sym typeface="Courier New"/>
              </a:rPr>
              <a:t>ENTRYPOINT </a:t>
            </a:r>
            <a:r>
              <a:rPr lang="en-GB" sz="1300">
                <a:solidFill>
                  <a:srgbClr val="C9DAF8"/>
                </a:solidFill>
                <a:latin typeface="Courier New"/>
                <a:ea typeface="Courier New"/>
                <a:cs typeface="Courier New"/>
                <a:sym typeface="Courier New"/>
              </a:rPr>
              <a:t>[ "ping" ]</a:t>
            </a:r>
            <a:endParaRPr sz="1300">
              <a:solidFill>
                <a:srgbClr val="C9DAF8"/>
              </a:solidFill>
              <a:latin typeface="Courier New"/>
              <a:ea typeface="Courier New"/>
              <a:cs typeface="Courier New"/>
              <a:sym typeface="Courier New"/>
            </a:endParaRPr>
          </a:p>
          <a:p>
            <a:pPr indent="0" lvl="0" marL="0" rtl="0" algn="l">
              <a:spcBef>
                <a:spcPts val="0"/>
              </a:spcBef>
              <a:spcAft>
                <a:spcPts val="0"/>
              </a:spcAft>
              <a:buNone/>
            </a:pPr>
            <a:r>
              <a:rPr lang="en-GB" sz="1300">
                <a:solidFill>
                  <a:srgbClr val="EAD1DC"/>
                </a:solidFill>
                <a:latin typeface="Courier New"/>
                <a:ea typeface="Courier New"/>
                <a:cs typeface="Courier New"/>
                <a:sym typeface="Courier New"/>
              </a:rPr>
              <a:t>CMD</a:t>
            </a:r>
            <a:r>
              <a:rPr lang="en-GB" sz="1300">
                <a:solidFill>
                  <a:schemeClr val="lt1"/>
                </a:solidFill>
                <a:latin typeface="Courier New"/>
                <a:ea typeface="Courier New"/>
                <a:cs typeface="Courier New"/>
                <a:sym typeface="Courier New"/>
              </a:rPr>
              <a:t> </a:t>
            </a:r>
            <a:r>
              <a:rPr lang="en-GB" sz="1300">
                <a:solidFill>
                  <a:srgbClr val="C9DAF8"/>
                </a:solidFill>
                <a:latin typeface="Courier New"/>
                <a:ea typeface="Courier New"/>
                <a:cs typeface="Courier New"/>
                <a:sym typeface="Courier New"/>
              </a:rPr>
              <a:t>[ "-c", "3", "8.8.8.8" ]</a:t>
            </a:r>
            <a:endParaRPr sz="1300">
              <a:solidFill>
                <a:srgbClr val="C9DAF8"/>
              </a:solidFill>
              <a:latin typeface="Courier New"/>
              <a:ea typeface="Courier New"/>
              <a:cs typeface="Courier New"/>
              <a:sym typeface="Courier New"/>
            </a:endParaRPr>
          </a:p>
        </p:txBody>
      </p:sp>
      <p:sp>
        <p:nvSpPr>
          <p:cNvPr id="1211" name="Google Shape;1211;p119"/>
          <p:cNvSpPr txBox="1"/>
          <p:nvPr/>
        </p:nvSpPr>
        <p:spPr>
          <a:xfrm>
            <a:off x="657000" y="2742325"/>
            <a:ext cx="8246700" cy="692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100">
                <a:solidFill>
                  <a:srgbClr val="00084D"/>
                </a:solidFill>
                <a:latin typeface="Maven Pro"/>
                <a:ea typeface="Maven Pro"/>
                <a:cs typeface="Maven Pro"/>
                <a:sym typeface="Maven Pro"/>
              </a:rPr>
              <a:t>La beauté de cela, c'est que je peux maintenant remplacer la partie CMD que j'ai définie dans le Dockerfile (rappelez-vous, c'était ["-c", "3", "8.8.8.8"]) lorsque je crée un nouveau conteneur, en ajoutant les nouvelles valeurs à la fin de l'expression docker container run, comme ceci </a:t>
            </a:r>
            <a:r>
              <a:rPr lang="en-GB" sz="1100">
                <a:solidFill>
                  <a:schemeClr val="dk1"/>
                </a:solidFill>
              </a:rPr>
              <a:t>:</a:t>
            </a:r>
            <a:endParaRPr sz="1100">
              <a:solidFill>
                <a:srgbClr val="00084D"/>
              </a:solidFill>
              <a:latin typeface="Maven Pro"/>
              <a:ea typeface="Maven Pro"/>
              <a:cs typeface="Maven Pro"/>
              <a:sym typeface="Maven Pro"/>
            </a:endParaRPr>
          </a:p>
        </p:txBody>
      </p:sp>
      <p:sp>
        <p:nvSpPr>
          <p:cNvPr id="1212" name="Google Shape;1212;p119"/>
          <p:cNvSpPr/>
          <p:nvPr/>
        </p:nvSpPr>
        <p:spPr>
          <a:xfrm rot="850">
            <a:off x="1537050" y="3642475"/>
            <a:ext cx="6069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container run --rm -it pinger -w 5 127.0.0.1</a:t>
            </a:r>
            <a:endParaRPr sz="1200">
              <a:solidFill>
                <a:schemeClr val="lt1"/>
              </a:solidFill>
              <a:latin typeface="Courier New"/>
              <a:ea typeface="Courier New"/>
              <a:cs typeface="Courier New"/>
              <a:sym typeface="Courier New"/>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120"/>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1218" name="Google Shape;1218;p120"/>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219" name="Google Shape;1219;p120"/>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1220" name="Google Shape;1220;p120"/>
          <p:cNvSpPr txBox="1"/>
          <p:nvPr/>
        </p:nvSpPr>
        <p:spPr>
          <a:xfrm>
            <a:off x="478375" y="1786800"/>
            <a:ext cx="4572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Dockerfile Best Practices</a:t>
            </a:r>
            <a:endParaRPr sz="4500">
              <a:solidFill>
                <a:srgbClr val="E5F2FC"/>
              </a:solidFill>
              <a:latin typeface="Nunito SemiBold"/>
              <a:ea typeface="Nunito SemiBold"/>
              <a:cs typeface="Nunito SemiBold"/>
              <a:sym typeface="Nunito SemiBold"/>
            </a:endParaRPr>
          </a:p>
        </p:txBody>
      </p:sp>
      <p:sp>
        <p:nvSpPr>
          <p:cNvPr id="1221" name="Google Shape;1221;p1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121"/>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27" name="Google Shape;1227;p1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28" name="Google Shape;1228;p12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229" name="Google Shape;1229;p12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230" name="Google Shape;1230;p121"/>
          <p:cNvSpPr txBox="1"/>
          <p:nvPr/>
        </p:nvSpPr>
        <p:spPr>
          <a:xfrm>
            <a:off x="2164650" y="1789675"/>
            <a:ext cx="48147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000">
                <a:solidFill>
                  <a:srgbClr val="00084D"/>
                </a:solidFill>
                <a:latin typeface="Maven Pro"/>
                <a:ea typeface="Maven Pro"/>
                <a:cs typeface="Maven Pro"/>
                <a:sym typeface="Maven Pro"/>
              </a:rPr>
              <a:t>Use Official Base Images</a:t>
            </a:r>
            <a:endParaRPr sz="2000">
              <a:solidFill>
                <a:srgbClr val="00084D"/>
              </a:solidFill>
              <a:latin typeface="Maven Pro"/>
              <a:ea typeface="Maven Pro"/>
              <a:cs typeface="Maven Pro"/>
              <a:sym typeface="Maven Pro"/>
            </a:endParaRPr>
          </a:p>
        </p:txBody>
      </p:sp>
      <p:pic>
        <p:nvPicPr>
          <p:cNvPr id="1231" name="Google Shape;1231;p121"/>
          <p:cNvPicPr preferRelativeResize="0"/>
          <p:nvPr/>
        </p:nvPicPr>
        <p:blipFill>
          <a:blip r:embed="rId4">
            <a:alphaModFix/>
          </a:blip>
          <a:stretch>
            <a:fillRect/>
          </a:stretch>
        </p:blipFill>
        <p:spPr>
          <a:xfrm>
            <a:off x="732363" y="2653963"/>
            <a:ext cx="2924175" cy="2047875"/>
          </a:xfrm>
          <a:prstGeom prst="rect">
            <a:avLst/>
          </a:prstGeom>
          <a:noFill/>
          <a:ln>
            <a:noFill/>
          </a:ln>
        </p:spPr>
      </p:pic>
      <p:pic>
        <p:nvPicPr>
          <p:cNvPr id="1232" name="Google Shape;1232;p121"/>
          <p:cNvPicPr preferRelativeResize="0"/>
          <p:nvPr/>
        </p:nvPicPr>
        <p:blipFill>
          <a:blip r:embed="rId5">
            <a:alphaModFix/>
          </a:blip>
          <a:stretch>
            <a:fillRect/>
          </a:stretch>
        </p:blipFill>
        <p:spPr>
          <a:xfrm>
            <a:off x="3804050" y="2653975"/>
            <a:ext cx="5018475" cy="118122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22"/>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38" name="Google Shape;1238;p1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39" name="Google Shape;1239;p12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240" name="Google Shape;1240;p12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241" name="Google Shape;1241;p122"/>
          <p:cNvSpPr txBox="1"/>
          <p:nvPr/>
        </p:nvSpPr>
        <p:spPr>
          <a:xfrm>
            <a:off x="2164650" y="1789675"/>
            <a:ext cx="4814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rgbClr val="00084D"/>
                </a:solidFill>
                <a:latin typeface="Nunito"/>
                <a:ea typeface="Nunito"/>
                <a:cs typeface="Nunito"/>
                <a:sym typeface="Nunito"/>
              </a:rPr>
              <a:t>Minimize the Number of Layers</a:t>
            </a:r>
            <a:endParaRPr sz="2000">
              <a:solidFill>
                <a:srgbClr val="00084D"/>
              </a:solidFill>
              <a:latin typeface="Maven Pro"/>
              <a:ea typeface="Maven Pro"/>
              <a:cs typeface="Maven Pro"/>
              <a:sym typeface="Maven Pro"/>
            </a:endParaRPr>
          </a:p>
        </p:txBody>
      </p:sp>
      <p:sp>
        <p:nvSpPr>
          <p:cNvPr id="1242" name="Google Shape;1242;p122"/>
          <p:cNvSpPr/>
          <p:nvPr/>
        </p:nvSpPr>
        <p:spPr>
          <a:xfrm rot="797">
            <a:off x="5136800" y="2718975"/>
            <a:ext cx="3884400" cy="18483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300">
                <a:solidFill>
                  <a:srgbClr val="EAD1DC"/>
                </a:solidFill>
                <a:latin typeface="Courier New"/>
                <a:ea typeface="Courier New"/>
                <a:cs typeface="Courier New"/>
                <a:sym typeface="Courier New"/>
              </a:rPr>
              <a:t>FROM</a:t>
            </a:r>
            <a:r>
              <a:rPr lang="en-GB" sz="1300">
                <a:solidFill>
                  <a:schemeClr val="lt1"/>
                </a:solidFill>
                <a:latin typeface="Courier New"/>
                <a:ea typeface="Courier New"/>
                <a:cs typeface="Courier New"/>
                <a:sym typeface="Courier New"/>
              </a:rPr>
              <a:t> </a:t>
            </a:r>
            <a:r>
              <a:rPr lang="en-GB" sz="1300">
                <a:solidFill>
                  <a:srgbClr val="C9DAF8"/>
                </a:solidFill>
                <a:latin typeface="Courier New"/>
                <a:ea typeface="Courier New"/>
                <a:cs typeface="Courier New"/>
                <a:sym typeface="Courier New"/>
              </a:rPr>
              <a:t>alpine:3.17</a:t>
            </a:r>
            <a:endParaRPr sz="1300">
              <a:solidFill>
                <a:srgbClr val="C9DAF8"/>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lang="en-GB" sz="1300">
                <a:solidFill>
                  <a:srgbClr val="EAD1DC"/>
                </a:solidFill>
                <a:highlight>
                  <a:srgbClr val="434343"/>
                </a:highlight>
                <a:latin typeface="Courier New"/>
                <a:ea typeface="Courier New"/>
                <a:cs typeface="Courier New"/>
                <a:sym typeface="Courier New"/>
              </a:rPr>
              <a:t>RUN</a:t>
            </a:r>
            <a:r>
              <a:rPr lang="en-GB" sz="1100">
                <a:solidFill>
                  <a:srgbClr val="980000"/>
                </a:solidFill>
                <a:highlight>
                  <a:srgbClr val="434343"/>
                </a:highlight>
                <a:latin typeface="Courier New"/>
                <a:ea typeface="Courier New"/>
                <a:cs typeface="Courier New"/>
                <a:sym typeface="Courier New"/>
              </a:rPr>
              <a:t> 	</a:t>
            </a:r>
            <a:r>
              <a:rPr lang="en-GB" sz="1300">
                <a:solidFill>
                  <a:srgbClr val="C9DAF8"/>
                </a:solidFill>
                <a:highlight>
                  <a:srgbClr val="434343"/>
                </a:highlight>
                <a:latin typeface="Courier New"/>
                <a:ea typeface="Courier New"/>
                <a:cs typeface="Courier New"/>
                <a:sym typeface="Courier New"/>
              </a:rPr>
              <a:t>apt-get update \</a:t>
            </a:r>
            <a:endParaRPr sz="1300">
              <a:solidFill>
                <a:srgbClr val="C9DAF8"/>
              </a:solidFill>
              <a:highlight>
                <a:srgbClr val="434343"/>
              </a:highlight>
              <a:latin typeface="Courier New"/>
              <a:ea typeface="Courier New"/>
              <a:cs typeface="Courier New"/>
              <a:sym typeface="Courier New"/>
            </a:endParaRPr>
          </a:p>
          <a:p>
            <a:pPr indent="457200" lvl="0" marL="0" marR="0" rtl="0" algn="l">
              <a:lnSpc>
                <a:spcPct val="100000"/>
              </a:lnSpc>
              <a:spcBef>
                <a:spcPts val="0"/>
              </a:spcBef>
              <a:spcAft>
                <a:spcPts val="0"/>
              </a:spcAft>
              <a:buNone/>
            </a:pPr>
            <a:r>
              <a:rPr lang="en-GB" sz="1300">
                <a:solidFill>
                  <a:srgbClr val="C9DAF8"/>
                </a:solidFill>
                <a:highlight>
                  <a:srgbClr val="434343"/>
                </a:highlight>
                <a:latin typeface="Courier New"/>
                <a:ea typeface="Courier New"/>
                <a:cs typeface="Courier New"/>
                <a:sym typeface="Courier New"/>
              </a:rPr>
              <a:t>&amp;&amp; apt-get install -y apache2 \</a:t>
            </a:r>
            <a:endParaRPr sz="1300">
              <a:solidFill>
                <a:srgbClr val="C9DAF8"/>
              </a:solidFill>
              <a:highlight>
                <a:srgbClr val="434343"/>
              </a:highlight>
              <a:latin typeface="Courier New"/>
              <a:ea typeface="Courier New"/>
              <a:cs typeface="Courier New"/>
              <a:sym typeface="Courier New"/>
            </a:endParaRPr>
          </a:p>
          <a:p>
            <a:pPr indent="0" lvl="0" marL="0" marR="0" rtl="0" algn="l">
              <a:lnSpc>
                <a:spcPct val="100000"/>
              </a:lnSpc>
              <a:spcBef>
                <a:spcPts val="0"/>
              </a:spcBef>
              <a:spcAft>
                <a:spcPts val="0"/>
              </a:spcAft>
              <a:buNone/>
            </a:pPr>
            <a:r>
              <a:rPr lang="en-GB" sz="1300">
                <a:solidFill>
                  <a:srgbClr val="C9DAF8"/>
                </a:solidFill>
                <a:highlight>
                  <a:srgbClr val="434343"/>
                </a:highlight>
                <a:latin typeface="Courier New"/>
                <a:ea typeface="Courier New"/>
                <a:cs typeface="Courier New"/>
                <a:sym typeface="Courier New"/>
              </a:rPr>
              <a:t>    	&amp;&amp; apt-get clean \</a:t>
            </a:r>
            <a:endParaRPr sz="1300">
              <a:solidFill>
                <a:srgbClr val="C9DAF8"/>
              </a:solidFill>
              <a:highlight>
                <a:srgbClr val="434343"/>
              </a:highlight>
              <a:latin typeface="Courier New"/>
              <a:ea typeface="Courier New"/>
              <a:cs typeface="Courier New"/>
              <a:sym typeface="Courier New"/>
            </a:endParaRPr>
          </a:p>
          <a:p>
            <a:pPr indent="0" lvl="0" marL="0" marR="0" rtl="0" algn="l">
              <a:lnSpc>
                <a:spcPct val="100000"/>
              </a:lnSpc>
              <a:spcBef>
                <a:spcPts val="0"/>
              </a:spcBef>
              <a:spcAft>
                <a:spcPts val="0"/>
              </a:spcAft>
              <a:buNone/>
            </a:pPr>
            <a:r>
              <a:rPr lang="en-GB" sz="1300">
                <a:solidFill>
                  <a:srgbClr val="C9DAF8"/>
                </a:solidFill>
                <a:highlight>
                  <a:srgbClr val="434343"/>
                </a:highlight>
                <a:latin typeface="Courier New"/>
                <a:ea typeface="Courier New"/>
                <a:cs typeface="Courier New"/>
                <a:sym typeface="Courier New"/>
              </a:rPr>
              <a:t>    	&amp;&amp; rm -rf /var/lib/apt/lists/*</a:t>
            </a:r>
            <a:endParaRPr sz="1300">
              <a:solidFill>
                <a:srgbClr val="C9DAF8"/>
              </a:solidFill>
              <a:highlight>
                <a:srgbClr val="434343"/>
              </a:highlight>
              <a:latin typeface="Courier New"/>
              <a:ea typeface="Courier New"/>
              <a:cs typeface="Courier New"/>
              <a:sym typeface="Courier New"/>
            </a:endParaRPr>
          </a:p>
          <a:p>
            <a:pPr indent="0" lvl="0" marL="0" rtl="0" algn="l">
              <a:spcBef>
                <a:spcPts val="0"/>
              </a:spcBef>
              <a:spcAft>
                <a:spcPts val="0"/>
              </a:spcAft>
              <a:buNone/>
            </a:pPr>
            <a:r>
              <a:rPr lang="en-GB" sz="1300">
                <a:solidFill>
                  <a:srgbClr val="EAD1DC"/>
                </a:solidFill>
                <a:latin typeface="Courier New"/>
                <a:ea typeface="Courier New"/>
                <a:cs typeface="Courier New"/>
                <a:sym typeface="Courier New"/>
              </a:rPr>
              <a:t>ENTRYPOINT </a:t>
            </a:r>
            <a:r>
              <a:rPr lang="en-GB" sz="1300">
                <a:solidFill>
                  <a:srgbClr val="C9DAF8"/>
                </a:solidFill>
                <a:latin typeface="Courier New"/>
                <a:ea typeface="Courier New"/>
                <a:cs typeface="Courier New"/>
                <a:sym typeface="Courier New"/>
              </a:rPr>
              <a:t>[ "ping" ]</a:t>
            </a:r>
            <a:endParaRPr sz="1300">
              <a:solidFill>
                <a:srgbClr val="C9DAF8"/>
              </a:solidFill>
              <a:latin typeface="Courier New"/>
              <a:ea typeface="Courier New"/>
              <a:cs typeface="Courier New"/>
              <a:sym typeface="Courier New"/>
            </a:endParaRPr>
          </a:p>
          <a:p>
            <a:pPr indent="0" lvl="0" marL="0" rtl="0" algn="l">
              <a:spcBef>
                <a:spcPts val="0"/>
              </a:spcBef>
              <a:spcAft>
                <a:spcPts val="0"/>
              </a:spcAft>
              <a:buNone/>
            </a:pPr>
            <a:r>
              <a:rPr lang="en-GB" sz="1300">
                <a:solidFill>
                  <a:srgbClr val="EAD1DC"/>
                </a:solidFill>
                <a:latin typeface="Courier New"/>
                <a:ea typeface="Courier New"/>
                <a:cs typeface="Courier New"/>
                <a:sym typeface="Courier New"/>
              </a:rPr>
              <a:t>CMD</a:t>
            </a:r>
            <a:r>
              <a:rPr lang="en-GB" sz="1300">
                <a:solidFill>
                  <a:schemeClr val="lt1"/>
                </a:solidFill>
                <a:latin typeface="Courier New"/>
                <a:ea typeface="Courier New"/>
                <a:cs typeface="Courier New"/>
                <a:sym typeface="Courier New"/>
              </a:rPr>
              <a:t> </a:t>
            </a:r>
            <a:r>
              <a:rPr lang="en-GB" sz="1300">
                <a:solidFill>
                  <a:srgbClr val="C9DAF8"/>
                </a:solidFill>
                <a:latin typeface="Courier New"/>
                <a:ea typeface="Courier New"/>
                <a:cs typeface="Courier New"/>
                <a:sym typeface="Courier New"/>
              </a:rPr>
              <a:t>[ "-c", "3", "8.8.8.8" ]</a:t>
            </a:r>
            <a:endParaRPr sz="1300">
              <a:solidFill>
                <a:srgbClr val="C9DAF8"/>
              </a:solidFill>
              <a:latin typeface="Courier New"/>
              <a:ea typeface="Courier New"/>
              <a:cs typeface="Courier New"/>
              <a:sym typeface="Courier New"/>
            </a:endParaRPr>
          </a:p>
        </p:txBody>
      </p:sp>
      <p:sp>
        <p:nvSpPr>
          <p:cNvPr id="1243" name="Google Shape;1243;p122"/>
          <p:cNvSpPr txBox="1"/>
          <p:nvPr/>
        </p:nvSpPr>
        <p:spPr>
          <a:xfrm>
            <a:off x="181500" y="2718525"/>
            <a:ext cx="4814700" cy="1522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Chaque instruction du Dockerfile (comme RUN, COPY, ADD) crée une nouvelle couche dans l'image finale. Trop de couches peuvent entraîner des images plus volumineuses et des constructions plus lentes.</a:t>
            </a:r>
            <a:endParaRPr sz="1100">
              <a:solidFill>
                <a:srgbClr val="00084D"/>
              </a:solidFill>
              <a:latin typeface="Maven Pro"/>
              <a:ea typeface="Maven Pro"/>
              <a:cs typeface="Maven Pro"/>
              <a:sym typeface="Maven Pro"/>
            </a:endParaRPr>
          </a:p>
          <a:p>
            <a:pPr indent="-298450" lvl="0" marL="457200" rtl="0" algn="l">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Il est donc conseillé de combiner les commandes dans une seule instruction RUN lorsque cela est possible, afin de minimiser le nombre de couches.</a:t>
            </a:r>
            <a:endParaRPr sz="1100">
              <a:solidFill>
                <a:srgbClr val="00084D"/>
              </a:solidFill>
              <a:latin typeface="Maven Pro"/>
              <a:ea typeface="Maven Pro"/>
              <a:cs typeface="Maven Pro"/>
              <a:sym typeface="Maven Pro"/>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123"/>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49" name="Google Shape;1249;p1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50" name="Google Shape;1250;p12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251" name="Google Shape;1251;p12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252" name="Google Shape;1252;p123"/>
          <p:cNvSpPr txBox="1"/>
          <p:nvPr/>
        </p:nvSpPr>
        <p:spPr>
          <a:xfrm>
            <a:off x="2164650" y="1789675"/>
            <a:ext cx="4814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rgbClr val="00084D"/>
                </a:solidFill>
                <a:latin typeface="Nunito"/>
                <a:ea typeface="Nunito"/>
                <a:cs typeface="Nunito"/>
                <a:sym typeface="Nunito"/>
              </a:rPr>
              <a:t>Use .dockerignore File</a:t>
            </a:r>
            <a:endParaRPr sz="2000">
              <a:solidFill>
                <a:srgbClr val="00084D"/>
              </a:solidFill>
              <a:latin typeface="Maven Pro"/>
              <a:ea typeface="Maven Pro"/>
              <a:cs typeface="Maven Pro"/>
              <a:sym typeface="Maven Pro"/>
            </a:endParaRPr>
          </a:p>
        </p:txBody>
      </p:sp>
      <p:sp>
        <p:nvSpPr>
          <p:cNvPr id="1253" name="Google Shape;1253;p123"/>
          <p:cNvSpPr/>
          <p:nvPr/>
        </p:nvSpPr>
        <p:spPr>
          <a:xfrm rot="928">
            <a:off x="5585475" y="2749575"/>
            <a:ext cx="3335700" cy="1265400"/>
          </a:xfrm>
          <a:prstGeom prst="rect">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GB" sz="1300">
                <a:solidFill>
                  <a:srgbClr val="C9DAF8"/>
                </a:solidFill>
                <a:latin typeface="Courier New"/>
                <a:ea typeface="Courier New"/>
                <a:cs typeface="Courier New"/>
                <a:sym typeface="Courier New"/>
              </a:rPr>
              <a:t>node_modules</a:t>
            </a:r>
            <a:endParaRPr sz="1300">
              <a:solidFill>
                <a:srgbClr val="C9DAF8"/>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lang="en-GB" sz="1300">
                <a:solidFill>
                  <a:srgbClr val="C9DAF8"/>
                </a:solidFill>
                <a:latin typeface="Courier New"/>
                <a:ea typeface="Courier New"/>
                <a:cs typeface="Courier New"/>
                <a:sym typeface="Courier New"/>
              </a:rPr>
              <a:t>.git</a:t>
            </a:r>
            <a:endParaRPr sz="1300">
              <a:solidFill>
                <a:srgbClr val="C9DAF8"/>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lang="en-GB" sz="1300">
                <a:solidFill>
                  <a:srgbClr val="C9DAF8"/>
                </a:solidFill>
                <a:latin typeface="Courier New"/>
                <a:ea typeface="Courier New"/>
                <a:cs typeface="Courier New"/>
                <a:sym typeface="Courier New"/>
              </a:rPr>
              <a:t>*.log</a:t>
            </a:r>
            <a:endParaRPr sz="1300">
              <a:solidFill>
                <a:srgbClr val="C9DAF8"/>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lang="en-GB" sz="1300">
                <a:solidFill>
                  <a:srgbClr val="C9DAF8"/>
                </a:solidFill>
                <a:latin typeface="Courier New"/>
                <a:ea typeface="Courier New"/>
                <a:cs typeface="Courier New"/>
                <a:sym typeface="Courier New"/>
              </a:rPr>
              <a:t>Dockerfile</a:t>
            </a:r>
            <a:endParaRPr sz="1300">
              <a:solidFill>
                <a:srgbClr val="C9DAF8"/>
              </a:solidFill>
              <a:latin typeface="Courier New"/>
              <a:ea typeface="Courier New"/>
              <a:cs typeface="Courier New"/>
              <a:sym typeface="Courier New"/>
            </a:endParaRPr>
          </a:p>
        </p:txBody>
      </p:sp>
      <p:sp>
        <p:nvSpPr>
          <p:cNvPr id="1254" name="Google Shape;1254;p123"/>
          <p:cNvSpPr txBox="1"/>
          <p:nvPr/>
        </p:nvSpPr>
        <p:spPr>
          <a:xfrm>
            <a:off x="181500" y="2718525"/>
            <a:ext cx="4814700" cy="13275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Le fichier </a:t>
            </a:r>
            <a:r>
              <a:rPr i="1" lang="en-GB" sz="1100">
                <a:solidFill>
                  <a:srgbClr val="00084D"/>
                </a:solidFill>
                <a:latin typeface="Maven Pro Medium"/>
                <a:ea typeface="Maven Pro Medium"/>
                <a:cs typeface="Maven Pro Medium"/>
                <a:sym typeface="Maven Pro Medium"/>
              </a:rPr>
              <a:t>.dockerignore</a:t>
            </a:r>
            <a:r>
              <a:rPr lang="en-GB" sz="1100">
                <a:solidFill>
                  <a:srgbClr val="00084D"/>
                </a:solidFill>
                <a:latin typeface="Maven Pro"/>
                <a:ea typeface="Maven Pro"/>
                <a:cs typeface="Maven Pro"/>
                <a:sym typeface="Maven Pro"/>
              </a:rPr>
              <a:t> permet d'exclure les fichiers inutiles de l'image pendant le processus de construction, ce qui réduit la taille de l'image et le temps de construction.</a:t>
            </a:r>
            <a:endParaRPr sz="1100">
              <a:solidFill>
                <a:srgbClr val="00084D"/>
              </a:solidFill>
              <a:latin typeface="Maven Pro"/>
              <a:ea typeface="Maven Pro"/>
              <a:cs typeface="Maven Pro"/>
              <a:sym typeface="Maven Pro"/>
            </a:endParaRPr>
          </a:p>
          <a:p>
            <a:pPr indent="-298450" lvl="0" marL="457200" marR="0" rtl="0" algn="l">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Ajoutez des fichiers comme les artefacts de construction, les répertoires Git ou les fichiers de configuration que vous n'avez pas besoin d'inclure dans le conteneur.</a:t>
            </a:r>
            <a:endParaRPr sz="1100">
              <a:solidFill>
                <a:srgbClr val="00084D"/>
              </a:solidFill>
              <a:latin typeface="Maven Pro"/>
              <a:ea typeface="Maven Pro"/>
              <a:cs typeface="Maven Pro"/>
              <a:sym typeface="Maven Pro"/>
            </a:endParaRPr>
          </a:p>
        </p:txBody>
      </p:sp>
      <p:sp>
        <p:nvSpPr>
          <p:cNvPr id="1255" name="Google Shape;1255;p123"/>
          <p:cNvSpPr txBox="1"/>
          <p:nvPr/>
        </p:nvSpPr>
        <p:spPr>
          <a:xfrm>
            <a:off x="5585475" y="239475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100">
                <a:solidFill>
                  <a:srgbClr val="00084D"/>
                </a:solidFill>
                <a:latin typeface="Maven Pro Medium"/>
                <a:ea typeface="Maven Pro Medium"/>
                <a:cs typeface="Maven Pro Medium"/>
                <a:sym typeface="Maven Pro Medium"/>
              </a:rPr>
              <a:t>.dockerignore</a:t>
            </a:r>
            <a:r>
              <a:rPr lang="en-GB" sz="1100">
                <a:solidFill>
                  <a:srgbClr val="00084D"/>
                </a:solidFill>
                <a:latin typeface="Maven Pro"/>
                <a:ea typeface="Maven Pro"/>
                <a:cs typeface="Maven Pro"/>
                <a:sym typeface="Maven Pro"/>
              </a:rPr>
              <a:t> </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24"/>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61" name="Google Shape;1261;p1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62" name="Google Shape;1262;p12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263" name="Google Shape;1263;p12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264" name="Google Shape;1264;p124"/>
          <p:cNvSpPr txBox="1"/>
          <p:nvPr/>
        </p:nvSpPr>
        <p:spPr>
          <a:xfrm>
            <a:off x="2164650" y="1789675"/>
            <a:ext cx="4814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rgbClr val="00084D"/>
                </a:solidFill>
                <a:latin typeface="Nunito"/>
                <a:ea typeface="Nunito"/>
                <a:cs typeface="Nunito"/>
                <a:sym typeface="Nunito"/>
              </a:rPr>
              <a:t>Pin Specific Versions of Packages</a:t>
            </a:r>
            <a:endParaRPr sz="2000">
              <a:solidFill>
                <a:srgbClr val="00084D"/>
              </a:solidFill>
              <a:latin typeface="Maven Pro"/>
              <a:ea typeface="Maven Pro"/>
              <a:cs typeface="Maven Pro"/>
              <a:sym typeface="Maven Pro"/>
            </a:endParaRPr>
          </a:p>
        </p:txBody>
      </p:sp>
      <p:sp>
        <p:nvSpPr>
          <p:cNvPr id="1265" name="Google Shape;1265;p124"/>
          <p:cNvSpPr/>
          <p:nvPr/>
        </p:nvSpPr>
        <p:spPr>
          <a:xfrm rot="928">
            <a:off x="5585475" y="2749575"/>
            <a:ext cx="3335700" cy="1265400"/>
          </a:xfrm>
          <a:prstGeom prst="rect">
            <a:avLst/>
          </a:prstGeom>
          <a:solidFill>
            <a:srgbClr val="000000"/>
          </a:solid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GB" sz="1300">
                <a:solidFill>
                  <a:srgbClr val="EAD1DC"/>
                </a:solidFill>
                <a:latin typeface="Courier New"/>
                <a:ea typeface="Courier New"/>
                <a:cs typeface="Courier New"/>
                <a:sym typeface="Courier New"/>
              </a:rPr>
              <a:t>FROM </a:t>
            </a:r>
            <a:r>
              <a:rPr lang="en-GB" sz="1300">
                <a:solidFill>
                  <a:srgbClr val="C9DAF8"/>
                </a:solidFill>
                <a:latin typeface="Courier New"/>
                <a:ea typeface="Courier New"/>
                <a:cs typeface="Courier New"/>
                <a:sym typeface="Courier New"/>
              </a:rPr>
              <a:t>python:3.9.7</a:t>
            </a:r>
            <a:endParaRPr sz="1300">
              <a:solidFill>
                <a:srgbClr val="C9DAF8"/>
              </a:solidFill>
              <a:latin typeface="Courier New"/>
              <a:ea typeface="Courier New"/>
              <a:cs typeface="Courier New"/>
              <a:sym typeface="Courier New"/>
            </a:endParaRPr>
          </a:p>
          <a:p>
            <a:pPr indent="0" lvl="0" marL="0" marR="0" rtl="0" algn="l">
              <a:lnSpc>
                <a:spcPct val="100000"/>
              </a:lnSpc>
              <a:spcBef>
                <a:spcPts val="0"/>
              </a:spcBef>
              <a:spcAft>
                <a:spcPts val="0"/>
              </a:spcAft>
              <a:buNone/>
            </a:pPr>
            <a:r>
              <a:rPr lang="en-GB" sz="1300">
                <a:solidFill>
                  <a:srgbClr val="EAD1DC"/>
                </a:solidFill>
                <a:latin typeface="Courier New"/>
                <a:ea typeface="Courier New"/>
                <a:cs typeface="Courier New"/>
                <a:sym typeface="Courier New"/>
              </a:rPr>
              <a:t>RUN </a:t>
            </a:r>
            <a:r>
              <a:rPr lang="en-GB" sz="1300">
                <a:solidFill>
                  <a:srgbClr val="C9DAF8"/>
                </a:solidFill>
                <a:latin typeface="Courier New"/>
                <a:ea typeface="Courier New"/>
                <a:cs typeface="Courier New"/>
                <a:sym typeface="Courier New"/>
              </a:rPr>
              <a:t>pip install numpy==1.21.2</a:t>
            </a:r>
            <a:endParaRPr sz="1300">
              <a:solidFill>
                <a:srgbClr val="C9DAF8"/>
              </a:solidFill>
              <a:latin typeface="Courier New"/>
              <a:ea typeface="Courier New"/>
              <a:cs typeface="Courier New"/>
              <a:sym typeface="Courier New"/>
            </a:endParaRPr>
          </a:p>
        </p:txBody>
      </p:sp>
      <p:sp>
        <p:nvSpPr>
          <p:cNvPr id="1266" name="Google Shape;1266;p124"/>
          <p:cNvSpPr txBox="1"/>
          <p:nvPr/>
        </p:nvSpPr>
        <p:spPr>
          <a:xfrm>
            <a:off x="181500" y="2718525"/>
            <a:ext cx="4814700" cy="1327500"/>
          </a:xfrm>
          <a:prstGeom prst="rect">
            <a:avLst/>
          </a:prstGeom>
          <a:noFill/>
          <a:ln>
            <a:noFill/>
          </a:ln>
        </p:spPr>
        <p:txBody>
          <a:bodyPr anchorCtr="0" anchor="t" bIns="91425" lIns="91425" spcFirstLastPara="1" rIns="91425" wrap="square" tIns="91425">
            <a:spAutoFit/>
          </a:bodyPr>
          <a:lstStyle/>
          <a:p>
            <a:pPr indent="-298450" lvl="0" marL="457200" marR="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Pour garantir des constructions reproductibles, il est important de spécifier des versions exactes des dépendances. Utiliser latest peut entraîner des constructions incohérentes si de nouvelles versions introduisent des changements ou des bugs.</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Spécifiez les versions exactes des packages et des images de base.</a:t>
            </a:r>
            <a:endParaRPr sz="1100">
              <a:solidFill>
                <a:srgbClr val="00084D"/>
              </a:solidFill>
              <a:latin typeface="Maven Pro"/>
              <a:ea typeface="Maven Pro"/>
              <a:cs typeface="Maven Pro"/>
              <a:sym typeface="Maven Pro"/>
            </a:endParaRPr>
          </a:p>
        </p:txBody>
      </p:sp>
      <p:sp>
        <p:nvSpPr>
          <p:cNvPr id="1267" name="Google Shape;1267;p124"/>
          <p:cNvSpPr txBox="1"/>
          <p:nvPr/>
        </p:nvSpPr>
        <p:spPr>
          <a:xfrm>
            <a:off x="5585475" y="239475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100">
                <a:solidFill>
                  <a:srgbClr val="00084D"/>
                </a:solidFill>
                <a:latin typeface="Maven Pro Medium"/>
                <a:ea typeface="Maven Pro Medium"/>
                <a:cs typeface="Maven Pro Medium"/>
                <a:sym typeface="Maven Pro Medium"/>
              </a:rPr>
              <a:t>Dockerfile</a:t>
            </a:r>
            <a:r>
              <a:rPr lang="en-GB" sz="1100">
                <a:solidFill>
                  <a:srgbClr val="00084D"/>
                </a:solidFill>
                <a:latin typeface="Maven Pro"/>
                <a:ea typeface="Maven Pro"/>
                <a:cs typeface="Maven Pro"/>
                <a:sym typeface="Maven Pro"/>
              </a:rPr>
              <a:t> </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125"/>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73" name="Google Shape;1273;p1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74" name="Google Shape;1274;p12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275" name="Google Shape;1275;p12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276" name="Google Shape;1276;p125"/>
          <p:cNvSpPr txBox="1"/>
          <p:nvPr/>
        </p:nvSpPr>
        <p:spPr>
          <a:xfrm>
            <a:off x="1277700" y="1803075"/>
            <a:ext cx="6588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rgbClr val="00084D"/>
                </a:solidFill>
                <a:latin typeface="Nunito"/>
                <a:ea typeface="Nunito"/>
                <a:cs typeface="Nunito"/>
                <a:sym typeface="Nunito"/>
              </a:rPr>
              <a:t>Use Multi-Stage Builds for Small Images</a:t>
            </a:r>
            <a:endParaRPr sz="2000">
              <a:solidFill>
                <a:srgbClr val="00084D"/>
              </a:solidFill>
              <a:latin typeface="Maven Pro"/>
              <a:ea typeface="Maven Pro"/>
              <a:cs typeface="Maven Pro"/>
              <a:sym typeface="Maven Pro"/>
            </a:endParaRPr>
          </a:p>
        </p:txBody>
      </p:sp>
      <p:sp>
        <p:nvSpPr>
          <p:cNvPr id="1277" name="Google Shape;1277;p125"/>
          <p:cNvSpPr txBox="1"/>
          <p:nvPr/>
        </p:nvSpPr>
        <p:spPr>
          <a:xfrm>
            <a:off x="181500" y="2718525"/>
            <a:ext cx="4647300" cy="15222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Les constructions multi-étapes permettent de compiler ou de construire votre application dans une étape, puis de copier uniquement les artefacts nécessaires vers l'étape finale, réduisant ainsi la taille de l'image finale.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Utilisez une étape de construction séparée pour compiler le code et ne conservez que ce qui est nécessaire dans l'image finale.</a:t>
            </a:r>
            <a:endParaRPr sz="1100">
              <a:solidFill>
                <a:srgbClr val="00084D"/>
              </a:solidFill>
              <a:latin typeface="Maven Pro"/>
              <a:ea typeface="Maven Pro"/>
              <a:cs typeface="Maven Pro"/>
              <a:sym typeface="Maven Pro"/>
            </a:endParaRPr>
          </a:p>
        </p:txBody>
      </p:sp>
      <p:sp>
        <p:nvSpPr>
          <p:cNvPr id="1278" name="Google Shape;1278;p125"/>
          <p:cNvSpPr txBox="1"/>
          <p:nvPr/>
        </p:nvSpPr>
        <p:spPr>
          <a:xfrm>
            <a:off x="4909425" y="239475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100">
                <a:solidFill>
                  <a:srgbClr val="00084D"/>
                </a:solidFill>
                <a:latin typeface="Maven Pro Medium"/>
                <a:ea typeface="Maven Pro Medium"/>
                <a:cs typeface="Maven Pro Medium"/>
                <a:sym typeface="Maven Pro Medium"/>
              </a:rPr>
              <a:t>Dockerfile</a:t>
            </a:r>
            <a:r>
              <a:rPr lang="en-GB" sz="1100">
                <a:solidFill>
                  <a:srgbClr val="00084D"/>
                </a:solidFill>
                <a:latin typeface="Maven Pro"/>
                <a:ea typeface="Maven Pro"/>
                <a:cs typeface="Maven Pro"/>
                <a:sym typeface="Maven Pro"/>
              </a:rPr>
              <a:t> </a:t>
            </a:r>
            <a:endParaRPr/>
          </a:p>
        </p:txBody>
      </p:sp>
      <p:pic>
        <p:nvPicPr>
          <p:cNvPr id="1279" name="Google Shape;1279;p125"/>
          <p:cNvPicPr preferRelativeResize="0"/>
          <p:nvPr/>
        </p:nvPicPr>
        <p:blipFill>
          <a:blip r:embed="rId4">
            <a:alphaModFix/>
          </a:blip>
          <a:stretch>
            <a:fillRect/>
          </a:stretch>
        </p:blipFill>
        <p:spPr>
          <a:xfrm>
            <a:off x="4909422" y="2714424"/>
            <a:ext cx="4234577" cy="159155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126"/>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85" name="Google Shape;1285;p1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86" name="Google Shape;1286;p12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287" name="Google Shape;1287;p12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288" name="Google Shape;1288;p126"/>
          <p:cNvSpPr txBox="1"/>
          <p:nvPr/>
        </p:nvSpPr>
        <p:spPr>
          <a:xfrm>
            <a:off x="1277700" y="1803075"/>
            <a:ext cx="6588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rgbClr val="00084D"/>
                </a:solidFill>
                <a:latin typeface="Nunito"/>
                <a:ea typeface="Nunito"/>
                <a:cs typeface="Nunito"/>
                <a:sym typeface="Nunito"/>
              </a:rPr>
              <a:t>Leverage Caching</a:t>
            </a:r>
            <a:endParaRPr sz="2000">
              <a:solidFill>
                <a:srgbClr val="00084D"/>
              </a:solidFill>
              <a:latin typeface="Maven Pro"/>
              <a:ea typeface="Maven Pro"/>
              <a:cs typeface="Maven Pro"/>
              <a:sym typeface="Maven Pro"/>
            </a:endParaRPr>
          </a:p>
        </p:txBody>
      </p:sp>
      <p:sp>
        <p:nvSpPr>
          <p:cNvPr id="1289" name="Google Shape;1289;p126"/>
          <p:cNvSpPr txBox="1"/>
          <p:nvPr/>
        </p:nvSpPr>
        <p:spPr>
          <a:xfrm>
            <a:off x="181500" y="2718525"/>
            <a:ext cx="4647300" cy="1522200"/>
          </a:xfrm>
          <a:prstGeom prst="rect">
            <a:avLst/>
          </a:prstGeom>
          <a:noFill/>
          <a:ln>
            <a:noFill/>
          </a:ln>
        </p:spPr>
        <p:txBody>
          <a:bodyPr anchorCtr="0" anchor="t" bIns="91425" lIns="91425" spcFirstLastPara="1" rIns="91425" wrap="square" tIns="91425">
            <a:spAutoFit/>
          </a:bodyPr>
          <a:lstStyle/>
          <a:p>
            <a:pPr indent="-298450" lvl="0" marL="457200" marR="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Docker met en cache les couches pendant le processus de construction, donc la réutilisation des couches peut considérablement accélérer les constructions suivantes.</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Placez les instructions qui changent moins fréquemment (comme l'installation des packages système) en haut, et les instructions qui changent fréquemment (comme COPY) plus bas dans le Dockerfile.</a:t>
            </a:r>
            <a:endParaRPr sz="1100">
              <a:solidFill>
                <a:srgbClr val="00084D"/>
              </a:solidFill>
              <a:latin typeface="Maven Pro"/>
              <a:ea typeface="Maven Pro"/>
              <a:cs typeface="Maven Pro"/>
              <a:sym typeface="Maven Pro"/>
            </a:endParaRPr>
          </a:p>
        </p:txBody>
      </p:sp>
      <p:sp>
        <p:nvSpPr>
          <p:cNvPr id="1290" name="Google Shape;1290;p126"/>
          <p:cNvSpPr txBox="1"/>
          <p:nvPr/>
        </p:nvSpPr>
        <p:spPr>
          <a:xfrm>
            <a:off x="4909425" y="239475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100">
                <a:solidFill>
                  <a:srgbClr val="00084D"/>
                </a:solidFill>
                <a:latin typeface="Maven Pro Medium"/>
                <a:ea typeface="Maven Pro Medium"/>
                <a:cs typeface="Maven Pro Medium"/>
                <a:sym typeface="Maven Pro Medium"/>
              </a:rPr>
              <a:t>Dockerfile</a:t>
            </a:r>
            <a:r>
              <a:rPr lang="en-GB" sz="1100">
                <a:solidFill>
                  <a:srgbClr val="00084D"/>
                </a:solidFill>
                <a:latin typeface="Maven Pro"/>
                <a:ea typeface="Maven Pro"/>
                <a:cs typeface="Maven Pro"/>
                <a:sym typeface="Maven Pro"/>
              </a:rPr>
              <a:t> </a:t>
            </a:r>
            <a:endParaRPr/>
          </a:p>
        </p:txBody>
      </p:sp>
      <p:pic>
        <p:nvPicPr>
          <p:cNvPr id="1291" name="Google Shape;1291;p126"/>
          <p:cNvPicPr preferRelativeResize="0"/>
          <p:nvPr/>
        </p:nvPicPr>
        <p:blipFill>
          <a:blip r:embed="rId4">
            <a:alphaModFix/>
          </a:blip>
          <a:stretch>
            <a:fillRect/>
          </a:stretch>
        </p:blipFill>
        <p:spPr>
          <a:xfrm>
            <a:off x="4955675" y="2766724"/>
            <a:ext cx="4112125" cy="1025725"/>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27"/>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297" name="Google Shape;1297;p1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98" name="Google Shape;1298;p12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299" name="Google Shape;1299;p12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300" name="Google Shape;1300;p127"/>
          <p:cNvSpPr txBox="1"/>
          <p:nvPr/>
        </p:nvSpPr>
        <p:spPr>
          <a:xfrm>
            <a:off x="1277700" y="1381150"/>
            <a:ext cx="65886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rgbClr val="00084D"/>
                </a:solidFill>
                <a:latin typeface="Nunito"/>
                <a:ea typeface="Nunito"/>
                <a:cs typeface="Nunito"/>
                <a:sym typeface="Nunito"/>
              </a:rPr>
              <a:t>Use ENTRYPOINT for Fixed Execution, CMD for Default Args</a:t>
            </a:r>
            <a:endParaRPr sz="2000">
              <a:solidFill>
                <a:srgbClr val="00084D"/>
              </a:solidFill>
              <a:latin typeface="Maven Pro"/>
              <a:ea typeface="Maven Pro"/>
              <a:cs typeface="Maven Pro"/>
              <a:sym typeface="Maven Pro"/>
            </a:endParaRPr>
          </a:p>
        </p:txBody>
      </p:sp>
      <p:sp>
        <p:nvSpPr>
          <p:cNvPr id="1301" name="Google Shape;1301;p127"/>
          <p:cNvSpPr txBox="1"/>
          <p:nvPr/>
        </p:nvSpPr>
        <p:spPr>
          <a:xfrm>
            <a:off x="181500" y="2718525"/>
            <a:ext cx="4647300" cy="1132800"/>
          </a:xfrm>
          <a:prstGeom prst="rect">
            <a:avLst/>
          </a:prstGeom>
          <a:noFill/>
          <a:ln>
            <a:noFill/>
          </a:ln>
        </p:spPr>
        <p:txBody>
          <a:bodyPr anchorCtr="0" anchor="t" bIns="91425" lIns="91425" spcFirstLastPara="1" rIns="91425" wrap="square" tIns="91425">
            <a:spAutoFit/>
          </a:bodyPr>
          <a:lstStyle/>
          <a:p>
            <a:pPr indent="-298450" lvl="0" marL="457200" marR="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Utilisez ENTRYPOINT si votre conteneur doit toujours exécuter une commande spécifique, et utilisez CMD pour fournir des arguments par défaut à cette commande.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Meilleure pratique : Combinez ENTRYPOINT et CMD pour plus de flexibilité et de cohérence.</a:t>
            </a:r>
            <a:endParaRPr sz="1100">
              <a:solidFill>
                <a:srgbClr val="00084D"/>
              </a:solidFill>
              <a:latin typeface="Maven Pro"/>
              <a:ea typeface="Maven Pro"/>
              <a:cs typeface="Maven Pro"/>
              <a:sym typeface="Maven Pro"/>
            </a:endParaRPr>
          </a:p>
        </p:txBody>
      </p:sp>
      <p:sp>
        <p:nvSpPr>
          <p:cNvPr id="1302" name="Google Shape;1302;p127"/>
          <p:cNvSpPr txBox="1"/>
          <p:nvPr/>
        </p:nvSpPr>
        <p:spPr>
          <a:xfrm>
            <a:off x="4909425" y="239475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100">
                <a:solidFill>
                  <a:srgbClr val="00084D"/>
                </a:solidFill>
                <a:latin typeface="Maven Pro Medium"/>
                <a:ea typeface="Maven Pro Medium"/>
                <a:cs typeface="Maven Pro Medium"/>
                <a:sym typeface="Maven Pro Medium"/>
              </a:rPr>
              <a:t>Dockerfile</a:t>
            </a:r>
            <a:r>
              <a:rPr lang="en-GB" sz="1100">
                <a:solidFill>
                  <a:srgbClr val="00084D"/>
                </a:solidFill>
                <a:latin typeface="Maven Pro"/>
                <a:ea typeface="Maven Pro"/>
                <a:cs typeface="Maven Pro"/>
                <a:sym typeface="Maven Pro"/>
              </a:rPr>
              <a:t> </a:t>
            </a:r>
            <a:endParaRPr/>
          </a:p>
        </p:txBody>
      </p:sp>
      <p:pic>
        <p:nvPicPr>
          <p:cNvPr id="1303" name="Google Shape;1303;p127"/>
          <p:cNvPicPr preferRelativeResize="0"/>
          <p:nvPr/>
        </p:nvPicPr>
        <p:blipFill>
          <a:blip r:embed="rId4">
            <a:alphaModFix/>
          </a:blip>
          <a:stretch>
            <a:fillRect/>
          </a:stretch>
        </p:blipFill>
        <p:spPr>
          <a:xfrm>
            <a:off x="4909425" y="2702409"/>
            <a:ext cx="4234575" cy="1347365"/>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28"/>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309" name="Google Shape;1309;p1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310" name="Google Shape;1310;p12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311" name="Google Shape;1311;p12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312" name="Google Shape;1312;p128"/>
          <p:cNvSpPr txBox="1"/>
          <p:nvPr/>
        </p:nvSpPr>
        <p:spPr>
          <a:xfrm>
            <a:off x="1277700" y="1381150"/>
            <a:ext cx="6588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rgbClr val="00084D"/>
                </a:solidFill>
                <a:latin typeface="Nunito"/>
                <a:ea typeface="Nunito"/>
                <a:cs typeface="Nunito"/>
                <a:sym typeface="Nunito"/>
              </a:rPr>
              <a:t>Clean Up After Installing Packages</a:t>
            </a:r>
            <a:endParaRPr sz="2000">
              <a:solidFill>
                <a:srgbClr val="00084D"/>
              </a:solidFill>
              <a:latin typeface="Maven Pro"/>
              <a:ea typeface="Maven Pro"/>
              <a:cs typeface="Maven Pro"/>
              <a:sym typeface="Maven Pro"/>
            </a:endParaRPr>
          </a:p>
        </p:txBody>
      </p:sp>
      <p:sp>
        <p:nvSpPr>
          <p:cNvPr id="1313" name="Google Shape;1313;p128"/>
          <p:cNvSpPr txBox="1"/>
          <p:nvPr/>
        </p:nvSpPr>
        <p:spPr>
          <a:xfrm>
            <a:off x="1008150" y="2146950"/>
            <a:ext cx="7127700" cy="7434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Les gestionnaires de paquets comme apt ou yum peuvent laisser des fichiers de cache qui augmentent la taille de l'image.</a:t>
            </a:r>
            <a:endParaRPr sz="1100">
              <a:solidFill>
                <a:srgbClr val="00084D"/>
              </a:solidFill>
              <a:latin typeface="Maven Pro"/>
              <a:ea typeface="Maven Pro"/>
              <a:cs typeface="Maven Pro"/>
              <a:sym typeface="Maven Pro"/>
            </a:endParaRPr>
          </a:p>
          <a:p>
            <a:pPr indent="-298450" lvl="0" marL="457200" marR="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Nettoyez après l'installation des paquets pour garder vos images légères.</a:t>
            </a:r>
            <a:endParaRPr sz="1100">
              <a:solidFill>
                <a:srgbClr val="00084D"/>
              </a:solidFill>
              <a:latin typeface="Maven Pro"/>
              <a:ea typeface="Maven Pro"/>
              <a:cs typeface="Maven Pro"/>
              <a:sym typeface="Maven Pro"/>
            </a:endParaRPr>
          </a:p>
        </p:txBody>
      </p:sp>
      <p:sp>
        <p:nvSpPr>
          <p:cNvPr id="1314" name="Google Shape;1314;p128"/>
          <p:cNvSpPr txBox="1"/>
          <p:nvPr/>
        </p:nvSpPr>
        <p:spPr>
          <a:xfrm>
            <a:off x="1810275" y="289900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100">
                <a:solidFill>
                  <a:srgbClr val="00084D"/>
                </a:solidFill>
                <a:latin typeface="Maven Pro Medium"/>
                <a:ea typeface="Maven Pro Medium"/>
                <a:cs typeface="Maven Pro Medium"/>
                <a:sym typeface="Maven Pro Medium"/>
              </a:rPr>
              <a:t>Dockerfile</a:t>
            </a:r>
            <a:r>
              <a:rPr lang="en-GB" sz="1100">
                <a:solidFill>
                  <a:srgbClr val="00084D"/>
                </a:solidFill>
                <a:latin typeface="Maven Pro"/>
                <a:ea typeface="Maven Pro"/>
                <a:cs typeface="Maven Pro"/>
                <a:sym typeface="Maven Pro"/>
              </a:rPr>
              <a:t> </a:t>
            </a:r>
            <a:endParaRPr/>
          </a:p>
        </p:txBody>
      </p:sp>
      <p:pic>
        <p:nvPicPr>
          <p:cNvPr id="1315" name="Google Shape;1315;p128"/>
          <p:cNvPicPr preferRelativeResize="0"/>
          <p:nvPr/>
        </p:nvPicPr>
        <p:blipFill>
          <a:blip r:embed="rId4">
            <a:alphaModFix/>
          </a:blip>
          <a:stretch>
            <a:fillRect/>
          </a:stretch>
        </p:blipFill>
        <p:spPr>
          <a:xfrm>
            <a:off x="1810274" y="3226143"/>
            <a:ext cx="5523450" cy="968709"/>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129"/>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321" name="Google Shape;1321;p1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322" name="Google Shape;1322;p12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323" name="Google Shape;1323;p12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324" name="Google Shape;1324;p129"/>
          <p:cNvSpPr txBox="1"/>
          <p:nvPr/>
        </p:nvSpPr>
        <p:spPr>
          <a:xfrm>
            <a:off x="1277700" y="1381150"/>
            <a:ext cx="6588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rgbClr val="00084D"/>
                </a:solidFill>
                <a:latin typeface="Nunito"/>
                <a:ea typeface="Nunito"/>
                <a:cs typeface="Nunito"/>
                <a:sym typeface="Nunito"/>
              </a:rPr>
              <a:t>Don’t Run as Root User</a:t>
            </a:r>
            <a:endParaRPr sz="2000">
              <a:solidFill>
                <a:srgbClr val="00084D"/>
              </a:solidFill>
              <a:latin typeface="Maven Pro"/>
              <a:ea typeface="Maven Pro"/>
              <a:cs typeface="Maven Pro"/>
              <a:sym typeface="Maven Pro"/>
            </a:endParaRPr>
          </a:p>
        </p:txBody>
      </p:sp>
      <p:sp>
        <p:nvSpPr>
          <p:cNvPr id="1325" name="Google Shape;1325;p129"/>
          <p:cNvSpPr txBox="1"/>
          <p:nvPr/>
        </p:nvSpPr>
        <p:spPr>
          <a:xfrm>
            <a:off x="1008150" y="2146950"/>
            <a:ext cx="7127700" cy="7434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Exécuter des conteneurs en tant qu'utilisateur root peut représenter un risque pour la sécurité. Utilisez la commande USER pour passer à un utilisateur non-root lorsque cela est possible.</a:t>
            </a:r>
            <a:endParaRPr sz="1100">
              <a:solidFill>
                <a:srgbClr val="00084D"/>
              </a:solidFill>
              <a:latin typeface="Maven Pro"/>
              <a:ea typeface="Maven Pro"/>
              <a:cs typeface="Maven Pro"/>
              <a:sym typeface="Maven Pro"/>
            </a:endParaRPr>
          </a:p>
          <a:p>
            <a:pPr indent="-298450" lvl="0" marL="45720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Créez un utilisateur et passez à celui-ci en utilisant USER pour exécuter votre application.</a:t>
            </a:r>
            <a:endParaRPr sz="1100">
              <a:solidFill>
                <a:srgbClr val="00084D"/>
              </a:solidFill>
              <a:latin typeface="Maven Pro"/>
              <a:ea typeface="Maven Pro"/>
              <a:cs typeface="Maven Pro"/>
              <a:sym typeface="Maven Pro"/>
            </a:endParaRPr>
          </a:p>
        </p:txBody>
      </p:sp>
      <p:sp>
        <p:nvSpPr>
          <p:cNvPr id="1326" name="Google Shape;1326;p129"/>
          <p:cNvSpPr txBox="1"/>
          <p:nvPr/>
        </p:nvSpPr>
        <p:spPr>
          <a:xfrm>
            <a:off x="1810275" y="2899000"/>
            <a:ext cx="3000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100">
                <a:solidFill>
                  <a:srgbClr val="00084D"/>
                </a:solidFill>
                <a:latin typeface="Maven Pro Medium"/>
                <a:ea typeface="Maven Pro Medium"/>
                <a:cs typeface="Maven Pro Medium"/>
                <a:sym typeface="Maven Pro Medium"/>
              </a:rPr>
              <a:t>Dockerfile</a:t>
            </a:r>
            <a:r>
              <a:rPr lang="en-GB" sz="1100">
                <a:solidFill>
                  <a:srgbClr val="00084D"/>
                </a:solidFill>
                <a:latin typeface="Maven Pro"/>
                <a:ea typeface="Maven Pro"/>
                <a:cs typeface="Maven Pro"/>
                <a:sym typeface="Maven Pro"/>
              </a:rPr>
              <a:t> </a:t>
            </a:r>
            <a:endParaRPr/>
          </a:p>
        </p:txBody>
      </p:sp>
      <p:pic>
        <p:nvPicPr>
          <p:cNvPr id="1327" name="Google Shape;1327;p129"/>
          <p:cNvPicPr preferRelativeResize="0"/>
          <p:nvPr/>
        </p:nvPicPr>
        <p:blipFill>
          <a:blip r:embed="rId4">
            <a:alphaModFix/>
          </a:blip>
          <a:stretch>
            <a:fillRect/>
          </a:stretch>
        </p:blipFill>
        <p:spPr>
          <a:xfrm>
            <a:off x="1819611" y="3261649"/>
            <a:ext cx="4453873" cy="1403275"/>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130"/>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333" name="Google Shape;1333;p1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334" name="Google Shape;1334;p13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335" name="Google Shape;1335;p13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336" name="Google Shape;1336;p130"/>
          <p:cNvSpPr txBox="1"/>
          <p:nvPr/>
        </p:nvSpPr>
        <p:spPr>
          <a:xfrm>
            <a:off x="1277700" y="1381150"/>
            <a:ext cx="65886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n-GB" sz="2400">
                <a:solidFill>
                  <a:srgbClr val="00084D"/>
                </a:solidFill>
                <a:latin typeface="Nunito"/>
                <a:ea typeface="Nunito"/>
                <a:cs typeface="Nunito"/>
                <a:sym typeface="Nunito"/>
              </a:rPr>
              <a:t>Avoid Storing Secrets in Dockerfile</a:t>
            </a:r>
            <a:endParaRPr sz="2000">
              <a:solidFill>
                <a:srgbClr val="00084D"/>
              </a:solidFill>
              <a:latin typeface="Maven Pro"/>
              <a:ea typeface="Maven Pro"/>
              <a:cs typeface="Maven Pro"/>
              <a:sym typeface="Maven Pro"/>
            </a:endParaRPr>
          </a:p>
        </p:txBody>
      </p:sp>
      <p:sp>
        <p:nvSpPr>
          <p:cNvPr id="1337" name="Google Shape;1337;p130"/>
          <p:cNvSpPr txBox="1"/>
          <p:nvPr/>
        </p:nvSpPr>
        <p:spPr>
          <a:xfrm>
            <a:off x="1008150" y="2388945"/>
            <a:ext cx="7127700" cy="11328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Stocker des informations sensibles (comme des mots de passe ou des clés API) dans un Dockerfile ou des variables d'environnement peut être risqué, car les couches de l'image Docker peuvent être accessibles par d'autres.</a:t>
            </a:r>
            <a:endParaRPr sz="1100">
              <a:solidFill>
                <a:srgbClr val="00084D"/>
              </a:solidFill>
              <a:latin typeface="Maven Pro"/>
              <a:ea typeface="Maven Pro"/>
              <a:cs typeface="Maven Pro"/>
              <a:sym typeface="Maven Pro"/>
            </a:endParaRPr>
          </a:p>
          <a:p>
            <a:pPr indent="-298450" lvl="0" marL="45720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Utilisez les secrets Docker, les variables d'environnement ou des services externes comme Vault pour gérer les données sensibles.</a:t>
            </a:r>
            <a:endParaRPr sz="1100">
              <a:solidFill>
                <a:srgbClr val="00084D"/>
              </a:solidFill>
              <a:latin typeface="Maven Pro"/>
              <a:ea typeface="Maven Pro"/>
              <a:cs typeface="Maven Pro"/>
              <a:sym typeface="Maven Pro"/>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131"/>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343" name="Google Shape;1343;p1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344" name="Google Shape;1344;p13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345" name="Google Shape;1345;p13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Image - Creating Docker Images </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Dockerfile Best Practices</a:t>
            </a:r>
            <a:endParaRPr sz="2000">
              <a:solidFill>
                <a:srgbClr val="073763"/>
              </a:solidFill>
              <a:latin typeface="Maven Pro"/>
              <a:ea typeface="Maven Pro"/>
              <a:cs typeface="Maven Pro"/>
              <a:sym typeface="Maven Pro"/>
            </a:endParaRPr>
          </a:p>
        </p:txBody>
      </p:sp>
      <p:sp>
        <p:nvSpPr>
          <p:cNvPr id="1346" name="Google Shape;1346;p131"/>
          <p:cNvSpPr txBox="1"/>
          <p:nvPr/>
        </p:nvSpPr>
        <p:spPr>
          <a:xfrm>
            <a:off x="1277700" y="1381150"/>
            <a:ext cx="65886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lang="en-GB" sz="2400">
                <a:solidFill>
                  <a:srgbClr val="00084D"/>
                </a:solidFill>
                <a:latin typeface="Nunito"/>
                <a:ea typeface="Nunito"/>
                <a:cs typeface="Nunito"/>
                <a:sym typeface="Nunito"/>
              </a:rPr>
              <a:t>Use Small, Minimal Base Images</a:t>
            </a:r>
            <a:endParaRPr sz="2000">
              <a:solidFill>
                <a:srgbClr val="00084D"/>
              </a:solidFill>
              <a:latin typeface="Maven Pro"/>
              <a:ea typeface="Maven Pro"/>
              <a:cs typeface="Maven Pro"/>
              <a:sym typeface="Maven Pro"/>
            </a:endParaRPr>
          </a:p>
        </p:txBody>
      </p:sp>
      <p:sp>
        <p:nvSpPr>
          <p:cNvPr id="1347" name="Google Shape;1347;p131"/>
          <p:cNvSpPr txBox="1"/>
          <p:nvPr/>
        </p:nvSpPr>
        <p:spPr>
          <a:xfrm>
            <a:off x="1008150" y="2388945"/>
            <a:ext cx="7127700" cy="938100"/>
          </a:xfrm>
          <a:prstGeom prst="rect">
            <a:avLst/>
          </a:prstGeom>
          <a:noFill/>
          <a:ln>
            <a:noFill/>
          </a:ln>
        </p:spPr>
        <p:txBody>
          <a:bodyPr anchorCtr="0" anchor="t" bIns="91425" lIns="91425" spcFirstLastPara="1" rIns="91425" wrap="square" tIns="91425">
            <a:spAutoFit/>
          </a:bodyPr>
          <a:lstStyle/>
          <a:p>
            <a:pPr indent="-298450" lvl="0" marL="457200" rtl="0" algn="just">
              <a:lnSpc>
                <a:spcPct val="115000"/>
              </a:lnSpc>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Des images de base plus volumineuses entraînent des images finales plus grandes et des temps de téléchargement plus longs. Utilisez des images minimales comme Alpine chaque fois que possible.</a:t>
            </a:r>
            <a:endParaRPr sz="1100">
              <a:solidFill>
                <a:srgbClr val="00084D"/>
              </a:solidFill>
              <a:latin typeface="Maven Pro"/>
              <a:ea typeface="Maven Pro"/>
              <a:cs typeface="Maven Pro"/>
              <a:sym typeface="Maven Pro"/>
            </a:endParaRPr>
          </a:p>
          <a:p>
            <a:pPr indent="-298450" lvl="0" marL="457200" rtl="0" algn="just">
              <a:lnSpc>
                <a:spcPct val="115000"/>
              </a:lnSpc>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Meilleure pratique : Optez pour des images légères, en particulier pour les applications simples ou lorsque vous n'avez pas besoin de toutes les fonctionnalités des images standard.</a:t>
            </a:r>
            <a:endParaRPr sz="1100">
              <a:solidFill>
                <a:srgbClr val="00084D"/>
              </a:solidFill>
              <a:latin typeface="Maven Pro"/>
              <a:ea typeface="Maven Pro"/>
              <a:cs typeface="Maven Pro"/>
              <a:sym typeface="Maven Pro"/>
            </a:endParaRPr>
          </a:p>
        </p:txBody>
      </p:sp>
      <p:sp>
        <p:nvSpPr>
          <p:cNvPr id="1348" name="Google Shape;1348;p131"/>
          <p:cNvSpPr/>
          <p:nvPr/>
        </p:nvSpPr>
        <p:spPr>
          <a:xfrm rot="928">
            <a:off x="2940050" y="3482575"/>
            <a:ext cx="3335700" cy="987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GB" sz="1300">
                <a:solidFill>
                  <a:srgbClr val="EAD1DC"/>
                </a:solidFill>
                <a:latin typeface="Courier New"/>
                <a:ea typeface="Courier New"/>
                <a:cs typeface="Courier New"/>
                <a:sym typeface="Courier New"/>
              </a:rPr>
              <a:t>FROM </a:t>
            </a:r>
            <a:r>
              <a:rPr lang="en-GB" sz="1300">
                <a:solidFill>
                  <a:srgbClr val="C9DAF8"/>
                </a:solidFill>
                <a:latin typeface="Courier New"/>
                <a:ea typeface="Courier New"/>
                <a:cs typeface="Courier New"/>
                <a:sym typeface="Courier New"/>
              </a:rPr>
              <a:t>alpine:3.14</a:t>
            </a:r>
            <a:endParaRPr sz="1300">
              <a:solidFill>
                <a:srgbClr val="C9DAF8"/>
              </a:solidFill>
              <a:latin typeface="Courier New"/>
              <a:ea typeface="Courier New"/>
              <a:cs typeface="Courier New"/>
              <a:sym typeface="Courier New"/>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132"/>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1354" name="Google Shape;1354;p132"/>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355" name="Google Shape;1355;p132"/>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1356" name="Google Shape;1356;p132"/>
          <p:cNvSpPr txBox="1"/>
          <p:nvPr/>
        </p:nvSpPr>
        <p:spPr>
          <a:xfrm>
            <a:off x="478375" y="1786800"/>
            <a:ext cx="4572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Workshop</a:t>
            </a:r>
            <a:endParaRPr sz="4500">
              <a:solidFill>
                <a:srgbClr val="E5F2FC"/>
              </a:solidFill>
              <a:latin typeface="Nunito SemiBold"/>
              <a:ea typeface="Nunito SemiBold"/>
              <a:cs typeface="Nunito SemiBold"/>
              <a:sym typeface="Nunito SemiBold"/>
            </a:endParaRPr>
          </a:p>
        </p:txBody>
      </p:sp>
      <p:sp>
        <p:nvSpPr>
          <p:cNvPr id="1357" name="Google Shape;1357;p1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133"/>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1363" name="Google Shape;1363;p133"/>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364" name="Google Shape;1364;p133"/>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1365" name="Google Shape;1365;p133"/>
          <p:cNvSpPr txBox="1"/>
          <p:nvPr/>
        </p:nvSpPr>
        <p:spPr>
          <a:xfrm>
            <a:off x="478375" y="1786800"/>
            <a:ext cx="4572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Docker Volumes</a:t>
            </a:r>
            <a:endParaRPr sz="4500">
              <a:solidFill>
                <a:srgbClr val="E5F2FC"/>
              </a:solidFill>
              <a:latin typeface="Nunito SemiBold"/>
              <a:ea typeface="Nunito SemiBold"/>
              <a:cs typeface="Nunito SemiBold"/>
              <a:sym typeface="Nunito SemiBold"/>
            </a:endParaRPr>
          </a:p>
        </p:txBody>
      </p:sp>
      <p:sp>
        <p:nvSpPr>
          <p:cNvPr id="1366" name="Google Shape;1366;p1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34"/>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372" name="Google Shape;1372;p1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373" name="Google Shape;1373;p13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374" name="Google Shape;1374;p13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What’s</a:t>
            </a:r>
            <a:endParaRPr sz="2000">
              <a:solidFill>
                <a:srgbClr val="073763"/>
              </a:solidFill>
              <a:latin typeface="Maven Pro"/>
              <a:ea typeface="Maven Pro"/>
              <a:cs typeface="Maven Pro"/>
              <a:sym typeface="Maven Pro"/>
            </a:endParaRPr>
          </a:p>
        </p:txBody>
      </p:sp>
      <p:sp>
        <p:nvSpPr>
          <p:cNvPr id="1375" name="Google Shape;1375;p134"/>
          <p:cNvSpPr txBox="1"/>
          <p:nvPr/>
        </p:nvSpPr>
        <p:spPr>
          <a:xfrm>
            <a:off x="664200" y="1548150"/>
            <a:ext cx="7815600" cy="861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100">
                <a:solidFill>
                  <a:srgbClr val="00084D"/>
                </a:solidFill>
                <a:latin typeface="Maven Pro"/>
                <a:ea typeface="Maven Pro"/>
                <a:cs typeface="Maven Pro"/>
                <a:sym typeface="Maven Pro"/>
              </a:rPr>
              <a:t>Les volumes Docker sont un concept fondamental pour la gestion des données dans les conteneurs Docker. Lorsque les conteneurs s'exécutent, ils ont souvent besoin de stocker et de récupérer des données, mais comme les conteneurs sont éphémères, leurs systèmes de fichiers ne sont pas persistants. C'est là que les volumes Docker entrent en jeu, offrant une méthode pour persister et partager les données entre les conteneurs.</a:t>
            </a:r>
            <a:endParaRPr sz="1100">
              <a:solidFill>
                <a:srgbClr val="00084D"/>
              </a:solidFill>
              <a:latin typeface="Maven Pro"/>
              <a:ea typeface="Maven Pro"/>
              <a:cs typeface="Maven Pro"/>
              <a:sym typeface="Maven Pro"/>
            </a:endParaRPr>
          </a:p>
        </p:txBody>
      </p:sp>
      <p:sp>
        <p:nvSpPr>
          <p:cNvPr id="1376" name="Google Shape;1376;p134"/>
          <p:cNvSpPr txBox="1"/>
          <p:nvPr/>
        </p:nvSpPr>
        <p:spPr>
          <a:xfrm>
            <a:off x="664200" y="2410050"/>
            <a:ext cx="7815600" cy="1185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n-GB" sz="1100">
                <a:solidFill>
                  <a:srgbClr val="00084D"/>
                </a:solidFill>
                <a:latin typeface="Maven Pro"/>
                <a:ea typeface="Maven Pro"/>
                <a:cs typeface="Maven Pro"/>
                <a:sym typeface="Maven Pro"/>
              </a:rPr>
              <a:t>Les volumes Docker sont </a:t>
            </a:r>
            <a:r>
              <a:rPr lang="en-GB" sz="1100">
                <a:solidFill>
                  <a:srgbClr val="00084D"/>
                </a:solidFill>
                <a:latin typeface="Maven Pro Medium"/>
                <a:ea typeface="Maven Pro Medium"/>
                <a:cs typeface="Maven Pro Medium"/>
                <a:sym typeface="Maven Pro Medium"/>
              </a:rPr>
              <a:t>des espaces de stockage</a:t>
            </a:r>
            <a:r>
              <a:rPr lang="en-GB" sz="1100">
                <a:solidFill>
                  <a:srgbClr val="00084D"/>
                </a:solidFill>
                <a:latin typeface="Maven Pro"/>
                <a:ea typeface="Maven Pro"/>
                <a:cs typeface="Maven Pro"/>
                <a:sym typeface="Maven Pro"/>
              </a:rPr>
              <a:t> situés en dehors du système de fichiers du conteneur, qui persistent au-delà du cycle de vie d'un conteneur.</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1200"/>
              </a:spcAft>
              <a:buNone/>
            </a:pPr>
            <a:r>
              <a:rPr lang="en-GB" sz="1100">
                <a:solidFill>
                  <a:srgbClr val="00084D"/>
                </a:solidFill>
                <a:latin typeface="Maven Pro"/>
                <a:ea typeface="Maven Pro"/>
                <a:cs typeface="Maven Pro"/>
                <a:sym typeface="Maven Pro"/>
              </a:rPr>
              <a:t>Les volumes permettent aux conteneurs de </a:t>
            </a:r>
            <a:r>
              <a:rPr lang="en-GB" sz="1100">
                <a:solidFill>
                  <a:srgbClr val="00084D"/>
                </a:solidFill>
                <a:latin typeface="Maven Pro Medium"/>
                <a:ea typeface="Maven Pro Medium"/>
                <a:cs typeface="Maven Pro Medium"/>
                <a:sym typeface="Maven Pro Medium"/>
              </a:rPr>
              <a:t>stocker </a:t>
            </a:r>
            <a:r>
              <a:rPr lang="en-GB" sz="1100">
                <a:solidFill>
                  <a:srgbClr val="00084D"/>
                </a:solidFill>
                <a:latin typeface="Maven Pro"/>
                <a:ea typeface="Maven Pro"/>
                <a:cs typeface="Maven Pro"/>
                <a:sym typeface="Maven Pro"/>
              </a:rPr>
              <a:t>et de</a:t>
            </a:r>
            <a:r>
              <a:rPr lang="en-GB" sz="1100">
                <a:solidFill>
                  <a:srgbClr val="00084D"/>
                </a:solidFill>
                <a:latin typeface="Maven Pro Medium"/>
                <a:ea typeface="Maven Pro Medium"/>
                <a:cs typeface="Maven Pro Medium"/>
                <a:sym typeface="Maven Pro Medium"/>
              </a:rPr>
              <a:t> récupérer</a:t>
            </a:r>
            <a:r>
              <a:rPr lang="en-GB" sz="1100">
                <a:solidFill>
                  <a:srgbClr val="00084D"/>
                </a:solidFill>
                <a:latin typeface="Maven Pro"/>
                <a:ea typeface="Maven Pro"/>
                <a:cs typeface="Maven Pro"/>
                <a:sym typeface="Maven Pro"/>
              </a:rPr>
              <a:t> des données, même s'ils sont arrêtés ou supprimés. Cela est essentiel pour les applications qui doivent conserver un état, comme les bases de données, les logs ou les données utilisateur</a:t>
            </a:r>
            <a:endParaRPr sz="1100">
              <a:solidFill>
                <a:srgbClr val="00084D"/>
              </a:solidFill>
              <a:latin typeface="Maven Pro"/>
              <a:ea typeface="Maven Pro"/>
              <a:cs typeface="Maven Pro"/>
              <a:sym typeface="Maven Pro"/>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35"/>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382" name="Google Shape;1382;p1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383" name="Google Shape;1383;p13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384" name="Google Shape;1384;p13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Manage Volume</a:t>
            </a:r>
            <a:endParaRPr sz="2000">
              <a:solidFill>
                <a:srgbClr val="073763"/>
              </a:solidFill>
              <a:latin typeface="Maven Pro"/>
              <a:ea typeface="Maven Pro"/>
              <a:cs typeface="Maven Pro"/>
              <a:sym typeface="Maven Pro"/>
            </a:endParaRPr>
          </a:p>
        </p:txBody>
      </p:sp>
      <p:sp>
        <p:nvSpPr>
          <p:cNvPr id="1385" name="Google Shape;1385;p135"/>
          <p:cNvSpPr txBox="1"/>
          <p:nvPr/>
        </p:nvSpPr>
        <p:spPr>
          <a:xfrm>
            <a:off x="664200" y="1258997"/>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List volumes</a:t>
            </a:r>
            <a:endParaRPr>
              <a:solidFill>
                <a:srgbClr val="00084D"/>
              </a:solidFill>
              <a:latin typeface="Maven Pro SemiBold"/>
              <a:ea typeface="Maven Pro SemiBold"/>
              <a:cs typeface="Maven Pro SemiBold"/>
              <a:sym typeface="Maven Pro SemiBold"/>
            </a:endParaRPr>
          </a:p>
        </p:txBody>
      </p:sp>
      <p:sp>
        <p:nvSpPr>
          <p:cNvPr id="1386" name="Google Shape;1386;p135"/>
          <p:cNvSpPr/>
          <p:nvPr/>
        </p:nvSpPr>
        <p:spPr>
          <a:xfrm rot="763">
            <a:off x="2822994" y="12369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volume ls</a:t>
            </a:r>
            <a:endParaRPr sz="1000">
              <a:solidFill>
                <a:schemeClr val="lt1"/>
              </a:solidFill>
              <a:latin typeface="Courier New"/>
              <a:ea typeface="Courier New"/>
              <a:cs typeface="Courier New"/>
              <a:sym typeface="Courier New"/>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136"/>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392" name="Google Shape;1392;p1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393" name="Google Shape;1393;p13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394" name="Google Shape;1394;p13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Manage Volume</a:t>
            </a:r>
            <a:endParaRPr sz="2000">
              <a:solidFill>
                <a:srgbClr val="073763"/>
              </a:solidFill>
              <a:latin typeface="Maven Pro"/>
              <a:ea typeface="Maven Pro"/>
              <a:cs typeface="Maven Pro"/>
              <a:sym typeface="Maven Pro"/>
            </a:endParaRPr>
          </a:p>
        </p:txBody>
      </p:sp>
      <p:sp>
        <p:nvSpPr>
          <p:cNvPr id="1395" name="Google Shape;1395;p136"/>
          <p:cNvSpPr txBox="1"/>
          <p:nvPr/>
        </p:nvSpPr>
        <p:spPr>
          <a:xfrm>
            <a:off x="664200" y="1258997"/>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List volumes</a:t>
            </a:r>
            <a:endParaRPr>
              <a:solidFill>
                <a:srgbClr val="00084D"/>
              </a:solidFill>
              <a:latin typeface="Maven Pro SemiBold"/>
              <a:ea typeface="Maven Pro SemiBold"/>
              <a:cs typeface="Maven Pro SemiBold"/>
              <a:sym typeface="Maven Pro SemiBold"/>
            </a:endParaRPr>
          </a:p>
        </p:txBody>
      </p:sp>
      <p:sp>
        <p:nvSpPr>
          <p:cNvPr id="1396" name="Google Shape;1396;p136"/>
          <p:cNvSpPr/>
          <p:nvPr/>
        </p:nvSpPr>
        <p:spPr>
          <a:xfrm rot="763">
            <a:off x="2822994" y="12369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ls</a:t>
            </a:r>
            <a:endParaRPr sz="1200">
              <a:solidFill>
                <a:schemeClr val="lt1"/>
              </a:solidFill>
              <a:latin typeface="Courier New"/>
              <a:ea typeface="Courier New"/>
              <a:cs typeface="Courier New"/>
              <a:sym typeface="Courier New"/>
            </a:endParaRPr>
          </a:p>
        </p:txBody>
      </p:sp>
      <p:sp>
        <p:nvSpPr>
          <p:cNvPr id="1397" name="Google Shape;1397;p136"/>
          <p:cNvSpPr txBox="1"/>
          <p:nvPr/>
        </p:nvSpPr>
        <p:spPr>
          <a:xfrm>
            <a:off x="664200" y="1730322"/>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Créer un volume</a:t>
            </a:r>
            <a:endParaRPr>
              <a:solidFill>
                <a:srgbClr val="00084D"/>
              </a:solidFill>
              <a:latin typeface="Maven Pro SemiBold"/>
              <a:ea typeface="Maven Pro SemiBold"/>
              <a:cs typeface="Maven Pro SemiBold"/>
              <a:sym typeface="Maven Pro SemiBold"/>
            </a:endParaRPr>
          </a:p>
        </p:txBody>
      </p:sp>
      <p:sp>
        <p:nvSpPr>
          <p:cNvPr id="1398" name="Google Shape;1398;p136"/>
          <p:cNvSpPr/>
          <p:nvPr/>
        </p:nvSpPr>
        <p:spPr>
          <a:xfrm rot="763">
            <a:off x="2822994" y="170830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137"/>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404" name="Google Shape;1404;p1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405" name="Google Shape;1405;p13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406" name="Google Shape;1406;p13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Manage Volume</a:t>
            </a:r>
            <a:endParaRPr sz="2000">
              <a:solidFill>
                <a:srgbClr val="073763"/>
              </a:solidFill>
              <a:latin typeface="Maven Pro"/>
              <a:ea typeface="Maven Pro"/>
              <a:cs typeface="Maven Pro"/>
              <a:sym typeface="Maven Pro"/>
            </a:endParaRPr>
          </a:p>
        </p:txBody>
      </p:sp>
      <p:sp>
        <p:nvSpPr>
          <p:cNvPr id="1407" name="Google Shape;1407;p137"/>
          <p:cNvSpPr txBox="1"/>
          <p:nvPr/>
        </p:nvSpPr>
        <p:spPr>
          <a:xfrm>
            <a:off x="664200" y="1258997"/>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List volumes</a:t>
            </a:r>
            <a:endParaRPr>
              <a:solidFill>
                <a:srgbClr val="00084D"/>
              </a:solidFill>
              <a:latin typeface="Maven Pro SemiBold"/>
              <a:ea typeface="Maven Pro SemiBold"/>
              <a:cs typeface="Maven Pro SemiBold"/>
              <a:sym typeface="Maven Pro SemiBold"/>
            </a:endParaRPr>
          </a:p>
        </p:txBody>
      </p:sp>
      <p:sp>
        <p:nvSpPr>
          <p:cNvPr id="1408" name="Google Shape;1408;p137"/>
          <p:cNvSpPr/>
          <p:nvPr/>
        </p:nvSpPr>
        <p:spPr>
          <a:xfrm rot="763">
            <a:off x="2822994" y="12369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ls</a:t>
            </a:r>
            <a:endParaRPr sz="1200">
              <a:solidFill>
                <a:schemeClr val="lt1"/>
              </a:solidFill>
              <a:latin typeface="Courier New"/>
              <a:ea typeface="Courier New"/>
              <a:cs typeface="Courier New"/>
              <a:sym typeface="Courier New"/>
            </a:endParaRPr>
          </a:p>
        </p:txBody>
      </p:sp>
      <p:sp>
        <p:nvSpPr>
          <p:cNvPr id="1409" name="Google Shape;1409;p137"/>
          <p:cNvSpPr txBox="1"/>
          <p:nvPr/>
        </p:nvSpPr>
        <p:spPr>
          <a:xfrm>
            <a:off x="664200" y="1730322"/>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Créer un volume</a:t>
            </a:r>
            <a:endParaRPr>
              <a:solidFill>
                <a:srgbClr val="00084D"/>
              </a:solidFill>
              <a:latin typeface="Maven Pro SemiBold"/>
              <a:ea typeface="Maven Pro SemiBold"/>
              <a:cs typeface="Maven Pro SemiBold"/>
              <a:sym typeface="Maven Pro SemiBold"/>
            </a:endParaRPr>
          </a:p>
        </p:txBody>
      </p:sp>
      <p:sp>
        <p:nvSpPr>
          <p:cNvPr id="1410" name="Google Shape;1410;p137"/>
          <p:cNvSpPr/>
          <p:nvPr/>
        </p:nvSpPr>
        <p:spPr>
          <a:xfrm rot="763">
            <a:off x="2822994" y="170830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
        <p:nvSpPr>
          <p:cNvPr id="1411" name="Google Shape;1411;p137"/>
          <p:cNvSpPr txBox="1"/>
          <p:nvPr/>
        </p:nvSpPr>
        <p:spPr>
          <a:xfrm>
            <a:off x="664200" y="2253500"/>
            <a:ext cx="21588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Show details</a:t>
            </a:r>
            <a:endParaRPr>
              <a:solidFill>
                <a:srgbClr val="00084D"/>
              </a:solidFill>
              <a:latin typeface="Maven Pro SemiBold"/>
              <a:ea typeface="Maven Pro SemiBold"/>
              <a:cs typeface="Maven Pro SemiBold"/>
              <a:sym typeface="Maven Pro SemiBold"/>
            </a:endParaRPr>
          </a:p>
        </p:txBody>
      </p:sp>
      <p:sp>
        <p:nvSpPr>
          <p:cNvPr id="1412" name="Google Shape;1412;p137"/>
          <p:cNvSpPr/>
          <p:nvPr/>
        </p:nvSpPr>
        <p:spPr>
          <a:xfrm rot="763">
            <a:off x="2822994" y="22314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138"/>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418" name="Google Shape;1418;p1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419" name="Google Shape;1419;p13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420" name="Google Shape;1420;p13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Manage Volume</a:t>
            </a:r>
            <a:endParaRPr sz="2000">
              <a:solidFill>
                <a:srgbClr val="073763"/>
              </a:solidFill>
              <a:latin typeface="Maven Pro"/>
              <a:ea typeface="Maven Pro"/>
              <a:cs typeface="Maven Pro"/>
              <a:sym typeface="Maven Pro"/>
            </a:endParaRPr>
          </a:p>
        </p:txBody>
      </p:sp>
      <p:sp>
        <p:nvSpPr>
          <p:cNvPr id="1421" name="Google Shape;1421;p138"/>
          <p:cNvSpPr txBox="1"/>
          <p:nvPr/>
        </p:nvSpPr>
        <p:spPr>
          <a:xfrm>
            <a:off x="664200" y="1258997"/>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List volumes</a:t>
            </a:r>
            <a:endParaRPr>
              <a:solidFill>
                <a:srgbClr val="00084D"/>
              </a:solidFill>
              <a:latin typeface="Maven Pro SemiBold"/>
              <a:ea typeface="Maven Pro SemiBold"/>
              <a:cs typeface="Maven Pro SemiBold"/>
              <a:sym typeface="Maven Pro SemiBold"/>
            </a:endParaRPr>
          </a:p>
        </p:txBody>
      </p:sp>
      <p:sp>
        <p:nvSpPr>
          <p:cNvPr id="1422" name="Google Shape;1422;p138"/>
          <p:cNvSpPr/>
          <p:nvPr/>
        </p:nvSpPr>
        <p:spPr>
          <a:xfrm rot="763">
            <a:off x="2822994" y="12369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ls</a:t>
            </a:r>
            <a:endParaRPr sz="1200">
              <a:solidFill>
                <a:schemeClr val="lt1"/>
              </a:solidFill>
              <a:latin typeface="Courier New"/>
              <a:ea typeface="Courier New"/>
              <a:cs typeface="Courier New"/>
              <a:sym typeface="Courier New"/>
            </a:endParaRPr>
          </a:p>
        </p:txBody>
      </p:sp>
      <p:sp>
        <p:nvSpPr>
          <p:cNvPr id="1423" name="Google Shape;1423;p138"/>
          <p:cNvSpPr txBox="1"/>
          <p:nvPr/>
        </p:nvSpPr>
        <p:spPr>
          <a:xfrm>
            <a:off x="664200" y="1730322"/>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Créer un volume</a:t>
            </a:r>
            <a:endParaRPr>
              <a:solidFill>
                <a:srgbClr val="00084D"/>
              </a:solidFill>
              <a:latin typeface="Maven Pro SemiBold"/>
              <a:ea typeface="Maven Pro SemiBold"/>
              <a:cs typeface="Maven Pro SemiBold"/>
              <a:sym typeface="Maven Pro SemiBold"/>
            </a:endParaRPr>
          </a:p>
        </p:txBody>
      </p:sp>
      <p:sp>
        <p:nvSpPr>
          <p:cNvPr id="1424" name="Google Shape;1424;p138"/>
          <p:cNvSpPr/>
          <p:nvPr/>
        </p:nvSpPr>
        <p:spPr>
          <a:xfrm rot="763">
            <a:off x="2822994" y="170830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
        <p:nvSpPr>
          <p:cNvPr id="1425" name="Google Shape;1425;p138"/>
          <p:cNvSpPr txBox="1"/>
          <p:nvPr/>
        </p:nvSpPr>
        <p:spPr>
          <a:xfrm>
            <a:off x="664200" y="2253500"/>
            <a:ext cx="21588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Show details</a:t>
            </a:r>
            <a:endParaRPr>
              <a:solidFill>
                <a:srgbClr val="00084D"/>
              </a:solidFill>
              <a:latin typeface="Maven Pro SemiBold"/>
              <a:ea typeface="Maven Pro SemiBold"/>
              <a:cs typeface="Maven Pro SemiBold"/>
              <a:sym typeface="Maven Pro SemiBold"/>
            </a:endParaRPr>
          </a:p>
        </p:txBody>
      </p:sp>
      <p:sp>
        <p:nvSpPr>
          <p:cNvPr id="1426" name="Google Shape;1426;p138"/>
          <p:cNvSpPr/>
          <p:nvPr/>
        </p:nvSpPr>
        <p:spPr>
          <a:xfrm rot="763">
            <a:off x="2822994" y="22314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
        <p:nvSpPr>
          <p:cNvPr id="1427" name="Google Shape;1427;p138"/>
          <p:cNvSpPr txBox="1"/>
          <p:nvPr/>
        </p:nvSpPr>
        <p:spPr>
          <a:xfrm>
            <a:off x="664200" y="2799300"/>
            <a:ext cx="21588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Supprimer un volume</a:t>
            </a:r>
            <a:endParaRPr>
              <a:solidFill>
                <a:srgbClr val="00084D"/>
              </a:solidFill>
              <a:latin typeface="Maven Pro SemiBold"/>
              <a:ea typeface="Maven Pro SemiBold"/>
              <a:cs typeface="Maven Pro SemiBold"/>
              <a:sym typeface="Maven Pro SemiBold"/>
            </a:endParaRPr>
          </a:p>
        </p:txBody>
      </p:sp>
      <p:sp>
        <p:nvSpPr>
          <p:cNvPr id="1428" name="Google Shape;1428;p138"/>
          <p:cNvSpPr/>
          <p:nvPr/>
        </p:nvSpPr>
        <p:spPr>
          <a:xfrm rot="763">
            <a:off x="2822994" y="27772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a:t>
            </a:r>
            <a:r>
              <a:rPr lang="en-GB" sz="1200">
                <a:solidFill>
                  <a:schemeClr val="lt1"/>
                </a:solidFill>
                <a:latin typeface="Courier New"/>
                <a:ea typeface="Courier New"/>
                <a:cs typeface="Courier New"/>
                <a:sym typeface="Courier New"/>
              </a:rPr>
              <a:t>docker volume rm</a:t>
            </a:r>
            <a:r>
              <a:rPr lang="en-GB" sz="1200">
                <a:solidFill>
                  <a:schemeClr val="lt1"/>
                </a:solidFill>
                <a:latin typeface="Courier New"/>
                <a:ea typeface="Courier New"/>
                <a:cs typeface="Courier New"/>
                <a:sym typeface="Courier New"/>
              </a:rPr>
              <a:t> VOLUME_NAME</a:t>
            </a:r>
            <a:endParaRPr sz="1200">
              <a:solidFill>
                <a:schemeClr val="lt1"/>
              </a:solidFill>
              <a:latin typeface="Courier New"/>
              <a:ea typeface="Courier New"/>
              <a:cs typeface="Courier New"/>
              <a:sym typeface="Courier New"/>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39"/>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434" name="Google Shape;1434;p1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435" name="Google Shape;1435;p13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436" name="Google Shape;1436;p13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Manage Volume</a:t>
            </a:r>
            <a:endParaRPr sz="2000">
              <a:solidFill>
                <a:srgbClr val="073763"/>
              </a:solidFill>
              <a:latin typeface="Maven Pro"/>
              <a:ea typeface="Maven Pro"/>
              <a:cs typeface="Maven Pro"/>
              <a:sym typeface="Maven Pro"/>
            </a:endParaRPr>
          </a:p>
        </p:txBody>
      </p:sp>
      <p:sp>
        <p:nvSpPr>
          <p:cNvPr id="1437" name="Google Shape;1437;p139"/>
          <p:cNvSpPr txBox="1"/>
          <p:nvPr/>
        </p:nvSpPr>
        <p:spPr>
          <a:xfrm>
            <a:off x="664200" y="1258997"/>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List volumes</a:t>
            </a:r>
            <a:endParaRPr>
              <a:solidFill>
                <a:srgbClr val="00084D"/>
              </a:solidFill>
              <a:latin typeface="Maven Pro SemiBold"/>
              <a:ea typeface="Maven Pro SemiBold"/>
              <a:cs typeface="Maven Pro SemiBold"/>
              <a:sym typeface="Maven Pro SemiBold"/>
            </a:endParaRPr>
          </a:p>
        </p:txBody>
      </p:sp>
      <p:sp>
        <p:nvSpPr>
          <p:cNvPr id="1438" name="Google Shape;1438;p139"/>
          <p:cNvSpPr/>
          <p:nvPr/>
        </p:nvSpPr>
        <p:spPr>
          <a:xfrm rot="763">
            <a:off x="2822994" y="12369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ls</a:t>
            </a:r>
            <a:endParaRPr sz="1200">
              <a:solidFill>
                <a:schemeClr val="lt1"/>
              </a:solidFill>
              <a:latin typeface="Courier New"/>
              <a:ea typeface="Courier New"/>
              <a:cs typeface="Courier New"/>
              <a:sym typeface="Courier New"/>
            </a:endParaRPr>
          </a:p>
        </p:txBody>
      </p:sp>
      <p:sp>
        <p:nvSpPr>
          <p:cNvPr id="1439" name="Google Shape;1439;p139"/>
          <p:cNvSpPr txBox="1"/>
          <p:nvPr/>
        </p:nvSpPr>
        <p:spPr>
          <a:xfrm>
            <a:off x="664200" y="1730322"/>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Créer un volume</a:t>
            </a:r>
            <a:endParaRPr>
              <a:solidFill>
                <a:srgbClr val="00084D"/>
              </a:solidFill>
              <a:latin typeface="Maven Pro SemiBold"/>
              <a:ea typeface="Maven Pro SemiBold"/>
              <a:cs typeface="Maven Pro SemiBold"/>
              <a:sym typeface="Maven Pro SemiBold"/>
            </a:endParaRPr>
          </a:p>
        </p:txBody>
      </p:sp>
      <p:sp>
        <p:nvSpPr>
          <p:cNvPr id="1440" name="Google Shape;1440;p139"/>
          <p:cNvSpPr/>
          <p:nvPr/>
        </p:nvSpPr>
        <p:spPr>
          <a:xfrm rot="763">
            <a:off x="2822994" y="170830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
        <p:nvSpPr>
          <p:cNvPr id="1441" name="Google Shape;1441;p139"/>
          <p:cNvSpPr txBox="1"/>
          <p:nvPr/>
        </p:nvSpPr>
        <p:spPr>
          <a:xfrm>
            <a:off x="664200" y="2253500"/>
            <a:ext cx="21588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Show details</a:t>
            </a:r>
            <a:endParaRPr>
              <a:solidFill>
                <a:srgbClr val="00084D"/>
              </a:solidFill>
              <a:latin typeface="Maven Pro SemiBold"/>
              <a:ea typeface="Maven Pro SemiBold"/>
              <a:cs typeface="Maven Pro SemiBold"/>
              <a:sym typeface="Maven Pro SemiBold"/>
            </a:endParaRPr>
          </a:p>
        </p:txBody>
      </p:sp>
      <p:sp>
        <p:nvSpPr>
          <p:cNvPr id="1442" name="Google Shape;1442;p139"/>
          <p:cNvSpPr/>
          <p:nvPr/>
        </p:nvSpPr>
        <p:spPr>
          <a:xfrm rot="763">
            <a:off x="2822994" y="22314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
        <p:nvSpPr>
          <p:cNvPr id="1443" name="Google Shape;1443;p139"/>
          <p:cNvSpPr txBox="1"/>
          <p:nvPr/>
        </p:nvSpPr>
        <p:spPr>
          <a:xfrm>
            <a:off x="664200" y="2799300"/>
            <a:ext cx="21588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Supprimer un volume</a:t>
            </a:r>
            <a:endParaRPr>
              <a:solidFill>
                <a:srgbClr val="00084D"/>
              </a:solidFill>
              <a:latin typeface="Maven Pro SemiBold"/>
              <a:ea typeface="Maven Pro SemiBold"/>
              <a:cs typeface="Maven Pro SemiBold"/>
              <a:sym typeface="Maven Pro SemiBold"/>
            </a:endParaRPr>
          </a:p>
        </p:txBody>
      </p:sp>
      <p:sp>
        <p:nvSpPr>
          <p:cNvPr id="1444" name="Google Shape;1444;p139"/>
          <p:cNvSpPr/>
          <p:nvPr/>
        </p:nvSpPr>
        <p:spPr>
          <a:xfrm rot="763">
            <a:off x="2822994" y="27772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rm VOLUME_NAME</a:t>
            </a:r>
            <a:endParaRPr sz="1200">
              <a:solidFill>
                <a:schemeClr val="lt1"/>
              </a:solidFill>
              <a:latin typeface="Courier New"/>
              <a:ea typeface="Courier New"/>
              <a:cs typeface="Courier New"/>
              <a:sym typeface="Courier New"/>
            </a:endParaRPr>
          </a:p>
        </p:txBody>
      </p:sp>
      <p:sp>
        <p:nvSpPr>
          <p:cNvPr id="1445" name="Google Shape;1445;p139"/>
          <p:cNvSpPr txBox="1"/>
          <p:nvPr/>
        </p:nvSpPr>
        <p:spPr>
          <a:xfrm>
            <a:off x="664200" y="3291525"/>
            <a:ext cx="2158800" cy="554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200">
                <a:solidFill>
                  <a:srgbClr val="00084D"/>
                </a:solidFill>
                <a:latin typeface="Maven Pro SemiBold"/>
                <a:ea typeface="Maven Pro SemiBold"/>
                <a:cs typeface="Maven Pro SemiBold"/>
                <a:sym typeface="Maven Pro SemiBold"/>
              </a:rPr>
              <a:t>Supprimer tous les volumes inutilisés</a:t>
            </a:r>
            <a:endParaRPr sz="1200">
              <a:solidFill>
                <a:srgbClr val="00084D"/>
              </a:solidFill>
              <a:latin typeface="Maven Pro SemiBold"/>
              <a:ea typeface="Maven Pro SemiBold"/>
              <a:cs typeface="Maven Pro SemiBold"/>
              <a:sym typeface="Maven Pro SemiBold"/>
            </a:endParaRPr>
          </a:p>
        </p:txBody>
      </p:sp>
      <p:sp>
        <p:nvSpPr>
          <p:cNvPr id="1446" name="Google Shape;1446;p139"/>
          <p:cNvSpPr/>
          <p:nvPr/>
        </p:nvSpPr>
        <p:spPr>
          <a:xfrm rot="763">
            <a:off x="2822994" y="334570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prune</a:t>
            </a:r>
            <a:endParaRPr sz="1200">
              <a:solidFill>
                <a:schemeClr val="lt1"/>
              </a:solidFill>
              <a:latin typeface="Courier New"/>
              <a:ea typeface="Courier New"/>
              <a:cs typeface="Courier New"/>
              <a:sym typeface="Courier New"/>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140"/>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452" name="Google Shape;1452;p1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453" name="Google Shape;1453;p14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454" name="Google Shape;1454;p14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Manage Volume</a:t>
            </a:r>
            <a:endParaRPr sz="2000">
              <a:solidFill>
                <a:srgbClr val="073763"/>
              </a:solidFill>
              <a:latin typeface="Maven Pro"/>
              <a:ea typeface="Maven Pro"/>
              <a:cs typeface="Maven Pro"/>
              <a:sym typeface="Maven Pro"/>
            </a:endParaRPr>
          </a:p>
        </p:txBody>
      </p:sp>
      <p:sp>
        <p:nvSpPr>
          <p:cNvPr id="1455" name="Google Shape;1455;p140"/>
          <p:cNvSpPr txBox="1"/>
          <p:nvPr/>
        </p:nvSpPr>
        <p:spPr>
          <a:xfrm>
            <a:off x="664200" y="1258997"/>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List volumes</a:t>
            </a:r>
            <a:endParaRPr>
              <a:solidFill>
                <a:srgbClr val="00084D"/>
              </a:solidFill>
              <a:latin typeface="Maven Pro SemiBold"/>
              <a:ea typeface="Maven Pro SemiBold"/>
              <a:cs typeface="Maven Pro SemiBold"/>
              <a:sym typeface="Maven Pro SemiBold"/>
            </a:endParaRPr>
          </a:p>
        </p:txBody>
      </p:sp>
      <p:sp>
        <p:nvSpPr>
          <p:cNvPr id="1456" name="Google Shape;1456;p140"/>
          <p:cNvSpPr/>
          <p:nvPr/>
        </p:nvSpPr>
        <p:spPr>
          <a:xfrm rot="763">
            <a:off x="2822994" y="12369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ls</a:t>
            </a:r>
            <a:endParaRPr sz="1200">
              <a:solidFill>
                <a:schemeClr val="lt1"/>
              </a:solidFill>
              <a:latin typeface="Courier New"/>
              <a:ea typeface="Courier New"/>
              <a:cs typeface="Courier New"/>
              <a:sym typeface="Courier New"/>
            </a:endParaRPr>
          </a:p>
        </p:txBody>
      </p:sp>
      <p:sp>
        <p:nvSpPr>
          <p:cNvPr id="1457" name="Google Shape;1457;p140"/>
          <p:cNvSpPr txBox="1"/>
          <p:nvPr/>
        </p:nvSpPr>
        <p:spPr>
          <a:xfrm>
            <a:off x="664200" y="1730322"/>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Créer un volume</a:t>
            </a:r>
            <a:endParaRPr>
              <a:solidFill>
                <a:srgbClr val="00084D"/>
              </a:solidFill>
              <a:latin typeface="Maven Pro SemiBold"/>
              <a:ea typeface="Maven Pro SemiBold"/>
              <a:cs typeface="Maven Pro SemiBold"/>
              <a:sym typeface="Maven Pro SemiBold"/>
            </a:endParaRPr>
          </a:p>
        </p:txBody>
      </p:sp>
      <p:sp>
        <p:nvSpPr>
          <p:cNvPr id="1458" name="Google Shape;1458;p140"/>
          <p:cNvSpPr/>
          <p:nvPr/>
        </p:nvSpPr>
        <p:spPr>
          <a:xfrm rot="763">
            <a:off x="2822994" y="170830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
        <p:nvSpPr>
          <p:cNvPr id="1459" name="Google Shape;1459;p140"/>
          <p:cNvSpPr txBox="1"/>
          <p:nvPr/>
        </p:nvSpPr>
        <p:spPr>
          <a:xfrm>
            <a:off x="664200" y="2253500"/>
            <a:ext cx="21588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Show details</a:t>
            </a:r>
            <a:endParaRPr>
              <a:solidFill>
                <a:srgbClr val="00084D"/>
              </a:solidFill>
              <a:latin typeface="Maven Pro SemiBold"/>
              <a:ea typeface="Maven Pro SemiBold"/>
              <a:cs typeface="Maven Pro SemiBold"/>
              <a:sym typeface="Maven Pro SemiBold"/>
            </a:endParaRPr>
          </a:p>
        </p:txBody>
      </p:sp>
      <p:sp>
        <p:nvSpPr>
          <p:cNvPr id="1460" name="Google Shape;1460;p140"/>
          <p:cNvSpPr/>
          <p:nvPr/>
        </p:nvSpPr>
        <p:spPr>
          <a:xfrm rot="763">
            <a:off x="2822994" y="22314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
        <p:nvSpPr>
          <p:cNvPr id="1461" name="Google Shape;1461;p140"/>
          <p:cNvSpPr txBox="1"/>
          <p:nvPr/>
        </p:nvSpPr>
        <p:spPr>
          <a:xfrm>
            <a:off x="664200" y="2799300"/>
            <a:ext cx="21588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Supprimer un volume</a:t>
            </a:r>
            <a:endParaRPr>
              <a:solidFill>
                <a:srgbClr val="00084D"/>
              </a:solidFill>
              <a:latin typeface="Maven Pro SemiBold"/>
              <a:ea typeface="Maven Pro SemiBold"/>
              <a:cs typeface="Maven Pro SemiBold"/>
              <a:sym typeface="Maven Pro SemiBold"/>
            </a:endParaRPr>
          </a:p>
        </p:txBody>
      </p:sp>
      <p:sp>
        <p:nvSpPr>
          <p:cNvPr id="1462" name="Google Shape;1462;p140"/>
          <p:cNvSpPr/>
          <p:nvPr/>
        </p:nvSpPr>
        <p:spPr>
          <a:xfrm rot="763">
            <a:off x="2822994" y="27772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rm VOLUME_NAME</a:t>
            </a:r>
            <a:endParaRPr sz="1200">
              <a:solidFill>
                <a:schemeClr val="lt1"/>
              </a:solidFill>
              <a:latin typeface="Courier New"/>
              <a:ea typeface="Courier New"/>
              <a:cs typeface="Courier New"/>
              <a:sym typeface="Courier New"/>
            </a:endParaRPr>
          </a:p>
        </p:txBody>
      </p:sp>
      <p:sp>
        <p:nvSpPr>
          <p:cNvPr id="1463" name="Google Shape;1463;p140"/>
          <p:cNvSpPr txBox="1"/>
          <p:nvPr/>
        </p:nvSpPr>
        <p:spPr>
          <a:xfrm>
            <a:off x="664200" y="3291525"/>
            <a:ext cx="2158800" cy="554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200">
                <a:solidFill>
                  <a:srgbClr val="00084D"/>
                </a:solidFill>
                <a:latin typeface="Maven Pro SemiBold"/>
                <a:ea typeface="Maven Pro SemiBold"/>
                <a:cs typeface="Maven Pro SemiBold"/>
                <a:sym typeface="Maven Pro SemiBold"/>
              </a:rPr>
              <a:t>Monter un volume dans un conteneur</a:t>
            </a:r>
            <a:endParaRPr sz="1200">
              <a:solidFill>
                <a:srgbClr val="00084D"/>
              </a:solidFill>
              <a:latin typeface="Maven Pro SemiBold"/>
              <a:ea typeface="Maven Pro SemiBold"/>
              <a:cs typeface="Maven Pro SemiBold"/>
              <a:sym typeface="Maven Pro SemiBold"/>
            </a:endParaRPr>
          </a:p>
        </p:txBody>
      </p:sp>
      <p:sp>
        <p:nvSpPr>
          <p:cNvPr id="1464" name="Google Shape;1464;p140"/>
          <p:cNvSpPr/>
          <p:nvPr/>
        </p:nvSpPr>
        <p:spPr>
          <a:xfrm rot="763">
            <a:off x="2822994" y="334570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100">
                <a:solidFill>
                  <a:srgbClr val="00FF00"/>
                </a:solidFill>
                <a:latin typeface="Courier New"/>
                <a:ea typeface="Courier New"/>
                <a:cs typeface="Courier New"/>
                <a:sym typeface="Courier New"/>
              </a:rPr>
              <a:t>$</a:t>
            </a:r>
            <a:r>
              <a:rPr lang="en-GB" sz="1100">
                <a:solidFill>
                  <a:schemeClr val="lt1"/>
                </a:solidFill>
                <a:latin typeface="Courier New"/>
                <a:ea typeface="Courier New"/>
                <a:cs typeface="Courier New"/>
                <a:sym typeface="Courier New"/>
              </a:rPr>
              <a:t> docker run -it -v VOLUME_NAME:/container/path --name CONTAINER_NAME IMAGE_NAME</a:t>
            </a:r>
            <a:endParaRPr sz="1100">
              <a:solidFill>
                <a:schemeClr val="lt1"/>
              </a:solidFill>
              <a:latin typeface="Courier New"/>
              <a:ea typeface="Courier New"/>
              <a:cs typeface="Courier New"/>
              <a:sym typeface="Courier New"/>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141"/>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470" name="Google Shape;1470;p1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471" name="Google Shape;1471;p14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472" name="Google Shape;1472;p14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Manage Volume</a:t>
            </a:r>
            <a:endParaRPr sz="2000">
              <a:solidFill>
                <a:srgbClr val="073763"/>
              </a:solidFill>
              <a:latin typeface="Maven Pro"/>
              <a:ea typeface="Maven Pro"/>
              <a:cs typeface="Maven Pro"/>
              <a:sym typeface="Maven Pro"/>
            </a:endParaRPr>
          </a:p>
        </p:txBody>
      </p:sp>
      <p:sp>
        <p:nvSpPr>
          <p:cNvPr id="1473" name="Google Shape;1473;p141"/>
          <p:cNvSpPr txBox="1"/>
          <p:nvPr/>
        </p:nvSpPr>
        <p:spPr>
          <a:xfrm>
            <a:off x="664200" y="1258997"/>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List volumes</a:t>
            </a:r>
            <a:endParaRPr>
              <a:solidFill>
                <a:srgbClr val="00084D"/>
              </a:solidFill>
              <a:latin typeface="Maven Pro SemiBold"/>
              <a:ea typeface="Maven Pro SemiBold"/>
              <a:cs typeface="Maven Pro SemiBold"/>
              <a:sym typeface="Maven Pro SemiBold"/>
            </a:endParaRPr>
          </a:p>
        </p:txBody>
      </p:sp>
      <p:sp>
        <p:nvSpPr>
          <p:cNvPr id="1474" name="Google Shape;1474;p141"/>
          <p:cNvSpPr/>
          <p:nvPr/>
        </p:nvSpPr>
        <p:spPr>
          <a:xfrm rot="763">
            <a:off x="2822994" y="12369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ls</a:t>
            </a:r>
            <a:endParaRPr sz="1200">
              <a:solidFill>
                <a:schemeClr val="lt1"/>
              </a:solidFill>
              <a:latin typeface="Courier New"/>
              <a:ea typeface="Courier New"/>
              <a:cs typeface="Courier New"/>
              <a:sym typeface="Courier New"/>
            </a:endParaRPr>
          </a:p>
        </p:txBody>
      </p:sp>
      <p:sp>
        <p:nvSpPr>
          <p:cNvPr id="1475" name="Google Shape;1475;p141"/>
          <p:cNvSpPr txBox="1"/>
          <p:nvPr/>
        </p:nvSpPr>
        <p:spPr>
          <a:xfrm>
            <a:off x="664200" y="1730322"/>
            <a:ext cx="7815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Créer un volume</a:t>
            </a:r>
            <a:endParaRPr>
              <a:solidFill>
                <a:srgbClr val="00084D"/>
              </a:solidFill>
              <a:latin typeface="Maven Pro SemiBold"/>
              <a:ea typeface="Maven Pro SemiBold"/>
              <a:cs typeface="Maven Pro SemiBold"/>
              <a:sym typeface="Maven Pro SemiBold"/>
            </a:endParaRPr>
          </a:p>
        </p:txBody>
      </p:sp>
      <p:sp>
        <p:nvSpPr>
          <p:cNvPr id="1476" name="Google Shape;1476;p141"/>
          <p:cNvSpPr/>
          <p:nvPr/>
        </p:nvSpPr>
        <p:spPr>
          <a:xfrm rot="763">
            <a:off x="2822994" y="170830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
        <p:nvSpPr>
          <p:cNvPr id="1477" name="Google Shape;1477;p141"/>
          <p:cNvSpPr txBox="1"/>
          <p:nvPr/>
        </p:nvSpPr>
        <p:spPr>
          <a:xfrm>
            <a:off x="664200" y="2253500"/>
            <a:ext cx="21588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Show details</a:t>
            </a:r>
            <a:endParaRPr>
              <a:solidFill>
                <a:srgbClr val="00084D"/>
              </a:solidFill>
              <a:latin typeface="Maven Pro SemiBold"/>
              <a:ea typeface="Maven Pro SemiBold"/>
              <a:cs typeface="Maven Pro SemiBold"/>
              <a:sym typeface="Maven Pro SemiBold"/>
            </a:endParaRPr>
          </a:p>
        </p:txBody>
      </p:sp>
      <p:sp>
        <p:nvSpPr>
          <p:cNvPr id="1478" name="Google Shape;1478;p141"/>
          <p:cNvSpPr/>
          <p:nvPr/>
        </p:nvSpPr>
        <p:spPr>
          <a:xfrm rot="763">
            <a:off x="2822994" y="22314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create VOLUME_NAME</a:t>
            </a:r>
            <a:endParaRPr sz="1200">
              <a:solidFill>
                <a:schemeClr val="lt1"/>
              </a:solidFill>
              <a:latin typeface="Courier New"/>
              <a:ea typeface="Courier New"/>
              <a:cs typeface="Courier New"/>
              <a:sym typeface="Courier New"/>
            </a:endParaRPr>
          </a:p>
        </p:txBody>
      </p:sp>
      <p:sp>
        <p:nvSpPr>
          <p:cNvPr id="1479" name="Google Shape;1479;p141"/>
          <p:cNvSpPr txBox="1"/>
          <p:nvPr/>
        </p:nvSpPr>
        <p:spPr>
          <a:xfrm>
            <a:off x="664200" y="2799300"/>
            <a:ext cx="21588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a:solidFill>
                  <a:srgbClr val="00084D"/>
                </a:solidFill>
                <a:latin typeface="Maven Pro SemiBold"/>
                <a:ea typeface="Maven Pro SemiBold"/>
                <a:cs typeface="Maven Pro SemiBold"/>
                <a:sym typeface="Maven Pro SemiBold"/>
              </a:rPr>
              <a:t>Supprimer un volume</a:t>
            </a:r>
            <a:endParaRPr>
              <a:solidFill>
                <a:srgbClr val="00084D"/>
              </a:solidFill>
              <a:latin typeface="Maven Pro SemiBold"/>
              <a:ea typeface="Maven Pro SemiBold"/>
              <a:cs typeface="Maven Pro SemiBold"/>
              <a:sym typeface="Maven Pro SemiBold"/>
            </a:endParaRPr>
          </a:p>
        </p:txBody>
      </p:sp>
      <p:sp>
        <p:nvSpPr>
          <p:cNvPr id="1480" name="Google Shape;1480;p141"/>
          <p:cNvSpPr/>
          <p:nvPr/>
        </p:nvSpPr>
        <p:spPr>
          <a:xfrm rot="763">
            <a:off x="2822994" y="27772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volume rm VOLUME_NAME</a:t>
            </a:r>
            <a:endParaRPr sz="1200">
              <a:solidFill>
                <a:schemeClr val="lt1"/>
              </a:solidFill>
              <a:latin typeface="Courier New"/>
              <a:ea typeface="Courier New"/>
              <a:cs typeface="Courier New"/>
              <a:sym typeface="Courier New"/>
            </a:endParaRPr>
          </a:p>
        </p:txBody>
      </p:sp>
      <p:sp>
        <p:nvSpPr>
          <p:cNvPr id="1481" name="Google Shape;1481;p141"/>
          <p:cNvSpPr txBox="1"/>
          <p:nvPr/>
        </p:nvSpPr>
        <p:spPr>
          <a:xfrm>
            <a:off x="664200" y="3291525"/>
            <a:ext cx="2158800" cy="554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200">
                <a:solidFill>
                  <a:srgbClr val="00084D"/>
                </a:solidFill>
                <a:latin typeface="Maven Pro SemiBold"/>
                <a:ea typeface="Maven Pro SemiBold"/>
                <a:cs typeface="Maven Pro SemiBold"/>
                <a:sym typeface="Maven Pro SemiBold"/>
              </a:rPr>
              <a:t>Monter un volume dans un conteneur</a:t>
            </a:r>
            <a:endParaRPr sz="1200">
              <a:solidFill>
                <a:srgbClr val="00084D"/>
              </a:solidFill>
              <a:latin typeface="Maven Pro SemiBold"/>
              <a:ea typeface="Maven Pro SemiBold"/>
              <a:cs typeface="Maven Pro SemiBold"/>
              <a:sym typeface="Maven Pro SemiBold"/>
            </a:endParaRPr>
          </a:p>
        </p:txBody>
      </p:sp>
      <p:sp>
        <p:nvSpPr>
          <p:cNvPr id="1482" name="Google Shape;1482;p141"/>
          <p:cNvSpPr/>
          <p:nvPr/>
        </p:nvSpPr>
        <p:spPr>
          <a:xfrm rot="763">
            <a:off x="2822994" y="3345700"/>
            <a:ext cx="5403900" cy="3924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100">
                <a:solidFill>
                  <a:srgbClr val="00FF00"/>
                </a:solidFill>
                <a:latin typeface="Courier New"/>
                <a:ea typeface="Courier New"/>
                <a:cs typeface="Courier New"/>
                <a:sym typeface="Courier New"/>
              </a:rPr>
              <a:t>$</a:t>
            </a:r>
            <a:r>
              <a:rPr lang="en-GB" sz="1100">
                <a:solidFill>
                  <a:schemeClr val="lt1"/>
                </a:solidFill>
                <a:latin typeface="Courier New"/>
                <a:ea typeface="Courier New"/>
                <a:cs typeface="Courier New"/>
                <a:sym typeface="Courier New"/>
              </a:rPr>
              <a:t> docker run -it -v VOLUME_NAME:/container/path --name CONTAINER_NAME IMAGE_NAME</a:t>
            </a:r>
            <a:endParaRPr sz="1100">
              <a:solidFill>
                <a:schemeClr val="lt1"/>
              </a:solidFill>
              <a:latin typeface="Courier New"/>
              <a:ea typeface="Courier New"/>
              <a:cs typeface="Courier New"/>
              <a:sym typeface="Courier New"/>
            </a:endParaRPr>
          </a:p>
        </p:txBody>
      </p:sp>
      <p:sp>
        <p:nvSpPr>
          <p:cNvPr id="1483" name="Google Shape;1483;p141"/>
          <p:cNvSpPr txBox="1"/>
          <p:nvPr/>
        </p:nvSpPr>
        <p:spPr>
          <a:xfrm>
            <a:off x="664200" y="3884300"/>
            <a:ext cx="21588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GB" sz="1200">
                <a:solidFill>
                  <a:srgbClr val="00084D"/>
                </a:solidFill>
                <a:latin typeface="Maven Pro SemiBold"/>
                <a:ea typeface="Maven Pro SemiBold"/>
                <a:cs typeface="Maven Pro SemiBold"/>
                <a:sym typeface="Maven Pro SemiBold"/>
              </a:rPr>
              <a:t>Vérifier l'utilisation des volumes</a:t>
            </a:r>
            <a:endParaRPr sz="1200">
              <a:solidFill>
                <a:srgbClr val="00084D"/>
              </a:solidFill>
              <a:latin typeface="Maven Pro SemiBold"/>
              <a:ea typeface="Maven Pro SemiBold"/>
              <a:cs typeface="Maven Pro SemiBold"/>
              <a:sym typeface="Maven Pro SemiBold"/>
            </a:endParaRPr>
          </a:p>
        </p:txBody>
      </p:sp>
      <p:sp>
        <p:nvSpPr>
          <p:cNvPr id="1484" name="Google Shape;1484;p141"/>
          <p:cNvSpPr/>
          <p:nvPr/>
        </p:nvSpPr>
        <p:spPr>
          <a:xfrm rot="763">
            <a:off x="2822994" y="3938475"/>
            <a:ext cx="5403900" cy="392400"/>
          </a:xfrm>
          <a:prstGeom prst="rect">
            <a:avLst/>
          </a:prstGeom>
          <a:solidFill>
            <a:srgbClr val="741B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100">
                <a:solidFill>
                  <a:srgbClr val="00FF00"/>
                </a:solidFill>
                <a:latin typeface="Courier New"/>
                <a:ea typeface="Courier New"/>
                <a:cs typeface="Courier New"/>
                <a:sym typeface="Courier New"/>
              </a:rPr>
              <a:t>$</a:t>
            </a:r>
            <a:r>
              <a:rPr lang="en-GB" sz="1100">
                <a:solidFill>
                  <a:schemeClr val="lt1"/>
                </a:solidFill>
                <a:latin typeface="Courier New"/>
                <a:ea typeface="Courier New"/>
                <a:cs typeface="Courier New"/>
                <a:sym typeface="Courier New"/>
              </a:rPr>
              <a:t> docker system df</a:t>
            </a:r>
            <a:endParaRPr sz="1100">
              <a:solidFill>
                <a:schemeClr val="lt1"/>
              </a:solidFill>
              <a:latin typeface="Courier New"/>
              <a:ea typeface="Courier New"/>
              <a:cs typeface="Courier New"/>
              <a:sym typeface="Courier New"/>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88" name="Shape 1488"/>
        <p:cNvGrpSpPr/>
        <p:nvPr/>
      </p:nvGrpSpPr>
      <p:grpSpPr>
        <a:xfrm>
          <a:off x="0" y="0"/>
          <a:ext cx="0" cy="0"/>
          <a:chOff x="0" y="0"/>
          <a:chExt cx="0" cy="0"/>
        </a:xfrm>
      </p:grpSpPr>
      <p:sp>
        <p:nvSpPr>
          <p:cNvPr id="1489" name="Google Shape;1489;p142"/>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490" name="Google Shape;1490;p1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491" name="Google Shape;1491;p14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492" name="Google Shape;1492;p14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Manage Volume</a:t>
            </a:r>
            <a:endParaRPr sz="2000">
              <a:solidFill>
                <a:srgbClr val="073763"/>
              </a:solidFill>
              <a:latin typeface="Maven Pro"/>
              <a:ea typeface="Maven Pro"/>
              <a:cs typeface="Maven Pro"/>
              <a:sym typeface="Maven Pro"/>
            </a:endParaRPr>
          </a:p>
        </p:txBody>
      </p:sp>
      <p:sp>
        <p:nvSpPr>
          <p:cNvPr id="1493" name="Google Shape;1493;p142"/>
          <p:cNvSpPr/>
          <p:nvPr/>
        </p:nvSpPr>
        <p:spPr>
          <a:xfrm rot="806">
            <a:off x="548400" y="1236777"/>
            <a:ext cx="7678500" cy="2252400"/>
          </a:xfrm>
          <a:prstGeom prst="rect">
            <a:avLst/>
          </a:prstGeom>
          <a:solidFill>
            <a:srgbClr val="741B47"/>
          </a:solidFill>
          <a:ln>
            <a:noFill/>
          </a:ln>
        </p:spPr>
        <p:txBody>
          <a:bodyPr anchorCtr="0" anchor="t" bIns="91425" lIns="91425" spcFirstLastPara="1" rIns="91425" wrap="square" tIns="91425">
            <a:noAutofit/>
          </a:bodyPr>
          <a:lstStyle/>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Lister les volumes montés dans un conteneur :</a:t>
            </a:r>
            <a:endParaRPr sz="1000">
              <a:solidFill>
                <a:srgbClr val="00FF00"/>
              </a:solidFill>
              <a:latin typeface="Courier New"/>
              <a:ea typeface="Courier New"/>
              <a:cs typeface="Courier New"/>
              <a:sym typeface="Courier New"/>
            </a:endParaRPr>
          </a:p>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inspect --format '{{json .Mounts}}' CONTAINER_ID_OR_NAME</a:t>
            </a:r>
            <a:endParaRPr sz="1000">
              <a:solidFill>
                <a:schemeClr val="lt1"/>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rPr lang="en-GB" sz="1000">
                <a:solidFill>
                  <a:srgbClr val="00FF00"/>
                </a:solidFill>
                <a:latin typeface="Courier New"/>
                <a:ea typeface="Courier New"/>
                <a:cs typeface="Courier New"/>
                <a:sym typeface="Courier New"/>
              </a:rPr>
              <a:t># Utiliser un volume temporaire (tmpfs)</a:t>
            </a:r>
            <a:endParaRPr sz="1000">
              <a:solidFill>
                <a:schemeClr val="lt1"/>
              </a:solidFill>
              <a:latin typeface="Courier New"/>
              <a:ea typeface="Courier New"/>
              <a:cs typeface="Courier New"/>
              <a:sym typeface="Courier New"/>
            </a:endParaRPr>
          </a:p>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a:t>
            </a:r>
            <a:r>
              <a:rPr lang="en-GB" sz="1000">
                <a:solidFill>
                  <a:schemeClr val="lt1"/>
                </a:solidFill>
                <a:latin typeface="Courier New"/>
                <a:ea typeface="Courier New"/>
                <a:cs typeface="Courier New"/>
                <a:sym typeface="Courier New"/>
              </a:rPr>
              <a:t> docker run -it --tmpfs /container/path:rw,size=100m --name my_container my_image</a:t>
            </a:r>
            <a:endParaRPr sz="1000">
              <a:solidFill>
                <a:schemeClr val="lt1"/>
              </a:solidFill>
              <a:latin typeface="Courier New"/>
              <a:ea typeface="Courier New"/>
              <a:cs typeface="Courier New"/>
              <a:sym typeface="Courier New"/>
            </a:endParaRPr>
          </a:p>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Sauvegarde d'un volume :</a:t>
            </a:r>
            <a:endParaRPr sz="1000">
              <a:solidFill>
                <a:schemeClr val="lt1"/>
              </a:solidFill>
              <a:latin typeface="Courier New"/>
              <a:ea typeface="Courier New"/>
              <a:cs typeface="Courier New"/>
              <a:sym typeface="Courier New"/>
            </a:endParaRPr>
          </a:p>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a:t>
            </a:r>
            <a:r>
              <a:rPr lang="en-GB" sz="1000">
                <a:solidFill>
                  <a:schemeClr val="lt1"/>
                </a:solidFill>
                <a:latin typeface="Courier New"/>
                <a:ea typeface="Courier New"/>
                <a:cs typeface="Courier New"/>
                <a:sym typeface="Courier New"/>
              </a:rPr>
              <a:t>docker run --rm -v VOLUME_NAME:/volume -v /host/path:/backup ubuntu tar czf /backup/backup.tar.gz -C /volume . </a:t>
            </a:r>
            <a:endParaRPr sz="1000">
              <a:solidFill>
                <a:schemeClr val="lt1"/>
              </a:solidFill>
              <a:latin typeface="Courier New"/>
              <a:ea typeface="Courier New"/>
              <a:cs typeface="Courier New"/>
              <a:sym typeface="Courier New"/>
            </a:endParaRPr>
          </a:p>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Restauration d'un volume :</a:t>
            </a:r>
            <a:endParaRPr sz="1000">
              <a:solidFill>
                <a:schemeClr val="lt1"/>
              </a:solidFill>
              <a:latin typeface="Courier New"/>
              <a:ea typeface="Courier New"/>
              <a:cs typeface="Courier New"/>
              <a:sym typeface="Courier New"/>
            </a:endParaRPr>
          </a:p>
          <a:p>
            <a:pPr indent="457200" lvl="0" marL="0" rtl="0" algn="l">
              <a:spcBef>
                <a:spcPts val="0"/>
              </a:spcBef>
              <a:spcAft>
                <a:spcPts val="0"/>
              </a:spcAft>
              <a:buNone/>
            </a:pPr>
            <a:r>
              <a:rPr lang="en-GB" sz="1000">
                <a:solidFill>
                  <a:srgbClr val="00FF00"/>
                </a:solidFill>
                <a:latin typeface="Courier New"/>
                <a:ea typeface="Courier New"/>
                <a:cs typeface="Courier New"/>
                <a:sym typeface="Courier New"/>
              </a:rPr>
              <a:t>$ </a:t>
            </a:r>
            <a:r>
              <a:rPr lang="en-GB" sz="1000">
                <a:solidFill>
                  <a:schemeClr val="lt1"/>
                </a:solidFill>
                <a:latin typeface="Courier New"/>
                <a:ea typeface="Courier New"/>
                <a:cs typeface="Courier New"/>
                <a:sym typeface="Courier New"/>
              </a:rPr>
              <a:t>docker run --rm -v VOLUME_NAME:/volume -v /host/path:/backup ubuntu bash -c "tar xzf /backup/backup.tar.gz -C /volume"</a:t>
            </a:r>
            <a:endParaRPr sz="1000">
              <a:solidFill>
                <a:schemeClr val="lt1"/>
              </a:solidFill>
              <a:latin typeface="Courier New"/>
              <a:ea typeface="Courier New"/>
              <a:cs typeface="Courier New"/>
              <a:sym typeface="Courier New"/>
            </a:endParaRPr>
          </a:p>
          <a:p>
            <a:pPr indent="457200" lvl="0" marL="0" rtl="0" algn="l">
              <a:spcBef>
                <a:spcPts val="0"/>
              </a:spcBef>
              <a:spcAft>
                <a:spcPts val="0"/>
              </a:spcAft>
              <a:buClr>
                <a:schemeClr val="dk1"/>
              </a:buClr>
              <a:buSzPts val="1100"/>
              <a:buFont typeface="Arial"/>
              <a:buNone/>
            </a:pPr>
            <a:r>
              <a:t/>
            </a:r>
            <a:endParaRPr sz="1000">
              <a:solidFill>
                <a:schemeClr val="lt1"/>
              </a:solidFill>
              <a:latin typeface="Courier New"/>
              <a:ea typeface="Courier New"/>
              <a:cs typeface="Courier New"/>
              <a:sym typeface="Courier New"/>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143"/>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499" name="Google Shape;1499;p1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00" name="Google Shape;1500;p14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501" name="Google Shape;1501;p14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Volume Types</a:t>
            </a:r>
            <a:endParaRPr sz="2000">
              <a:solidFill>
                <a:srgbClr val="073763"/>
              </a:solidFill>
              <a:latin typeface="Maven Pro"/>
              <a:ea typeface="Maven Pro"/>
              <a:cs typeface="Maven Pro"/>
              <a:sym typeface="Maven Pro"/>
            </a:endParaRPr>
          </a:p>
        </p:txBody>
      </p:sp>
      <p:pic>
        <p:nvPicPr>
          <p:cNvPr id="1502" name="Google Shape;1502;p143"/>
          <p:cNvPicPr preferRelativeResize="0"/>
          <p:nvPr/>
        </p:nvPicPr>
        <p:blipFill>
          <a:blip r:embed="rId4">
            <a:alphaModFix/>
          </a:blip>
          <a:stretch>
            <a:fillRect/>
          </a:stretch>
        </p:blipFill>
        <p:spPr>
          <a:xfrm>
            <a:off x="1661075" y="1232300"/>
            <a:ext cx="5821850" cy="367352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144"/>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508" name="Google Shape;1508;p1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09" name="Google Shape;1509;p14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510" name="Google Shape;1510;p14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 - Volume Types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Named Volumes</a:t>
            </a:r>
            <a:endParaRPr sz="2000">
              <a:solidFill>
                <a:srgbClr val="073763"/>
              </a:solidFill>
              <a:latin typeface="Maven Pro"/>
              <a:ea typeface="Maven Pro"/>
              <a:cs typeface="Maven Pro"/>
              <a:sym typeface="Maven Pro"/>
            </a:endParaRPr>
          </a:p>
        </p:txBody>
      </p:sp>
      <p:sp>
        <p:nvSpPr>
          <p:cNvPr id="1511" name="Google Shape;1511;p144"/>
          <p:cNvSpPr txBox="1"/>
          <p:nvPr/>
        </p:nvSpPr>
        <p:spPr>
          <a:xfrm>
            <a:off x="664200" y="1548150"/>
            <a:ext cx="4318500" cy="2847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n-GB" sz="1100">
                <a:solidFill>
                  <a:srgbClr val="00084D"/>
                </a:solidFill>
                <a:latin typeface="Maven Pro Medium"/>
                <a:ea typeface="Maven Pro Medium"/>
                <a:cs typeface="Maven Pro Medium"/>
                <a:sym typeface="Maven Pro Medium"/>
              </a:rPr>
              <a:t>Stockage persistant géré par Docker : </a:t>
            </a:r>
            <a:r>
              <a:rPr lang="en-GB" sz="1100">
                <a:solidFill>
                  <a:srgbClr val="00084D"/>
                </a:solidFill>
                <a:latin typeface="Maven Pro"/>
                <a:ea typeface="Maven Pro"/>
                <a:cs typeface="Maven Pro"/>
                <a:sym typeface="Maven Pro"/>
              </a:rPr>
              <a:t>Les volumes nommés sont gérés par Docker et sont stockés dans un répertoire spécifique de l'hôte, généralement sous </a:t>
            </a:r>
            <a:r>
              <a:rPr i="1" lang="en-GB" sz="1100">
                <a:solidFill>
                  <a:srgbClr val="00084D"/>
                </a:solidFill>
                <a:latin typeface="Courier New"/>
                <a:ea typeface="Courier New"/>
                <a:cs typeface="Courier New"/>
                <a:sym typeface="Courier New"/>
              </a:rPr>
              <a:t>/var/lib/docker/volumes/</a:t>
            </a:r>
            <a:r>
              <a:rPr lang="en-GB" sz="1100">
                <a:solidFill>
                  <a:srgbClr val="00084D"/>
                </a:solidFill>
                <a:latin typeface="Maven Pro"/>
                <a:ea typeface="Maven Pro"/>
                <a:cs typeface="Maven Pro"/>
                <a:sym typeface="Maven Pro"/>
              </a:rPr>
              <a:t>.</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None/>
            </a:pPr>
            <a:r>
              <a:rPr lang="en-GB" sz="1100">
                <a:solidFill>
                  <a:srgbClr val="00084D"/>
                </a:solidFill>
                <a:latin typeface="Maven Pro Medium"/>
                <a:ea typeface="Maven Pro Medium"/>
                <a:cs typeface="Maven Pro Medium"/>
                <a:sym typeface="Maven Pro Medium"/>
              </a:rPr>
              <a:t>Persistants :</a:t>
            </a:r>
            <a:r>
              <a:rPr lang="en-GB" sz="1100">
                <a:solidFill>
                  <a:srgbClr val="00084D"/>
                </a:solidFill>
                <a:latin typeface="Maven Pro"/>
                <a:ea typeface="Maven Pro"/>
                <a:cs typeface="Maven Pro"/>
                <a:sym typeface="Maven Pro"/>
              </a:rPr>
              <a:t> Contrairement aux tmpfs ou aux bind mounts, les volumes nommés sont persistants. Les données sont conservées même si le conteneur est arrêté ou supprimé.</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None/>
            </a:pPr>
            <a:r>
              <a:rPr lang="en-GB" sz="1100">
                <a:solidFill>
                  <a:srgbClr val="00084D"/>
                </a:solidFill>
                <a:latin typeface="Maven Pro Medium"/>
                <a:ea typeface="Maven Pro Medium"/>
                <a:cs typeface="Maven Pro Medium"/>
                <a:sym typeface="Maven Pro Medium"/>
              </a:rPr>
              <a:t>Isolation des données :</a:t>
            </a:r>
            <a:r>
              <a:rPr lang="en-GB" sz="1100">
                <a:solidFill>
                  <a:srgbClr val="00084D"/>
                </a:solidFill>
                <a:latin typeface="Maven Pro"/>
                <a:ea typeface="Maven Pro"/>
                <a:cs typeface="Maven Pro"/>
                <a:sym typeface="Maven Pro"/>
              </a:rPr>
              <a:t> Les volumes nommés sont isolés du système de fichiers de l'hôte. Docker prend en charge la gestion de l'emplacement de stockage et de la gestion des données.</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1200"/>
              </a:spcAft>
              <a:buNone/>
            </a:pPr>
            <a:r>
              <a:rPr lang="en-GB" sz="1100">
                <a:solidFill>
                  <a:srgbClr val="00084D"/>
                </a:solidFill>
                <a:latin typeface="Maven Pro Medium"/>
                <a:ea typeface="Maven Pro Medium"/>
                <a:cs typeface="Maven Pro Medium"/>
                <a:sym typeface="Maven Pro Medium"/>
              </a:rPr>
              <a:t>Facilité de gestion :</a:t>
            </a:r>
            <a:r>
              <a:rPr lang="en-GB" sz="1100">
                <a:solidFill>
                  <a:srgbClr val="00084D"/>
                </a:solidFill>
                <a:latin typeface="Maven Pro"/>
                <a:ea typeface="Maven Pro"/>
                <a:cs typeface="Maven Pro"/>
                <a:sym typeface="Maven Pro"/>
              </a:rPr>
              <a:t> Les volumes sont faciles à créer, gérer et supprimer via Docker CLI, sans que vous ayez à vous occuper du chemin d'accès sur l'hôte.</a:t>
            </a:r>
            <a:endParaRPr sz="1100">
              <a:solidFill>
                <a:srgbClr val="00084D"/>
              </a:solidFill>
              <a:latin typeface="Maven Pro"/>
              <a:ea typeface="Maven Pro"/>
              <a:cs typeface="Maven Pro"/>
              <a:sym typeface="Maven Pro"/>
            </a:endParaRPr>
          </a:p>
        </p:txBody>
      </p:sp>
      <p:pic>
        <p:nvPicPr>
          <p:cNvPr id="1512" name="Google Shape;1512;p144"/>
          <p:cNvPicPr preferRelativeResize="0"/>
          <p:nvPr/>
        </p:nvPicPr>
        <p:blipFill>
          <a:blip r:embed="rId4">
            <a:alphaModFix/>
          </a:blip>
          <a:stretch>
            <a:fillRect/>
          </a:stretch>
        </p:blipFill>
        <p:spPr>
          <a:xfrm>
            <a:off x="4931575" y="1548150"/>
            <a:ext cx="4212424" cy="2658000"/>
          </a:xfrm>
          <a:prstGeom prst="rect">
            <a:avLst/>
          </a:prstGeom>
          <a:noFill/>
          <a:ln>
            <a:noFill/>
          </a:ln>
        </p:spPr>
      </p:pic>
      <p:sp>
        <p:nvSpPr>
          <p:cNvPr id="1513" name="Google Shape;1513;p144"/>
          <p:cNvSpPr/>
          <p:nvPr/>
        </p:nvSpPr>
        <p:spPr>
          <a:xfrm rot="754">
            <a:off x="1190675" y="4396498"/>
            <a:ext cx="6843000" cy="606300"/>
          </a:xfrm>
          <a:prstGeom prst="rect">
            <a:avLst/>
          </a:prstGeom>
          <a:solidFill>
            <a:srgbClr val="741B47"/>
          </a:solidFill>
          <a:ln cap="rnd"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a:t>
            </a:r>
            <a:r>
              <a:rPr lang="en-GB" sz="1200">
                <a:solidFill>
                  <a:schemeClr val="lt1"/>
                </a:solidFill>
                <a:latin typeface="Courier New"/>
                <a:ea typeface="Courier New"/>
                <a:cs typeface="Courier New"/>
                <a:sym typeface="Courier New"/>
              </a:rPr>
              <a:t>docker volume create VOLUME_NAME</a:t>
            </a:r>
            <a:endParaRPr sz="1200">
              <a:solidFill>
                <a:schemeClr val="lt1"/>
              </a:solidFill>
              <a:latin typeface="Courier New"/>
              <a:ea typeface="Courier New"/>
              <a:cs typeface="Courier New"/>
              <a:sym typeface="Courier New"/>
            </a:endParaRPr>
          </a:p>
          <a:p>
            <a:pPr indent="0" lvl="0" marL="0" rtl="0" algn="l">
              <a:spcBef>
                <a:spcPts val="0"/>
              </a:spcBef>
              <a:spcAft>
                <a:spcPts val="0"/>
              </a:spcAft>
              <a:buNone/>
            </a:pPr>
            <a:r>
              <a:rPr lang="en-GB" sz="1200">
                <a:solidFill>
                  <a:srgbClr val="00FF00"/>
                </a:solidFill>
                <a:latin typeface="Courier New"/>
                <a:ea typeface="Courier New"/>
                <a:cs typeface="Courier New"/>
                <a:sym typeface="Courier New"/>
              </a:rPr>
              <a:t>$ </a:t>
            </a:r>
            <a:r>
              <a:rPr lang="en-GB" sz="1200">
                <a:solidFill>
                  <a:schemeClr val="lt1"/>
                </a:solidFill>
                <a:latin typeface="Courier New"/>
                <a:ea typeface="Courier New"/>
                <a:cs typeface="Courier New"/>
                <a:sym typeface="Courier New"/>
              </a:rPr>
              <a:t>docker run -it -v VOLUME_NAME:/container/path IMAGE_NAME</a:t>
            </a:r>
            <a:endParaRPr sz="1200">
              <a:solidFill>
                <a:schemeClr val="lt1"/>
              </a:solidFill>
              <a:latin typeface="Courier New"/>
              <a:ea typeface="Courier New"/>
              <a:cs typeface="Courier New"/>
              <a:sym typeface="Courier New"/>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145"/>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519" name="Google Shape;1519;p1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20" name="Google Shape;1520;p14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521" name="Google Shape;1521;p14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Volumes - Volume Types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Bind Mounts</a:t>
            </a:r>
            <a:endParaRPr sz="2000">
              <a:solidFill>
                <a:srgbClr val="073763"/>
              </a:solidFill>
              <a:latin typeface="Maven Pro"/>
              <a:ea typeface="Maven Pro"/>
              <a:cs typeface="Maven Pro"/>
              <a:sym typeface="Maven Pro"/>
            </a:endParaRPr>
          </a:p>
        </p:txBody>
      </p:sp>
      <p:sp>
        <p:nvSpPr>
          <p:cNvPr id="1522" name="Google Shape;1522;p145"/>
          <p:cNvSpPr txBox="1"/>
          <p:nvPr/>
        </p:nvSpPr>
        <p:spPr>
          <a:xfrm>
            <a:off x="664200" y="1548150"/>
            <a:ext cx="4318500" cy="2847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GB" sz="1100">
                <a:solidFill>
                  <a:srgbClr val="00084D"/>
                </a:solidFill>
                <a:latin typeface="Maven Pro SemiBold"/>
                <a:ea typeface="Maven Pro SemiBold"/>
                <a:cs typeface="Maven Pro SemiBold"/>
                <a:sym typeface="Maven Pro SemiBold"/>
              </a:rPr>
              <a:t>Montage direct d'un répertoire ou fichier de l'hôte :</a:t>
            </a:r>
            <a:r>
              <a:rPr lang="en-GB" sz="1100">
                <a:solidFill>
                  <a:schemeClr val="dk1"/>
                </a:solidFill>
              </a:rPr>
              <a:t> </a:t>
            </a:r>
            <a:r>
              <a:rPr lang="en-GB" sz="1100">
                <a:solidFill>
                  <a:srgbClr val="00084D"/>
                </a:solidFill>
                <a:latin typeface="Maven Pro"/>
                <a:ea typeface="Maven Pro"/>
                <a:cs typeface="Maven Pro"/>
                <a:sym typeface="Maven Pro"/>
              </a:rPr>
              <a:t>Avec un bind mount, vous liez directement un répertoire ou un fichier de l'hôte à un répertoire du conteneur.</a:t>
            </a:r>
            <a:endParaRPr sz="1100">
              <a:solidFill>
                <a:srgbClr val="00084D"/>
              </a:solidFill>
              <a:latin typeface="Maven Pro"/>
              <a:ea typeface="Maven Pro"/>
              <a:cs typeface="Maven Pro"/>
              <a:sym typeface="Maven Pro"/>
            </a:endParaRPr>
          </a:p>
          <a:p>
            <a:pPr indent="0" lvl="0" marL="0" rtl="0" algn="just">
              <a:spcBef>
                <a:spcPts val="1200"/>
              </a:spcBef>
              <a:spcAft>
                <a:spcPts val="0"/>
              </a:spcAft>
              <a:buClr>
                <a:schemeClr val="dk1"/>
              </a:buClr>
              <a:buSzPts val="1100"/>
              <a:buFont typeface="Arial"/>
              <a:buNone/>
            </a:pPr>
            <a:r>
              <a:rPr lang="en-GB" sz="1100">
                <a:solidFill>
                  <a:srgbClr val="00084D"/>
                </a:solidFill>
                <a:latin typeface="Maven Pro SemiBold"/>
                <a:ea typeface="Maven Pro SemiBold"/>
                <a:cs typeface="Maven Pro SemiBold"/>
                <a:sym typeface="Maven Pro SemiBold"/>
              </a:rPr>
              <a:t>Pas de gestion par Docker :</a:t>
            </a:r>
            <a:r>
              <a:rPr lang="en-GB" sz="1100">
                <a:solidFill>
                  <a:schemeClr val="dk1"/>
                </a:solidFill>
              </a:rPr>
              <a:t> </a:t>
            </a:r>
            <a:r>
              <a:rPr lang="en-GB" sz="1100">
                <a:solidFill>
                  <a:srgbClr val="00084D"/>
                </a:solidFill>
                <a:latin typeface="Maven Pro"/>
                <a:ea typeface="Maven Pro"/>
                <a:cs typeface="Maven Pro"/>
                <a:sym typeface="Maven Pro"/>
              </a:rPr>
              <a:t>Contrairement aux volumes Docker, les bind mounts ne sont pas gérés par Docker. Vous contrôlez directement le répertoire de l'hôte et son contenu.</a:t>
            </a:r>
            <a:endParaRPr sz="1100">
              <a:solidFill>
                <a:srgbClr val="00084D"/>
              </a:solidFill>
              <a:latin typeface="Maven Pro"/>
              <a:ea typeface="Maven Pro"/>
              <a:cs typeface="Maven Pro"/>
              <a:sym typeface="Maven Pro"/>
            </a:endParaRPr>
          </a:p>
          <a:p>
            <a:pPr indent="0" lvl="0" marL="0" rtl="0" algn="just">
              <a:spcBef>
                <a:spcPts val="1200"/>
              </a:spcBef>
              <a:spcAft>
                <a:spcPts val="0"/>
              </a:spcAft>
              <a:buClr>
                <a:schemeClr val="dk1"/>
              </a:buClr>
              <a:buSzPts val="1100"/>
              <a:buFont typeface="Arial"/>
              <a:buNone/>
            </a:pPr>
            <a:r>
              <a:rPr lang="en-GB" sz="1100">
                <a:solidFill>
                  <a:srgbClr val="00084D"/>
                </a:solidFill>
                <a:latin typeface="Maven Pro SemiBold"/>
                <a:ea typeface="Maven Pro SemiBold"/>
                <a:cs typeface="Maven Pro SemiBold"/>
                <a:sym typeface="Maven Pro SemiBold"/>
              </a:rPr>
              <a:t>Données accessibles depuis l'hôte : </a:t>
            </a:r>
            <a:r>
              <a:rPr lang="en-GB" sz="1100">
                <a:solidFill>
                  <a:srgbClr val="00084D"/>
                </a:solidFill>
                <a:latin typeface="Maven Pro"/>
                <a:ea typeface="Maven Pro"/>
                <a:cs typeface="Maven Pro"/>
                <a:sym typeface="Maven Pro"/>
              </a:rPr>
              <a:t>Tout fichier créé dans le répertoire monté du conteneur est immédiatement disponible sur l'hôte, et vice versa. Cela permet une interaction directe entre l'hôte et le conteneur.</a:t>
            </a:r>
            <a:endParaRPr sz="1100">
              <a:solidFill>
                <a:srgbClr val="00084D"/>
              </a:solidFill>
              <a:latin typeface="Maven Pro"/>
              <a:ea typeface="Maven Pro"/>
              <a:cs typeface="Maven Pro"/>
              <a:sym typeface="Maven Pro"/>
            </a:endParaRPr>
          </a:p>
          <a:p>
            <a:pPr indent="0" lvl="0" marL="0" rtl="0" algn="just">
              <a:spcBef>
                <a:spcPts val="1200"/>
              </a:spcBef>
              <a:spcAft>
                <a:spcPts val="1200"/>
              </a:spcAft>
              <a:buNone/>
            </a:pPr>
            <a:r>
              <a:rPr lang="en-GB" sz="1100">
                <a:solidFill>
                  <a:srgbClr val="00084D"/>
                </a:solidFill>
                <a:latin typeface="Maven Pro SemiBold"/>
                <a:ea typeface="Maven Pro SemiBold"/>
                <a:cs typeface="Maven Pro SemiBold"/>
                <a:sym typeface="Maven Pro SemiBold"/>
              </a:rPr>
              <a:t>Aucune persistance si le répertoire de l'hôte est supprimé : </a:t>
            </a:r>
            <a:r>
              <a:rPr lang="en-GB" sz="1100">
                <a:solidFill>
                  <a:srgbClr val="00084D"/>
                </a:solidFill>
                <a:latin typeface="Maven Pro"/>
                <a:ea typeface="Maven Pro"/>
                <a:cs typeface="Maven Pro"/>
                <a:sym typeface="Maven Pro"/>
              </a:rPr>
              <a:t>Si vous supprimez un répertoire monté de l'hôte, les données sont perdues.</a:t>
            </a:r>
            <a:endParaRPr sz="1100">
              <a:solidFill>
                <a:srgbClr val="00084D"/>
              </a:solidFill>
              <a:latin typeface="Maven Pro"/>
              <a:ea typeface="Maven Pro"/>
              <a:cs typeface="Maven Pro"/>
              <a:sym typeface="Maven Pro"/>
            </a:endParaRPr>
          </a:p>
        </p:txBody>
      </p:sp>
      <p:pic>
        <p:nvPicPr>
          <p:cNvPr id="1523" name="Google Shape;1523;p145"/>
          <p:cNvPicPr preferRelativeResize="0"/>
          <p:nvPr/>
        </p:nvPicPr>
        <p:blipFill>
          <a:blip r:embed="rId4">
            <a:alphaModFix/>
          </a:blip>
          <a:stretch>
            <a:fillRect/>
          </a:stretch>
        </p:blipFill>
        <p:spPr>
          <a:xfrm>
            <a:off x="4931575" y="1548150"/>
            <a:ext cx="4212424" cy="2658000"/>
          </a:xfrm>
          <a:prstGeom prst="rect">
            <a:avLst/>
          </a:prstGeom>
          <a:noFill/>
          <a:ln>
            <a:noFill/>
          </a:ln>
        </p:spPr>
      </p:pic>
      <p:sp>
        <p:nvSpPr>
          <p:cNvPr id="1524" name="Google Shape;1524;p145"/>
          <p:cNvSpPr/>
          <p:nvPr/>
        </p:nvSpPr>
        <p:spPr>
          <a:xfrm rot="763">
            <a:off x="1870050" y="4534478"/>
            <a:ext cx="5403900" cy="392400"/>
          </a:xfrm>
          <a:prstGeom prst="rect">
            <a:avLst/>
          </a:prstGeom>
          <a:solidFill>
            <a:srgbClr val="741B47"/>
          </a:solidFill>
          <a:ln cap="rnd"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457200" lvl="0" marL="0" rtl="0" algn="l">
              <a:spcBef>
                <a:spcPts val="0"/>
              </a:spcBef>
              <a:spcAft>
                <a:spcPts val="0"/>
              </a:spcAft>
              <a:buNone/>
            </a:pPr>
            <a:r>
              <a:rPr lang="en-GB" sz="1200">
                <a:solidFill>
                  <a:srgbClr val="00FF00"/>
                </a:solidFill>
                <a:latin typeface="Courier New"/>
                <a:ea typeface="Courier New"/>
                <a:cs typeface="Courier New"/>
                <a:sym typeface="Courier New"/>
              </a:rPr>
              <a:t>$</a:t>
            </a:r>
            <a:r>
              <a:rPr lang="en-GB" sz="1200">
                <a:solidFill>
                  <a:schemeClr val="lt1"/>
                </a:solidFill>
                <a:latin typeface="Courier New"/>
                <a:ea typeface="Courier New"/>
                <a:cs typeface="Courier New"/>
                <a:sym typeface="Courier New"/>
              </a:rPr>
              <a:t> docker run </a:t>
            </a:r>
            <a:r>
              <a:rPr b="1" lang="en-GB" sz="1200">
                <a:solidFill>
                  <a:schemeClr val="lt1"/>
                </a:solidFill>
                <a:latin typeface="Courier New"/>
                <a:ea typeface="Courier New"/>
                <a:cs typeface="Courier New"/>
                <a:sym typeface="Courier New"/>
              </a:rPr>
              <a:t>-v /host/path:/container/path</a:t>
            </a:r>
            <a:r>
              <a:rPr lang="en-GB" sz="1200">
                <a:solidFill>
                  <a:schemeClr val="lt1"/>
                </a:solidFill>
                <a:latin typeface="Courier New"/>
                <a:ea typeface="Courier New"/>
                <a:cs typeface="Courier New"/>
                <a:sym typeface="Courier New"/>
              </a:rPr>
              <a:t> IMAGE</a:t>
            </a:r>
            <a:endParaRPr sz="1200">
              <a:solidFill>
                <a:schemeClr val="lt1"/>
              </a:solidFill>
              <a:latin typeface="Courier New"/>
              <a:ea typeface="Courier New"/>
              <a:cs typeface="Courier New"/>
              <a:sym typeface="Courier New"/>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sp>
        <p:nvSpPr>
          <p:cNvPr id="1529" name="Google Shape;1529;p146"/>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1530" name="Google Shape;1530;p146"/>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531" name="Google Shape;1531;p146"/>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1532" name="Google Shape;1532;p146"/>
          <p:cNvSpPr txBox="1"/>
          <p:nvPr/>
        </p:nvSpPr>
        <p:spPr>
          <a:xfrm>
            <a:off x="478375" y="1786800"/>
            <a:ext cx="4572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Workshop</a:t>
            </a:r>
            <a:endParaRPr sz="4500">
              <a:solidFill>
                <a:srgbClr val="E5F2FC"/>
              </a:solidFill>
              <a:latin typeface="Nunito SemiBold"/>
              <a:ea typeface="Nunito SemiBold"/>
              <a:cs typeface="Nunito SemiBold"/>
              <a:sym typeface="Nunito SemiBold"/>
            </a:endParaRPr>
          </a:p>
        </p:txBody>
      </p:sp>
      <p:sp>
        <p:nvSpPr>
          <p:cNvPr id="1533" name="Google Shape;1533;p1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7" name="Shape 1537"/>
        <p:cNvGrpSpPr/>
        <p:nvPr/>
      </p:nvGrpSpPr>
      <p:grpSpPr>
        <a:xfrm>
          <a:off x="0" y="0"/>
          <a:ext cx="0" cy="0"/>
          <a:chOff x="0" y="0"/>
          <a:chExt cx="0" cy="0"/>
        </a:xfrm>
      </p:grpSpPr>
      <p:sp>
        <p:nvSpPr>
          <p:cNvPr id="1538" name="Google Shape;1538;p147"/>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1539" name="Google Shape;1539;p147"/>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540" name="Google Shape;1540;p147"/>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1541" name="Google Shape;1541;p147"/>
          <p:cNvSpPr txBox="1"/>
          <p:nvPr/>
        </p:nvSpPr>
        <p:spPr>
          <a:xfrm>
            <a:off x="478375" y="1786800"/>
            <a:ext cx="4572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Docker Networking</a:t>
            </a:r>
            <a:endParaRPr sz="4500">
              <a:solidFill>
                <a:srgbClr val="E5F2FC"/>
              </a:solidFill>
              <a:latin typeface="Nunito SemiBold"/>
              <a:ea typeface="Nunito SemiBold"/>
              <a:cs typeface="Nunito SemiBold"/>
              <a:sym typeface="Nunito SemiBold"/>
            </a:endParaRPr>
          </a:p>
        </p:txBody>
      </p:sp>
      <p:sp>
        <p:nvSpPr>
          <p:cNvPr id="1542" name="Google Shape;1542;p1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sp>
        <p:nvSpPr>
          <p:cNvPr id="1547" name="Google Shape;1547;p148"/>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548" name="Google Shape;1548;p1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49" name="Google Shape;1549;p14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550" name="Google Shape;1550;p14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Network</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Definition</a:t>
            </a:r>
            <a:endParaRPr sz="2000">
              <a:solidFill>
                <a:srgbClr val="073763"/>
              </a:solidFill>
              <a:latin typeface="Maven Pro"/>
              <a:ea typeface="Maven Pro"/>
              <a:cs typeface="Maven Pro"/>
              <a:sym typeface="Maven Pro"/>
            </a:endParaRPr>
          </a:p>
        </p:txBody>
      </p:sp>
      <p:sp>
        <p:nvSpPr>
          <p:cNvPr id="1551" name="Google Shape;1551;p148"/>
          <p:cNvSpPr txBox="1"/>
          <p:nvPr/>
        </p:nvSpPr>
        <p:spPr>
          <a:xfrm>
            <a:off x="667800" y="1473200"/>
            <a:ext cx="7808400" cy="692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None/>
            </a:pPr>
            <a:r>
              <a:rPr lang="en-GB" sz="1100">
                <a:solidFill>
                  <a:srgbClr val="00084D"/>
                </a:solidFill>
                <a:latin typeface="Maven Pro"/>
                <a:ea typeface="Maven Pro"/>
                <a:cs typeface="Maven Pro"/>
                <a:sym typeface="Maven Pro"/>
              </a:rPr>
              <a:t>Les réseaux Docker permettent de gérer la connectivité entre les conteneurs et de configurer des règles spécifiques de communication entre eux. Un réseau Docker fonctionne en tant qu'abstraction du réseau sous-jacent de l'hôte (comme le réseau Ethernet ou Wi-Fi) et permet de créer des environnements isolés pour les conteneurs.</a:t>
            </a:r>
            <a:endParaRPr sz="1100">
              <a:solidFill>
                <a:srgbClr val="00084D"/>
              </a:solidFill>
              <a:latin typeface="Maven Pro"/>
              <a:ea typeface="Maven Pro"/>
              <a:cs typeface="Maven Pro"/>
              <a:sym typeface="Maven Pro"/>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5" name="Shape 1555"/>
        <p:cNvGrpSpPr/>
        <p:nvPr/>
      </p:nvGrpSpPr>
      <p:grpSpPr>
        <a:xfrm>
          <a:off x="0" y="0"/>
          <a:ext cx="0" cy="0"/>
          <a:chOff x="0" y="0"/>
          <a:chExt cx="0" cy="0"/>
        </a:xfrm>
      </p:grpSpPr>
      <p:sp>
        <p:nvSpPr>
          <p:cNvPr id="1556" name="Google Shape;1556;p149"/>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557" name="Google Shape;1557;p1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58" name="Google Shape;1558;p14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559" name="Google Shape;1559;p14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Network</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Types of Docker Networks</a:t>
            </a:r>
            <a:endParaRPr sz="2000">
              <a:solidFill>
                <a:srgbClr val="073763"/>
              </a:solidFill>
              <a:latin typeface="Maven Pro"/>
              <a:ea typeface="Maven Pro"/>
              <a:cs typeface="Maven Pro"/>
              <a:sym typeface="Maven Pro"/>
            </a:endParaRPr>
          </a:p>
        </p:txBody>
      </p:sp>
      <p:sp>
        <p:nvSpPr>
          <p:cNvPr id="1560" name="Google Shape;1560;p149"/>
          <p:cNvSpPr/>
          <p:nvPr/>
        </p:nvSpPr>
        <p:spPr>
          <a:xfrm>
            <a:off x="2934250" y="1538950"/>
            <a:ext cx="3324000" cy="533400"/>
          </a:xfrm>
          <a:prstGeom prst="roundRect">
            <a:avLst>
              <a:gd fmla="val 16667" name="adj"/>
            </a:avLst>
          </a:prstGeom>
          <a:solidFill>
            <a:schemeClr val="accent5"/>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FFFFFF"/>
                </a:solidFill>
                <a:latin typeface="Maven Pro"/>
                <a:ea typeface="Maven Pro"/>
                <a:cs typeface="Maven Pro"/>
                <a:sym typeface="Maven Pro"/>
              </a:rPr>
              <a:t>Bridge</a:t>
            </a:r>
            <a:endParaRPr sz="2000">
              <a:solidFill>
                <a:srgbClr val="FFFFFF"/>
              </a:solidFill>
            </a:endParaRPr>
          </a:p>
        </p:txBody>
      </p:sp>
      <p:sp>
        <p:nvSpPr>
          <p:cNvPr id="1561" name="Google Shape;1561;p149"/>
          <p:cNvSpPr/>
          <p:nvPr/>
        </p:nvSpPr>
        <p:spPr>
          <a:xfrm>
            <a:off x="2910000" y="2129100"/>
            <a:ext cx="3324000" cy="533400"/>
          </a:xfrm>
          <a:prstGeom prst="roundRect">
            <a:avLst>
              <a:gd fmla="val 16667" name="adj"/>
            </a:avLst>
          </a:prstGeom>
          <a:solidFill>
            <a:schemeClr val="accent5"/>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FFFFFF"/>
                </a:solidFill>
                <a:latin typeface="Maven Pro"/>
                <a:ea typeface="Maven Pro"/>
                <a:cs typeface="Maven Pro"/>
                <a:sym typeface="Maven Pro"/>
              </a:rPr>
              <a:t>Host</a:t>
            </a:r>
            <a:endParaRPr sz="2000">
              <a:solidFill>
                <a:srgbClr val="FFFFFF"/>
              </a:solidFill>
            </a:endParaRPr>
          </a:p>
        </p:txBody>
      </p:sp>
      <p:sp>
        <p:nvSpPr>
          <p:cNvPr id="1562" name="Google Shape;1562;p149"/>
          <p:cNvSpPr/>
          <p:nvPr/>
        </p:nvSpPr>
        <p:spPr>
          <a:xfrm>
            <a:off x="2910000" y="2719250"/>
            <a:ext cx="3324000" cy="533400"/>
          </a:xfrm>
          <a:prstGeom prst="roundRect">
            <a:avLst>
              <a:gd fmla="val 16667" name="adj"/>
            </a:avLst>
          </a:prstGeom>
          <a:solidFill>
            <a:schemeClr val="accent5"/>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FFFFFF"/>
                </a:solidFill>
                <a:latin typeface="Maven Pro"/>
                <a:ea typeface="Maven Pro"/>
                <a:cs typeface="Maven Pro"/>
                <a:sym typeface="Maven Pro"/>
              </a:rPr>
              <a:t>None</a:t>
            </a:r>
            <a:endParaRPr sz="2000">
              <a:solidFill>
                <a:srgbClr val="FFFFFF"/>
              </a:solidFill>
            </a:endParaRPr>
          </a:p>
        </p:txBody>
      </p:sp>
      <p:sp>
        <p:nvSpPr>
          <p:cNvPr id="1563" name="Google Shape;1563;p149"/>
          <p:cNvSpPr/>
          <p:nvPr/>
        </p:nvSpPr>
        <p:spPr>
          <a:xfrm>
            <a:off x="2910000" y="3309400"/>
            <a:ext cx="3324000" cy="533400"/>
          </a:xfrm>
          <a:prstGeom prst="roundRect">
            <a:avLst>
              <a:gd fmla="val 16667" name="adj"/>
            </a:avLst>
          </a:prstGeom>
          <a:solidFill>
            <a:schemeClr val="accent5"/>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FFFFFF"/>
                </a:solidFill>
                <a:latin typeface="Maven Pro"/>
                <a:ea typeface="Maven Pro"/>
                <a:cs typeface="Maven Pro"/>
                <a:sym typeface="Maven Pro"/>
              </a:rPr>
              <a:t>Overlay</a:t>
            </a:r>
            <a:endParaRPr sz="2000">
              <a:solidFill>
                <a:srgbClr val="FFFFFF"/>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7" name="Shape 1567"/>
        <p:cNvGrpSpPr/>
        <p:nvPr/>
      </p:nvGrpSpPr>
      <p:grpSpPr>
        <a:xfrm>
          <a:off x="0" y="0"/>
          <a:ext cx="0" cy="0"/>
          <a:chOff x="0" y="0"/>
          <a:chExt cx="0" cy="0"/>
        </a:xfrm>
      </p:grpSpPr>
      <p:sp>
        <p:nvSpPr>
          <p:cNvPr id="1568" name="Google Shape;1568;p150"/>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569" name="Google Shape;1569;p1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70" name="Google Shape;1570;p15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571" name="Google Shape;1571;p15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Network - Types of docker networks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Bridge</a:t>
            </a:r>
            <a:endParaRPr sz="2000">
              <a:solidFill>
                <a:srgbClr val="073763"/>
              </a:solidFill>
              <a:latin typeface="Maven Pro"/>
              <a:ea typeface="Maven Pro"/>
              <a:cs typeface="Maven Pro"/>
              <a:sym typeface="Maven Pro"/>
            </a:endParaRPr>
          </a:p>
        </p:txBody>
      </p:sp>
      <p:sp>
        <p:nvSpPr>
          <p:cNvPr id="1572" name="Google Shape;1572;p150"/>
          <p:cNvSpPr txBox="1"/>
          <p:nvPr/>
        </p:nvSpPr>
        <p:spPr>
          <a:xfrm>
            <a:off x="548400" y="1169450"/>
            <a:ext cx="4087200" cy="3879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n-GB" sz="1100">
                <a:solidFill>
                  <a:srgbClr val="00084D"/>
                </a:solidFill>
                <a:latin typeface="Maven Pro"/>
                <a:ea typeface="Maven Pro"/>
                <a:cs typeface="Maven Pro"/>
                <a:sym typeface="Maven Pro"/>
              </a:rPr>
              <a:t>Le réseau bridge par défaut est idéal en développement, car il permet une manière simple et rapide de faire communiquer les conteneurs entre eux. En production, ce n'est pas aussi optimal ; toute la configuration nécessaire en arrière-plan génère une charge non négligeable.</a:t>
            </a:r>
            <a:br>
              <a:rPr lang="en-GB" sz="1100">
                <a:solidFill>
                  <a:srgbClr val="00084D"/>
                </a:solidFill>
                <a:latin typeface="Maven Pro"/>
                <a:ea typeface="Maven Pro"/>
                <a:cs typeface="Maven Pro"/>
                <a:sym typeface="Maven Pro"/>
              </a:rPr>
            </a:br>
            <a:r>
              <a:rPr lang="en-GB" sz="1100">
                <a:solidFill>
                  <a:srgbClr val="00084D"/>
                </a:solidFill>
                <a:latin typeface="Maven Pro"/>
                <a:ea typeface="Maven Pro"/>
                <a:cs typeface="Maven Pro"/>
                <a:sym typeface="Maven Pro"/>
              </a:rPr>
              <a:t>Il existe un pont Docker, généralement appelé docker0 et fonctionnant sur l'adresse 172.17.42.1, qui est utilisé pour connecter les conteneurs. Lorsqu'un conteneur est démarré, Docker crée une paire veth — essentiellement l'équivalent logiciel d'un câble Ethernet — qui connecte eth0 dans le conteneur au pont. La connectivité externe est fournie par le forwarding IP et les règles iptables qui configurent le masquage d'adresse IP (NAT, Network Address Translation).</a:t>
            </a:r>
            <a:endParaRPr sz="1100">
              <a:solidFill>
                <a:srgbClr val="00084D"/>
              </a:solidFill>
              <a:latin typeface="Maven Pro"/>
              <a:ea typeface="Maven Pro"/>
              <a:cs typeface="Maven Pro"/>
              <a:sym typeface="Maven Pro"/>
            </a:endParaRPr>
          </a:p>
          <a:p>
            <a:pPr indent="0" lvl="0" marL="0" rtl="0" algn="just">
              <a:spcBef>
                <a:spcPts val="1200"/>
              </a:spcBef>
              <a:spcAft>
                <a:spcPts val="0"/>
              </a:spcAft>
              <a:buClr>
                <a:schemeClr val="dk1"/>
              </a:buClr>
              <a:buSzPts val="1100"/>
              <a:buFont typeface="Arial"/>
              <a:buNone/>
            </a:pPr>
            <a:r>
              <a:rPr lang="en-GB" sz="1100">
                <a:solidFill>
                  <a:srgbClr val="00084D"/>
                </a:solidFill>
                <a:latin typeface="Maven Pro SemiBold"/>
                <a:ea typeface="Maven Pro SemiBold"/>
                <a:cs typeface="Maven Pro SemiBold"/>
                <a:sym typeface="Maven Pro SemiBold"/>
              </a:rPr>
              <a:t>Caractéristiques :</a:t>
            </a:r>
            <a:endParaRPr sz="1100">
              <a:solidFill>
                <a:srgbClr val="00084D"/>
              </a:solidFill>
              <a:latin typeface="Maven Pro SemiBold"/>
              <a:ea typeface="Maven Pro SemiBold"/>
              <a:cs typeface="Maven Pro SemiBold"/>
              <a:sym typeface="Maven Pro SemiBold"/>
            </a:endParaRPr>
          </a:p>
          <a:p>
            <a:pPr indent="-298450" lvl="0" marL="457200" rtl="0" algn="just">
              <a:spcBef>
                <a:spcPts val="120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Les conteneurs peuvent communiquer entre eux via des adresses IP privées.</a:t>
            </a:r>
            <a:endParaRPr sz="1100">
              <a:solidFill>
                <a:srgbClr val="00084D"/>
              </a:solidFill>
              <a:latin typeface="Maven Pro"/>
              <a:ea typeface="Maven Pro"/>
              <a:cs typeface="Maven Pro"/>
              <a:sym typeface="Maven Pro"/>
            </a:endParaRPr>
          </a:p>
          <a:p>
            <a:pPr indent="-298450" lvl="0" marL="457200" rtl="0" algn="just">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Accès à Internet pour les conteneurs (via le NAT de l'hôte).</a:t>
            </a:r>
            <a:endParaRPr sz="1100">
              <a:solidFill>
                <a:srgbClr val="00084D"/>
              </a:solidFill>
              <a:latin typeface="Maven Pro"/>
              <a:ea typeface="Maven Pro"/>
              <a:cs typeface="Maven Pro"/>
              <a:sym typeface="Maven Pro"/>
            </a:endParaRPr>
          </a:p>
          <a:p>
            <a:pPr indent="-298450" lvl="0" marL="457200" rtl="0" algn="just">
              <a:spcBef>
                <a:spcPts val="0"/>
              </a:spcBef>
              <a:spcAft>
                <a:spcPts val="0"/>
              </a:spcAft>
              <a:buClr>
                <a:srgbClr val="00084D"/>
              </a:buClr>
              <a:buSzPts val="1100"/>
              <a:buFont typeface="Maven Pro"/>
              <a:buChar char="●"/>
            </a:pPr>
            <a:r>
              <a:rPr lang="en-GB" sz="1100">
                <a:solidFill>
                  <a:srgbClr val="00084D"/>
                </a:solidFill>
                <a:latin typeface="Maven Pro"/>
                <a:ea typeface="Maven Pro"/>
                <a:cs typeface="Maven Pro"/>
                <a:sym typeface="Maven Pro"/>
              </a:rPr>
              <a:t>Utilisation d'un pont (bridge) sur l'hôte pour connecter les conteneurs.</a:t>
            </a:r>
            <a:endParaRPr sz="1100">
              <a:solidFill>
                <a:srgbClr val="00084D"/>
              </a:solidFill>
              <a:latin typeface="Maven Pro"/>
              <a:ea typeface="Maven Pro"/>
              <a:cs typeface="Maven Pro"/>
              <a:sym typeface="Maven Pro"/>
            </a:endParaRPr>
          </a:p>
        </p:txBody>
      </p:sp>
      <p:pic>
        <p:nvPicPr>
          <p:cNvPr id="1573" name="Google Shape;1573;p150"/>
          <p:cNvPicPr preferRelativeResize="0"/>
          <p:nvPr/>
        </p:nvPicPr>
        <p:blipFill>
          <a:blip r:embed="rId4">
            <a:alphaModFix/>
          </a:blip>
          <a:stretch>
            <a:fillRect/>
          </a:stretch>
        </p:blipFill>
        <p:spPr>
          <a:xfrm>
            <a:off x="4635600" y="493800"/>
            <a:ext cx="4508399" cy="4346914"/>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151"/>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579" name="Google Shape;1579;p1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80" name="Google Shape;1580;p15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581" name="Google Shape;1581;p15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Network - Types of docker networks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Host</a:t>
            </a:r>
            <a:endParaRPr sz="2000">
              <a:solidFill>
                <a:srgbClr val="073763"/>
              </a:solidFill>
              <a:latin typeface="Maven Pro"/>
              <a:ea typeface="Maven Pro"/>
              <a:cs typeface="Maven Pro"/>
              <a:sym typeface="Maven Pro"/>
            </a:endParaRPr>
          </a:p>
        </p:txBody>
      </p:sp>
      <p:sp>
        <p:nvSpPr>
          <p:cNvPr id="1582" name="Google Shape;1582;p151"/>
          <p:cNvSpPr txBox="1"/>
          <p:nvPr/>
        </p:nvSpPr>
        <p:spPr>
          <a:xfrm>
            <a:off x="687600" y="1169450"/>
            <a:ext cx="7768800" cy="2986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n-GB" sz="1100">
                <a:solidFill>
                  <a:srgbClr val="00084D"/>
                </a:solidFill>
                <a:latin typeface="Maven Pro"/>
                <a:ea typeface="Maven Pro"/>
                <a:cs typeface="Maven Pro"/>
                <a:sym typeface="Maven Pro"/>
              </a:rPr>
              <a:t>Lorsque vous exécutez un conteneur en mode réseau hôte, il partage la pile réseau avec l'hôte Docker, et ainsi l'interface réseau du conteneur est directement attachée à l'interface réseau de l'hôte. </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None/>
            </a:pPr>
            <a:r>
              <a:rPr lang="en-GB" sz="1100">
                <a:solidFill>
                  <a:srgbClr val="00084D"/>
                </a:solidFill>
                <a:latin typeface="Maven Pro"/>
                <a:ea typeface="Maven Pro"/>
                <a:cs typeface="Maven Pro"/>
                <a:sym typeface="Maven Pro"/>
              </a:rPr>
              <a:t>Ce mode donne au conteneur un accès complet à la pile réseau de l'hôte, mais il peut également introduire des risques potentiels pour la sécurité.</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None/>
            </a:pPr>
            <a:r>
              <a:rPr lang="en-GB" sz="1100">
                <a:solidFill>
                  <a:srgbClr val="00084D"/>
                </a:solidFill>
                <a:latin typeface="Maven Pro"/>
                <a:ea typeface="Maven Pro"/>
                <a:cs typeface="Maven Pro"/>
                <a:sym typeface="Maven Pro"/>
              </a:rPr>
              <a:t>Il est utile pour les applications nécessitant des performances réseau élevées ou devant communiquer sur la même pile réseau de l'hôte.</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None/>
            </a:pPr>
            <a:r>
              <a:rPr lang="en-GB" sz="1100">
                <a:solidFill>
                  <a:srgbClr val="00084D"/>
                </a:solidFill>
                <a:latin typeface="Maven Pro"/>
                <a:ea typeface="Maven Pro"/>
                <a:cs typeface="Maven Pro"/>
                <a:sym typeface="Maven Pro"/>
              </a:rPr>
              <a:t>Le conteneur peut utiliser la même adresse IP et les mêmes ports que l'hôte.</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None/>
            </a:pPr>
            <a:r>
              <a:rPr lang="en-GB" sz="1100">
                <a:solidFill>
                  <a:srgbClr val="00084D"/>
                </a:solidFill>
                <a:latin typeface="Maven Pro"/>
                <a:ea typeface="Maven Pro"/>
                <a:cs typeface="Maven Pro"/>
                <a:sym typeface="Maven Pro"/>
              </a:rPr>
              <a:t>Il n'y a pas d'isolation réseau entre les conteneurs et l'hôte. Par exemple, si vous exécutez un conteneur qui se lie au port 80 et que vous utilisez le mode réseau hôte, l'application du conteneur sera disponible sur le port 80 de l'adresse IP de l'hôte.</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1200"/>
              </a:spcAft>
              <a:buNone/>
            </a:pPr>
            <a:r>
              <a:rPr lang="en-GB" sz="1100">
                <a:solidFill>
                  <a:srgbClr val="00084D"/>
                </a:solidFill>
                <a:latin typeface="Maven Pro"/>
                <a:ea typeface="Maven Pro"/>
                <a:cs typeface="Maven Pro"/>
                <a:sym typeface="Maven Pro"/>
              </a:rPr>
              <a:t>Le mode réseau hôte peut être utile dans les cas suivants : pour optimiser les performances, dans des situations où un conteneur doit gérer une large gamme de ports, car il ne nécessite pas de traduction d'adresses réseau (NAT).</a:t>
            </a:r>
            <a:endParaRPr sz="1100">
              <a:solidFill>
                <a:srgbClr val="00084D"/>
              </a:solidFill>
              <a:latin typeface="Maven Pro"/>
              <a:ea typeface="Maven Pro"/>
              <a:cs typeface="Maven Pro"/>
              <a:sym typeface="Maven Pro"/>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p152"/>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588" name="Google Shape;1588;p1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89" name="Google Shape;1589;p15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590" name="Google Shape;1590;p15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Network - Types of docker networks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None</a:t>
            </a:r>
            <a:endParaRPr sz="2000">
              <a:solidFill>
                <a:srgbClr val="073763"/>
              </a:solidFill>
              <a:latin typeface="Maven Pro"/>
              <a:ea typeface="Maven Pro"/>
              <a:cs typeface="Maven Pro"/>
              <a:sym typeface="Maven Pro"/>
            </a:endParaRPr>
          </a:p>
        </p:txBody>
      </p:sp>
      <p:sp>
        <p:nvSpPr>
          <p:cNvPr id="1591" name="Google Shape;1591;p152"/>
          <p:cNvSpPr txBox="1"/>
          <p:nvPr/>
        </p:nvSpPr>
        <p:spPr>
          <a:xfrm>
            <a:off x="687600" y="1169450"/>
            <a:ext cx="7768800" cy="1000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Le conteneur n'a pas d'interfaces réseau à part l'interface de boucle locale (lo).</a:t>
            </a:r>
            <a:endParaRPr sz="1100">
              <a:solidFill>
                <a:srgbClr val="00084D"/>
              </a:solidFill>
              <a:latin typeface="Maven Pro"/>
              <a:ea typeface="Maven Pro"/>
              <a:cs typeface="Maven Pro"/>
              <a:sym typeface="Maven Pro"/>
            </a:endParaRPr>
          </a:p>
          <a:p>
            <a:pPr indent="0" lvl="0" marL="0" rtl="0" algn="just">
              <a:spcBef>
                <a:spcPts val="120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Il est utilisé lorsque vous souhaitez désactiver complètement le réseau dans un conteneur.</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1200"/>
              </a:spcAft>
              <a:buNone/>
            </a:pPr>
            <a:r>
              <a:rPr lang="en-GB" sz="1100">
                <a:solidFill>
                  <a:srgbClr val="00084D"/>
                </a:solidFill>
                <a:latin typeface="Maven Pro"/>
                <a:ea typeface="Maven Pro"/>
                <a:cs typeface="Maven Pro"/>
                <a:sym typeface="Maven Pro"/>
              </a:rPr>
              <a:t>Aucune connectivité réseau.</a:t>
            </a:r>
            <a:endParaRPr sz="1100">
              <a:solidFill>
                <a:srgbClr val="00084D"/>
              </a:solidFill>
              <a:latin typeface="Maven Pro"/>
              <a:ea typeface="Maven Pro"/>
              <a:cs typeface="Maven Pro"/>
              <a:sym typeface="Maven Pro"/>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5" name="Shape 1595"/>
        <p:cNvGrpSpPr/>
        <p:nvPr/>
      </p:nvGrpSpPr>
      <p:grpSpPr>
        <a:xfrm>
          <a:off x="0" y="0"/>
          <a:ext cx="0" cy="0"/>
          <a:chOff x="0" y="0"/>
          <a:chExt cx="0" cy="0"/>
        </a:xfrm>
      </p:grpSpPr>
      <p:sp>
        <p:nvSpPr>
          <p:cNvPr id="1596" name="Google Shape;1596;p153"/>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597" name="Google Shape;1597;p1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98" name="Google Shape;1598;p15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599" name="Google Shape;1599;p15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Network - Types of docker networks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Overlay</a:t>
            </a:r>
            <a:endParaRPr sz="2000">
              <a:solidFill>
                <a:srgbClr val="073763"/>
              </a:solidFill>
              <a:latin typeface="Maven Pro"/>
              <a:ea typeface="Maven Pro"/>
              <a:cs typeface="Maven Pro"/>
              <a:sym typeface="Maven Pro"/>
            </a:endParaRPr>
          </a:p>
        </p:txBody>
      </p:sp>
      <p:sp>
        <p:nvSpPr>
          <p:cNvPr id="1600" name="Google Shape;1600;p153"/>
          <p:cNvSpPr txBox="1"/>
          <p:nvPr/>
        </p:nvSpPr>
        <p:spPr>
          <a:xfrm>
            <a:off x="687700" y="1273875"/>
            <a:ext cx="3150300" cy="2862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Le pilote de réseau overlay crée un réseau distribué entre plusieurs hôtes du démon Docker.</a:t>
            </a:r>
            <a:endParaRPr sz="1100">
              <a:solidFill>
                <a:srgbClr val="00084D"/>
              </a:solidFill>
              <a:latin typeface="Maven Pro"/>
              <a:ea typeface="Maven Pro"/>
              <a:cs typeface="Maven Pro"/>
              <a:sym typeface="Maven Pro"/>
            </a:endParaRPr>
          </a:p>
          <a:p>
            <a:pPr indent="0" lvl="0" marL="0" rtl="0" algn="just">
              <a:spcBef>
                <a:spcPts val="120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Ce réseau permet à tous les conteneurs exécutés sur n'importe lequel des hôtes de communiquer entre eux sans nécessiter de support de routage au niveau du système d'exploitation.</a:t>
            </a:r>
            <a:endParaRPr sz="1100">
              <a:solidFill>
                <a:srgbClr val="00084D"/>
              </a:solidFill>
              <a:latin typeface="Maven Pro"/>
              <a:ea typeface="Maven Pro"/>
              <a:cs typeface="Maven Pro"/>
              <a:sym typeface="Maven Pro"/>
            </a:endParaRPr>
          </a:p>
          <a:p>
            <a:pPr indent="0" lvl="0" marL="0" rtl="0" algn="just">
              <a:spcBef>
                <a:spcPts val="1200"/>
              </a:spcBef>
              <a:spcAft>
                <a:spcPts val="1200"/>
              </a:spcAft>
              <a:buNone/>
            </a:pPr>
            <a:r>
              <a:rPr lang="en-GB" sz="1100">
                <a:solidFill>
                  <a:srgbClr val="00084D"/>
                </a:solidFill>
                <a:latin typeface="Maven Pro"/>
                <a:ea typeface="Maven Pro"/>
                <a:cs typeface="Maven Pro"/>
                <a:sym typeface="Maven Pro"/>
              </a:rPr>
              <a:t>En raison des limitations imposées par le noyau Linux, les réseaux overlay deviennent instables et la communication entre les conteneurs peut être interrompue lorsque 1000 conteneurs sont situés sur le même hôte.</a:t>
            </a:r>
            <a:endParaRPr sz="1100">
              <a:solidFill>
                <a:srgbClr val="00084D"/>
              </a:solidFill>
              <a:latin typeface="Maven Pro"/>
              <a:ea typeface="Maven Pro"/>
              <a:cs typeface="Maven Pro"/>
              <a:sym typeface="Maven Pro"/>
            </a:endParaRPr>
          </a:p>
        </p:txBody>
      </p:sp>
      <p:pic>
        <p:nvPicPr>
          <p:cNvPr id="1601" name="Google Shape;1601;p153"/>
          <p:cNvPicPr preferRelativeResize="0"/>
          <p:nvPr/>
        </p:nvPicPr>
        <p:blipFill>
          <a:blip r:embed="rId4">
            <a:alphaModFix/>
          </a:blip>
          <a:stretch>
            <a:fillRect/>
          </a:stretch>
        </p:blipFill>
        <p:spPr>
          <a:xfrm>
            <a:off x="3838000" y="1128466"/>
            <a:ext cx="5306000" cy="288656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5" name="Shape 1605"/>
        <p:cNvGrpSpPr/>
        <p:nvPr/>
      </p:nvGrpSpPr>
      <p:grpSpPr>
        <a:xfrm>
          <a:off x="0" y="0"/>
          <a:ext cx="0" cy="0"/>
          <a:chOff x="0" y="0"/>
          <a:chExt cx="0" cy="0"/>
        </a:xfrm>
      </p:grpSpPr>
      <p:sp>
        <p:nvSpPr>
          <p:cNvPr id="1606" name="Google Shape;1606;p154"/>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607" name="Google Shape;1607;p1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608" name="Google Shape;1608;p15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609" name="Google Shape;1609;p15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Network - Types of docker networks</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Overlay</a:t>
            </a:r>
            <a:endParaRPr sz="2000">
              <a:solidFill>
                <a:srgbClr val="073763"/>
              </a:solidFill>
              <a:latin typeface="Maven Pro"/>
              <a:ea typeface="Maven Pro"/>
              <a:cs typeface="Maven Pro"/>
              <a:sym typeface="Maven Pro"/>
            </a:endParaRPr>
          </a:p>
        </p:txBody>
      </p:sp>
      <p:sp>
        <p:nvSpPr>
          <p:cNvPr id="1610" name="Google Shape;1610;p154"/>
          <p:cNvSpPr txBox="1"/>
          <p:nvPr/>
        </p:nvSpPr>
        <p:spPr>
          <a:xfrm>
            <a:off x="687700" y="1273875"/>
            <a:ext cx="3150300" cy="2862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100">
                <a:solidFill>
                  <a:srgbClr val="00084D"/>
                </a:solidFill>
                <a:latin typeface="Maven Pro"/>
                <a:ea typeface="Maven Pro"/>
                <a:cs typeface="Maven Pro"/>
                <a:sym typeface="Maven Pro"/>
              </a:rPr>
              <a:t>Le pilote de réseau overlay crée un réseau distribué entre plusieurs hôtes du démon Docker.</a:t>
            </a:r>
            <a:endParaRPr sz="1100">
              <a:solidFill>
                <a:srgbClr val="00084D"/>
              </a:solidFill>
              <a:latin typeface="Maven Pro"/>
              <a:ea typeface="Maven Pro"/>
              <a:cs typeface="Maven Pro"/>
              <a:sym typeface="Maven Pro"/>
            </a:endParaRPr>
          </a:p>
          <a:p>
            <a:pPr indent="0" lvl="0" marL="0" rtl="0" algn="just">
              <a:spcBef>
                <a:spcPts val="1200"/>
              </a:spcBef>
              <a:spcAft>
                <a:spcPts val="0"/>
              </a:spcAft>
              <a:buNone/>
            </a:pPr>
            <a:r>
              <a:rPr lang="en-GB" sz="1100">
                <a:solidFill>
                  <a:srgbClr val="00084D"/>
                </a:solidFill>
                <a:latin typeface="Maven Pro"/>
                <a:ea typeface="Maven Pro"/>
                <a:cs typeface="Maven Pro"/>
                <a:sym typeface="Maven Pro"/>
              </a:rPr>
              <a:t>Ce réseau permet à tous les conteneurs exécutés sur n'importe lequel des hôtes de communiquer entre eux sans nécessiter de support de routage au niveau du système d'exploitation.</a:t>
            </a:r>
            <a:endParaRPr sz="1100">
              <a:solidFill>
                <a:srgbClr val="00084D"/>
              </a:solidFill>
              <a:latin typeface="Maven Pro"/>
              <a:ea typeface="Maven Pro"/>
              <a:cs typeface="Maven Pro"/>
              <a:sym typeface="Maven Pro"/>
            </a:endParaRPr>
          </a:p>
          <a:p>
            <a:pPr indent="0" lvl="0" marL="0" rtl="0" algn="just">
              <a:spcBef>
                <a:spcPts val="1200"/>
              </a:spcBef>
              <a:spcAft>
                <a:spcPts val="1200"/>
              </a:spcAft>
              <a:buNone/>
            </a:pPr>
            <a:r>
              <a:rPr lang="en-GB" sz="1100">
                <a:solidFill>
                  <a:srgbClr val="00084D"/>
                </a:solidFill>
                <a:latin typeface="Maven Pro"/>
                <a:ea typeface="Maven Pro"/>
                <a:cs typeface="Maven Pro"/>
                <a:sym typeface="Maven Pro"/>
              </a:rPr>
              <a:t>En raison des limitations imposées par le noyau Linux, les réseaux overlay deviennent instables et la communication entre les conteneurs peut être interrompue lorsque 1000 conteneurs sont situés sur le même hôte.</a:t>
            </a:r>
            <a:endParaRPr sz="1100">
              <a:solidFill>
                <a:srgbClr val="00084D"/>
              </a:solidFill>
              <a:latin typeface="Maven Pro"/>
              <a:ea typeface="Maven Pro"/>
              <a:cs typeface="Maven Pro"/>
              <a:sym typeface="Maven Pro"/>
            </a:endParaRPr>
          </a:p>
        </p:txBody>
      </p:sp>
      <p:pic>
        <p:nvPicPr>
          <p:cNvPr id="1611" name="Google Shape;1611;p154"/>
          <p:cNvPicPr preferRelativeResize="0"/>
          <p:nvPr/>
        </p:nvPicPr>
        <p:blipFill>
          <a:blip r:embed="rId4">
            <a:alphaModFix/>
          </a:blip>
          <a:stretch>
            <a:fillRect/>
          </a:stretch>
        </p:blipFill>
        <p:spPr>
          <a:xfrm>
            <a:off x="3838000" y="1128466"/>
            <a:ext cx="5306000" cy="2886560"/>
          </a:xfrm>
          <a:prstGeom prst="rect">
            <a:avLst/>
          </a:prstGeom>
          <a:noFill/>
          <a:ln>
            <a:noFill/>
          </a:ln>
        </p:spPr>
      </p:pic>
      <p:pic>
        <p:nvPicPr>
          <p:cNvPr id="1612" name="Google Shape;1612;p154"/>
          <p:cNvPicPr preferRelativeResize="0"/>
          <p:nvPr/>
        </p:nvPicPr>
        <p:blipFill>
          <a:blip r:embed="rId5">
            <a:alphaModFix/>
          </a:blip>
          <a:stretch>
            <a:fillRect/>
          </a:stretch>
        </p:blipFill>
        <p:spPr>
          <a:xfrm>
            <a:off x="0" y="1169444"/>
            <a:ext cx="9144000" cy="3180163"/>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6" name="Shape 1616"/>
        <p:cNvGrpSpPr/>
        <p:nvPr/>
      </p:nvGrpSpPr>
      <p:grpSpPr>
        <a:xfrm>
          <a:off x="0" y="0"/>
          <a:ext cx="0" cy="0"/>
          <a:chOff x="0" y="0"/>
          <a:chExt cx="0" cy="0"/>
        </a:xfrm>
      </p:grpSpPr>
      <p:sp>
        <p:nvSpPr>
          <p:cNvPr id="1617" name="Google Shape;1617;p155"/>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1618" name="Google Shape;1618;p155"/>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619" name="Google Shape;1619;p155"/>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1620" name="Google Shape;1620;p155"/>
          <p:cNvSpPr txBox="1"/>
          <p:nvPr/>
        </p:nvSpPr>
        <p:spPr>
          <a:xfrm>
            <a:off x="478375" y="1786800"/>
            <a:ext cx="4572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Docker compose</a:t>
            </a:r>
            <a:endParaRPr sz="4500">
              <a:solidFill>
                <a:srgbClr val="E5F2FC"/>
              </a:solidFill>
              <a:latin typeface="Nunito SemiBold"/>
              <a:ea typeface="Nunito SemiBold"/>
              <a:cs typeface="Nunito SemiBold"/>
              <a:sym typeface="Nunito SemiBold"/>
            </a:endParaRPr>
          </a:p>
        </p:txBody>
      </p:sp>
      <p:sp>
        <p:nvSpPr>
          <p:cNvPr id="1621" name="Google Shape;1621;p1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5" name="Shape 1625"/>
        <p:cNvGrpSpPr/>
        <p:nvPr/>
      </p:nvGrpSpPr>
      <p:grpSpPr>
        <a:xfrm>
          <a:off x="0" y="0"/>
          <a:ext cx="0" cy="0"/>
          <a:chOff x="0" y="0"/>
          <a:chExt cx="0" cy="0"/>
        </a:xfrm>
      </p:grpSpPr>
      <p:sp>
        <p:nvSpPr>
          <p:cNvPr id="1626" name="Google Shape;1626;p156"/>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627" name="Google Shape;1627;p1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628" name="Google Shape;1628;p15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629" name="Google Shape;1629;p15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Compose</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Definition</a:t>
            </a:r>
            <a:endParaRPr sz="2000">
              <a:solidFill>
                <a:srgbClr val="073763"/>
              </a:solidFill>
              <a:latin typeface="Maven Pro"/>
              <a:ea typeface="Maven Pro"/>
              <a:cs typeface="Maven Pro"/>
              <a:sym typeface="Maven Pro"/>
            </a:endParaRPr>
          </a:p>
        </p:txBody>
      </p:sp>
      <p:sp>
        <p:nvSpPr>
          <p:cNvPr id="1630" name="Google Shape;1630;p156"/>
          <p:cNvSpPr txBox="1"/>
          <p:nvPr/>
        </p:nvSpPr>
        <p:spPr>
          <a:xfrm>
            <a:off x="687700" y="1273875"/>
            <a:ext cx="3150300" cy="1200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Clr>
                <a:schemeClr val="dk1"/>
              </a:buClr>
              <a:buSzPts val="1100"/>
              <a:buFont typeface="Arial"/>
              <a:buNone/>
            </a:pPr>
            <a:r>
              <a:rPr lang="en-GB" sz="1100">
                <a:solidFill>
                  <a:srgbClr val="00084D"/>
                </a:solidFill>
                <a:latin typeface="Maven Pro"/>
                <a:ea typeface="Maven Pro"/>
                <a:cs typeface="Maven Pro"/>
                <a:sym typeface="Maven Pro"/>
              </a:rPr>
              <a:t>Docker Compose est un outil permettant de définir et de gérer des applications multi-conteneurs avec Docker. Il utilise un fichier YAML (docker-compose.yml) pour décrire la configuration des services, réseaux et volumes nécessaires à une application.</a:t>
            </a:r>
            <a:endParaRPr sz="1100">
              <a:solidFill>
                <a:srgbClr val="00084D"/>
              </a:solidFill>
              <a:latin typeface="Maven Pro"/>
              <a:ea typeface="Maven Pro"/>
              <a:cs typeface="Maven Pro"/>
              <a:sym typeface="Maven Pro"/>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4" name="Shape 1634"/>
        <p:cNvGrpSpPr/>
        <p:nvPr/>
      </p:nvGrpSpPr>
      <p:grpSpPr>
        <a:xfrm>
          <a:off x="0" y="0"/>
          <a:ext cx="0" cy="0"/>
          <a:chOff x="0" y="0"/>
          <a:chExt cx="0" cy="0"/>
        </a:xfrm>
      </p:grpSpPr>
      <p:sp>
        <p:nvSpPr>
          <p:cNvPr id="1635" name="Google Shape;1635;p157"/>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636" name="Google Shape;1636;p1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637" name="Google Shape;1637;p15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638" name="Google Shape;1638;p15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Compose</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Definition</a:t>
            </a:r>
            <a:endParaRPr sz="2000">
              <a:solidFill>
                <a:srgbClr val="073763"/>
              </a:solidFill>
              <a:latin typeface="Maven Pro"/>
              <a:ea typeface="Maven Pro"/>
              <a:cs typeface="Maven Pro"/>
              <a:sym typeface="Maven Pro"/>
            </a:endParaRPr>
          </a:p>
        </p:txBody>
      </p:sp>
      <p:sp>
        <p:nvSpPr>
          <p:cNvPr id="1639" name="Google Shape;1639;p157"/>
          <p:cNvSpPr txBox="1"/>
          <p:nvPr/>
        </p:nvSpPr>
        <p:spPr>
          <a:xfrm>
            <a:off x="687700" y="1273875"/>
            <a:ext cx="3150300" cy="1200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Clr>
                <a:schemeClr val="dk1"/>
              </a:buClr>
              <a:buSzPts val="1100"/>
              <a:buFont typeface="Arial"/>
              <a:buNone/>
            </a:pPr>
            <a:r>
              <a:rPr lang="en-GB" sz="1100">
                <a:solidFill>
                  <a:srgbClr val="00084D"/>
                </a:solidFill>
                <a:latin typeface="Maven Pro"/>
                <a:ea typeface="Maven Pro"/>
                <a:cs typeface="Maven Pro"/>
                <a:sym typeface="Maven Pro"/>
              </a:rPr>
              <a:t>Docker Compose est un outil permettant de définir et de gérer des applications multi-conteneurs avec Docker. Il utilise un fichier YAML (docker-compose.yml) pour décrire la configuration des services, réseaux et volumes nécessaires à une application.</a:t>
            </a:r>
            <a:endParaRPr sz="1100">
              <a:solidFill>
                <a:srgbClr val="00084D"/>
              </a:solidFill>
              <a:latin typeface="Maven Pro"/>
              <a:ea typeface="Maven Pro"/>
              <a:cs typeface="Maven Pro"/>
              <a:sym typeface="Maven Pro"/>
            </a:endParaRPr>
          </a:p>
        </p:txBody>
      </p:sp>
      <p:pic>
        <p:nvPicPr>
          <p:cNvPr id="1640" name="Google Shape;1640;p157"/>
          <p:cNvPicPr preferRelativeResize="0"/>
          <p:nvPr/>
        </p:nvPicPr>
        <p:blipFill>
          <a:blip r:embed="rId4">
            <a:alphaModFix/>
          </a:blip>
          <a:stretch>
            <a:fillRect/>
          </a:stretch>
        </p:blipFill>
        <p:spPr>
          <a:xfrm>
            <a:off x="4572001" y="368150"/>
            <a:ext cx="3511099" cy="440720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sp>
        <p:nvSpPr>
          <p:cNvPr id="1645" name="Google Shape;1645;p158"/>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646" name="Google Shape;1646;p1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647" name="Google Shape;1647;p15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648" name="Google Shape;1648;p15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Compose</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Definition</a:t>
            </a:r>
            <a:endParaRPr sz="2000">
              <a:solidFill>
                <a:srgbClr val="073763"/>
              </a:solidFill>
              <a:latin typeface="Maven Pro"/>
              <a:ea typeface="Maven Pro"/>
              <a:cs typeface="Maven Pro"/>
              <a:sym typeface="Maven Pro"/>
            </a:endParaRPr>
          </a:p>
        </p:txBody>
      </p:sp>
      <p:sp>
        <p:nvSpPr>
          <p:cNvPr id="1649" name="Google Shape;1649;p158"/>
          <p:cNvSpPr txBox="1"/>
          <p:nvPr/>
        </p:nvSpPr>
        <p:spPr>
          <a:xfrm>
            <a:off x="687700" y="1273875"/>
            <a:ext cx="3150300" cy="1200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Clr>
                <a:schemeClr val="dk1"/>
              </a:buClr>
              <a:buSzPts val="1100"/>
              <a:buFont typeface="Arial"/>
              <a:buNone/>
            </a:pPr>
            <a:r>
              <a:rPr lang="en-GB" sz="1100">
                <a:solidFill>
                  <a:srgbClr val="00084D"/>
                </a:solidFill>
                <a:latin typeface="Maven Pro"/>
                <a:ea typeface="Maven Pro"/>
                <a:cs typeface="Maven Pro"/>
                <a:sym typeface="Maven Pro"/>
              </a:rPr>
              <a:t>Docker Compose est un outil permettant de définir et de gérer des applications multi-conteneurs avec Docker. Il utilise un fichier YAML (docker-compose.yml) pour décrire la configuration des services, réseaux et volumes nécessaires à une application.</a:t>
            </a:r>
            <a:endParaRPr sz="1100">
              <a:solidFill>
                <a:srgbClr val="00084D"/>
              </a:solidFill>
              <a:latin typeface="Maven Pro"/>
              <a:ea typeface="Maven Pro"/>
              <a:cs typeface="Maven Pro"/>
              <a:sym typeface="Maven Pro"/>
            </a:endParaRPr>
          </a:p>
        </p:txBody>
      </p:sp>
      <p:pic>
        <p:nvPicPr>
          <p:cNvPr id="1650" name="Google Shape;1650;p158"/>
          <p:cNvPicPr preferRelativeResize="0"/>
          <p:nvPr/>
        </p:nvPicPr>
        <p:blipFill>
          <a:blip r:embed="rId4">
            <a:alphaModFix/>
          </a:blip>
          <a:stretch>
            <a:fillRect/>
          </a:stretch>
        </p:blipFill>
        <p:spPr>
          <a:xfrm>
            <a:off x="4572001" y="368150"/>
            <a:ext cx="3511099" cy="4407200"/>
          </a:xfrm>
          <a:prstGeom prst="rect">
            <a:avLst/>
          </a:prstGeom>
          <a:noFill/>
          <a:ln>
            <a:noFill/>
          </a:ln>
        </p:spPr>
      </p:pic>
      <p:sp>
        <p:nvSpPr>
          <p:cNvPr id="1651" name="Google Shape;1651;p158"/>
          <p:cNvSpPr txBox="1"/>
          <p:nvPr/>
        </p:nvSpPr>
        <p:spPr>
          <a:xfrm>
            <a:off x="762850" y="3141025"/>
            <a:ext cx="3000000" cy="1031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Clr>
                <a:schemeClr val="dk1"/>
              </a:buClr>
              <a:buSzPts val="1100"/>
              <a:buFont typeface="Arial"/>
              <a:buNone/>
            </a:pPr>
            <a:r>
              <a:rPr lang="en-GB" sz="1100">
                <a:solidFill>
                  <a:srgbClr val="00084D"/>
                </a:solidFill>
                <a:latin typeface="Maven Pro"/>
                <a:ea typeface="Maven Pro"/>
                <a:cs typeface="Maven Pro"/>
                <a:sym typeface="Maven Pro"/>
              </a:rPr>
              <a:t>Docker Compose est principalement utilisé en mode </a:t>
            </a:r>
            <a:r>
              <a:rPr b="1" lang="en-GB" sz="1100">
                <a:solidFill>
                  <a:srgbClr val="00084D"/>
                </a:solidFill>
                <a:latin typeface="Maven Pro"/>
                <a:ea typeface="Maven Pro"/>
                <a:cs typeface="Maven Pro"/>
                <a:sym typeface="Maven Pro"/>
              </a:rPr>
              <a:t>single-host</a:t>
            </a:r>
            <a:r>
              <a:rPr lang="en-GB" sz="1100">
                <a:solidFill>
                  <a:srgbClr val="00084D"/>
                </a:solidFill>
                <a:latin typeface="Maven Pro"/>
                <a:ea typeface="Maven Pro"/>
                <a:cs typeface="Maven Pro"/>
                <a:sym typeface="Maven Pro"/>
              </a:rPr>
              <a:t> (sur une seule machine). Pour une orchestration multi-hôtes, on utilise </a:t>
            </a:r>
            <a:r>
              <a:rPr b="1" lang="en-GB" sz="1100">
                <a:solidFill>
                  <a:srgbClr val="00084D"/>
                </a:solidFill>
                <a:latin typeface="Maven Pro"/>
                <a:ea typeface="Maven Pro"/>
                <a:cs typeface="Maven Pro"/>
                <a:sym typeface="Maven Pro"/>
              </a:rPr>
              <a:t>Docker Swarm</a:t>
            </a:r>
            <a:r>
              <a:rPr lang="en-GB" sz="1100">
                <a:solidFill>
                  <a:srgbClr val="00084D"/>
                </a:solidFill>
                <a:latin typeface="Maven Pro"/>
                <a:ea typeface="Maven Pro"/>
                <a:cs typeface="Maven Pro"/>
                <a:sym typeface="Maven Pro"/>
              </a:rPr>
              <a:t> ou Kubernetes.</a:t>
            </a:r>
            <a:endParaRPr sz="1100">
              <a:solidFill>
                <a:srgbClr val="00084D"/>
              </a:solidFill>
              <a:latin typeface="Maven Pro"/>
              <a:ea typeface="Maven Pro"/>
              <a:cs typeface="Maven Pro"/>
              <a:sym typeface="Maven Pro"/>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5" name="Shape 1655"/>
        <p:cNvGrpSpPr/>
        <p:nvPr/>
      </p:nvGrpSpPr>
      <p:grpSpPr>
        <a:xfrm>
          <a:off x="0" y="0"/>
          <a:ext cx="0" cy="0"/>
          <a:chOff x="0" y="0"/>
          <a:chExt cx="0" cy="0"/>
        </a:xfrm>
      </p:grpSpPr>
      <p:sp>
        <p:nvSpPr>
          <p:cNvPr id="1656" name="Google Shape;1656;p159"/>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657" name="Google Shape;1657;p1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658" name="Google Shape;1658;p15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659" name="Google Shape;1659;p15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Compose</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Definition</a:t>
            </a:r>
            <a:endParaRPr sz="2000">
              <a:solidFill>
                <a:srgbClr val="073763"/>
              </a:solidFill>
              <a:latin typeface="Maven Pro"/>
              <a:ea typeface="Maven Pro"/>
              <a:cs typeface="Maven Pro"/>
              <a:sym typeface="Maven Pro"/>
            </a:endParaRPr>
          </a:p>
        </p:txBody>
      </p:sp>
      <p:sp>
        <p:nvSpPr>
          <p:cNvPr id="1660" name="Google Shape;1660;p159"/>
          <p:cNvSpPr txBox="1"/>
          <p:nvPr/>
        </p:nvSpPr>
        <p:spPr>
          <a:xfrm>
            <a:off x="687700" y="1273875"/>
            <a:ext cx="3150300" cy="1847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Un service est une abstraction logicielle représentant une fonctionnalité distincte et autonome</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Clr>
                <a:schemeClr val="dk1"/>
              </a:buClr>
              <a:buSzPts val="1100"/>
              <a:buFont typeface="Arial"/>
              <a:buNone/>
            </a:pPr>
            <a:r>
              <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1200"/>
              </a:spcAft>
              <a:buClr>
                <a:schemeClr val="dk1"/>
              </a:buClr>
              <a:buSzPts val="1100"/>
              <a:buFont typeface="Arial"/>
              <a:buNone/>
            </a:pPr>
            <a:r>
              <a:rPr lang="en-GB" sz="1100">
                <a:solidFill>
                  <a:srgbClr val="00084D"/>
                </a:solidFill>
                <a:latin typeface="Maven Pro"/>
                <a:ea typeface="Maven Pro"/>
                <a:cs typeface="Maven Pro"/>
                <a:sym typeface="Maven Pro"/>
              </a:rPr>
              <a:t>Un service est une unité de déploiement qui exécute un conteneur et peut être répliquée sur plusieurs nœuds pour assurer la haute disponibilité et la tolérance aux pannes.</a:t>
            </a:r>
            <a:endParaRPr sz="1100">
              <a:solidFill>
                <a:srgbClr val="00084D"/>
              </a:solidFill>
              <a:latin typeface="Maven Pro"/>
              <a:ea typeface="Maven Pro"/>
              <a:cs typeface="Maven Pro"/>
              <a:sym typeface="Maven Pro"/>
            </a:endParaRPr>
          </a:p>
        </p:txBody>
      </p:sp>
      <p:pic>
        <p:nvPicPr>
          <p:cNvPr id="1661" name="Google Shape;1661;p159"/>
          <p:cNvPicPr preferRelativeResize="0"/>
          <p:nvPr/>
        </p:nvPicPr>
        <p:blipFill>
          <a:blip r:embed="rId4">
            <a:alphaModFix/>
          </a:blip>
          <a:stretch>
            <a:fillRect/>
          </a:stretch>
        </p:blipFill>
        <p:spPr>
          <a:xfrm>
            <a:off x="4572001" y="368150"/>
            <a:ext cx="3511099" cy="440720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5" name="Shape 1665"/>
        <p:cNvGrpSpPr/>
        <p:nvPr/>
      </p:nvGrpSpPr>
      <p:grpSpPr>
        <a:xfrm>
          <a:off x="0" y="0"/>
          <a:ext cx="0" cy="0"/>
          <a:chOff x="0" y="0"/>
          <a:chExt cx="0" cy="0"/>
        </a:xfrm>
      </p:grpSpPr>
      <p:sp>
        <p:nvSpPr>
          <p:cNvPr id="1666" name="Google Shape;1666;p160"/>
          <p:cNvSpPr/>
          <p:nvPr/>
        </p:nvSpPr>
        <p:spPr>
          <a:xfrm>
            <a:off x="0" y="0"/>
            <a:ext cx="9144000" cy="5143500"/>
          </a:xfrm>
          <a:prstGeom prst="rect">
            <a:avLst/>
          </a:prstGeom>
          <a:solidFill>
            <a:srgbClr val="00084D"/>
          </a:solidFill>
          <a:ln cap="flat" cmpd="sng" w="9525">
            <a:solidFill>
              <a:srgbClr val="E5F2F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E5F2FC"/>
              </a:solidFill>
              <a:latin typeface="Nunito"/>
              <a:ea typeface="Nunito"/>
              <a:cs typeface="Nunito"/>
              <a:sym typeface="Nunito"/>
            </a:endParaRPr>
          </a:p>
        </p:txBody>
      </p:sp>
      <p:pic>
        <p:nvPicPr>
          <p:cNvPr id="1667" name="Google Shape;1667;p160"/>
          <p:cNvPicPr preferRelativeResize="0"/>
          <p:nvPr/>
        </p:nvPicPr>
        <p:blipFill>
          <a:blip r:embed="rId3">
            <a:alphaModFix/>
          </a:blip>
          <a:stretch>
            <a:fillRect/>
          </a:stretch>
        </p:blipFill>
        <p:spPr>
          <a:xfrm>
            <a:off x="69525" y="4789342"/>
            <a:ext cx="408863" cy="322826"/>
          </a:xfrm>
          <a:prstGeom prst="rect">
            <a:avLst/>
          </a:prstGeom>
          <a:noFill/>
          <a:ln>
            <a:noFill/>
          </a:ln>
        </p:spPr>
      </p:pic>
      <p:pic>
        <p:nvPicPr>
          <p:cNvPr id="1668" name="Google Shape;1668;p160"/>
          <p:cNvPicPr preferRelativeResize="0"/>
          <p:nvPr/>
        </p:nvPicPr>
        <p:blipFill>
          <a:blip r:embed="rId4">
            <a:alphaModFix amt="10000"/>
          </a:blip>
          <a:stretch>
            <a:fillRect/>
          </a:stretch>
        </p:blipFill>
        <p:spPr>
          <a:xfrm>
            <a:off x="4000500" y="0"/>
            <a:ext cx="5143500" cy="5143500"/>
          </a:xfrm>
          <a:prstGeom prst="rect">
            <a:avLst/>
          </a:prstGeom>
          <a:noFill/>
          <a:ln>
            <a:noFill/>
          </a:ln>
        </p:spPr>
      </p:pic>
      <p:sp>
        <p:nvSpPr>
          <p:cNvPr id="1669" name="Google Shape;1669;p160"/>
          <p:cNvSpPr txBox="1"/>
          <p:nvPr/>
        </p:nvSpPr>
        <p:spPr>
          <a:xfrm>
            <a:off x="478375" y="1786800"/>
            <a:ext cx="4572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E5F2FC"/>
                </a:solidFill>
                <a:latin typeface="Nunito SemiBold"/>
                <a:ea typeface="Nunito SemiBold"/>
                <a:cs typeface="Nunito SemiBold"/>
                <a:sym typeface="Nunito SemiBold"/>
              </a:rPr>
              <a:t>Docker Swarm</a:t>
            </a:r>
            <a:endParaRPr sz="4500">
              <a:solidFill>
                <a:srgbClr val="E5F2FC"/>
              </a:solidFill>
              <a:latin typeface="Nunito SemiBold"/>
              <a:ea typeface="Nunito SemiBold"/>
              <a:cs typeface="Nunito SemiBold"/>
              <a:sym typeface="Nunito SemiBold"/>
            </a:endParaRPr>
          </a:p>
        </p:txBody>
      </p:sp>
      <p:sp>
        <p:nvSpPr>
          <p:cNvPr id="1670" name="Google Shape;1670;p1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4" name="Shape 1674"/>
        <p:cNvGrpSpPr/>
        <p:nvPr/>
      </p:nvGrpSpPr>
      <p:grpSpPr>
        <a:xfrm>
          <a:off x="0" y="0"/>
          <a:ext cx="0" cy="0"/>
          <a:chOff x="0" y="0"/>
          <a:chExt cx="0" cy="0"/>
        </a:xfrm>
      </p:grpSpPr>
      <p:sp>
        <p:nvSpPr>
          <p:cNvPr id="1675" name="Google Shape;1675;p161"/>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676" name="Google Shape;1676;p1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677" name="Google Shape;1677;p16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678" name="Google Shape;1678;p16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Definition</a:t>
            </a:r>
            <a:endParaRPr sz="2000">
              <a:solidFill>
                <a:srgbClr val="073763"/>
              </a:solidFill>
              <a:latin typeface="Maven Pro"/>
              <a:ea typeface="Maven Pro"/>
              <a:cs typeface="Maven Pro"/>
              <a:sym typeface="Maven Pro"/>
            </a:endParaRPr>
          </a:p>
        </p:txBody>
      </p:sp>
      <p:sp>
        <p:nvSpPr>
          <p:cNvPr id="1679" name="Google Shape;1679;p161"/>
          <p:cNvSpPr txBox="1"/>
          <p:nvPr/>
        </p:nvSpPr>
        <p:spPr>
          <a:xfrm>
            <a:off x="687700" y="1273875"/>
            <a:ext cx="3150300" cy="1708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1200"/>
              </a:spcAft>
              <a:buClr>
                <a:schemeClr val="dk1"/>
              </a:buClr>
              <a:buSzPts val="1100"/>
              <a:buFont typeface="Arial"/>
              <a:buNone/>
            </a:pPr>
            <a:r>
              <a:rPr lang="en-GB" sz="1100">
                <a:solidFill>
                  <a:srgbClr val="00084D"/>
                </a:solidFill>
                <a:latin typeface="Maven Pro"/>
                <a:ea typeface="Maven Pro"/>
                <a:cs typeface="Maven Pro"/>
                <a:sym typeface="Maven Pro"/>
              </a:rPr>
              <a:t>Docker Swarm est l’orchestrateur natif de Docker permettant de gérer et de déployer des conteneurs sur plusieurs machines en mode cluster. Il permet de transformer un ensemble de machines exécutant Docker en un cluster unique et unifié, appelé Swarm, facilitant ainsi la gestion, la mise à l’échelle et la haute disponibilité des services conteneurisés.</a:t>
            </a:r>
            <a:endParaRPr sz="1100">
              <a:solidFill>
                <a:srgbClr val="00084D"/>
              </a:solidFill>
              <a:latin typeface="Maven Pro"/>
              <a:ea typeface="Maven Pro"/>
              <a:cs typeface="Maven Pro"/>
              <a:sym typeface="Maven Pro"/>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sp>
        <p:nvSpPr>
          <p:cNvPr id="1684" name="Google Shape;1684;p162"/>
          <p:cNvSpPr/>
          <p:nvPr/>
        </p:nvSpPr>
        <p:spPr>
          <a:xfrm>
            <a:off x="0" y="0"/>
            <a:ext cx="9144000" cy="5143500"/>
          </a:xfrm>
          <a:prstGeom prst="rect">
            <a:avLst/>
          </a:prstGeom>
          <a:solidFill>
            <a:srgbClr val="E5F2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1685" name="Google Shape;1685;p1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686" name="Google Shape;1686;p16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687" name="Google Shape;1687;p16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Architecture</a:t>
            </a:r>
            <a:endParaRPr sz="2000">
              <a:solidFill>
                <a:srgbClr val="073763"/>
              </a:solidFill>
              <a:latin typeface="Maven Pro"/>
              <a:ea typeface="Maven Pro"/>
              <a:cs typeface="Maven Pro"/>
              <a:sym typeface="Maven Pro"/>
            </a:endParaRPr>
          </a:p>
        </p:txBody>
      </p:sp>
      <p:pic>
        <p:nvPicPr>
          <p:cNvPr id="1688" name="Google Shape;1688;p162"/>
          <p:cNvPicPr preferRelativeResize="0"/>
          <p:nvPr/>
        </p:nvPicPr>
        <p:blipFill>
          <a:blip r:embed="rId4">
            <a:alphaModFix/>
          </a:blip>
          <a:stretch>
            <a:fillRect/>
          </a:stretch>
        </p:blipFill>
        <p:spPr>
          <a:xfrm>
            <a:off x="3476613" y="295300"/>
            <a:ext cx="5667375" cy="4078801"/>
          </a:xfrm>
          <a:prstGeom prst="rect">
            <a:avLst/>
          </a:prstGeom>
          <a:noFill/>
          <a:ln>
            <a:noFill/>
          </a:ln>
        </p:spPr>
      </p:pic>
      <p:sp>
        <p:nvSpPr>
          <p:cNvPr id="1689" name="Google Shape;1689;p162"/>
          <p:cNvSpPr txBox="1"/>
          <p:nvPr/>
        </p:nvSpPr>
        <p:spPr>
          <a:xfrm>
            <a:off x="292100" y="1680175"/>
            <a:ext cx="3000000" cy="1847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n-GB" sz="1100">
                <a:solidFill>
                  <a:srgbClr val="00084D"/>
                </a:solidFill>
                <a:latin typeface="Maven Pro"/>
                <a:ea typeface="Maven Pro"/>
                <a:cs typeface="Maven Pro"/>
                <a:sym typeface="Maven Pro"/>
              </a:rPr>
              <a:t>The </a:t>
            </a:r>
            <a:r>
              <a:rPr b="1" lang="en-GB" sz="1100">
                <a:solidFill>
                  <a:srgbClr val="00084D"/>
                </a:solidFill>
                <a:latin typeface="Maven Pro"/>
                <a:ea typeface="Maven Pro"/>
                <a:cs typeface="Maven Pro"/>
                <a:sym typeface="Maven Pro"/>
              </a:rPr>
              <a:t>manager nodes</a:t>
            </a:r>
            <a:r>
              <a:rPr lang="en-GB" sz="1100">
                <a:solidFill>
                  <a:srgbClr val="00084D"/>
                </a:solidFill>
                <a:latin typeface="Maven Pro"/>
                <a:ea typeface="Maven Pro"/>
                <a:cs typeface="Maven Pro"/>
                <a:sym typeface="Maven Pro"/>
              </a:rPr>
              <a:t> manage the swarm while the </a:t>
            </a:r>
            <a:r>
              <a:rPr b="1" lang="en-GB" sz="1100">
                <a:solidFill>
                  <a:srgbClr val="00084D"/>
                </a:solidFill>
                <a:latin typeface="Maven Pro"/>
                <a:ea typeface="Maven Pro"/>
                <a:cs typeface="Maven Pro"/>
                <a:sym typeface="Maven Pro"/>
              </a:rPr>
              <a:t>worker nodes</a:t>
            </a:r>
            <a:r>
              <a:rPr lang="en-GB" sz="1100">
                <a:solidFill>
                  <a:srgbClr val="00084D"/>
                </a:solidFill>
                <a:latin typeface="Maven Pro"/>
                <a:ea typeface="Maven Pro"/>
                <a:cs typeface="Maven Pro"/>
                <a:sym typeface="Maven Pro"/>
              </a:rPr>
              <a:t> execute the applications deployed into the swarm.</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None/>
            </a:pPr>
            <a:r>
              <a:rPr lang="en-GB" sz="1100">
                <a:solidFill>
                  <a:srgbClr val="00084D"/>
                </a:solidFill>
                <a:latin typeface="Maven Pro"/>
                <a:ea typeface="Maven Pro"/>
                <a:cs typeface="Maven Pro"/>
                <a:sym typeface="Maven Pro"/>
              </a:rPr>
              <a:t>Each manager has a complete copy of the full state of the Swarm in its local raft store.</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1200"/>
              </a:spcAft>
              <a:buNone/>
            </a:pPr>
            <a:r>
              <a:rPr lang="en-GB" sz="1100">
                <a:solidFill>
                  <a:srgbClr val="00084D"/>
                </a:solidFill>
                <a:latin typeface="Maven Pro"/>
                <a:ea typeface="Maven Pro"/>
                <a:cs typeface="Maven Pro"/>
                <a:sym typeface="Maven Pro"/>
              </a:rPr>
              <a:t>Managers synchronously communicate with each other, and their raft stores are always in sync.</a:t>
            </a:r>
            <a:endParaRPr sz="1100">
              <a:solidFill>
                <a:srgbClr val="00084D"/>
              </a:solidFill>
              <a:latin typeface="Maven Pro"/>
              <a:ea typeface="Maven Pro"/>
              <a:cs typeface="Maven Pro"/>
              <a:sym typeface="Maven Pro"/>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3" name="Shape 1693"/>
        <p:cNvGrpSpPr/>
        <p:nvPr/>
      </p:nvGrpSpPr>
      <p:grpSpPr>
        <a:xfrm>
          <a:off x="0" y="0"/>
          <a:ext cx="0" cy="0"/>
          <a:chOff x="0" y="0"/>
          <a:chExt cx="0" cy="0"/>
        </a:xfrm>
      </p:grpSpPr>
      <p:sp>
        <p:nvSpPr>
          <p:cNvPr id="1694" name="Google Shape;1694;p1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695" name="Google Shape;1695;p16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696" name="Google Shape;1696;p16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Swarm Nodes</a:t>
            </a:r>
            <a:endParaRPr sz="2000">
              <a:solidFill>
                <a:srgbClr val="073763"/>
              </a:solidFill>
              <a:latin typeface="Maven Pro"/>
              <a:ea typeface="Maven Pro"/>
              <a:cs typeface="Maven Pro"/>
              <a:sym typeface="Maven Pro"/>
            </a:endParaRPr>
          </a:p>
        </p:txBody>
      </p:sp>
      <p:sp>
        <p:nvSpPr>
          <p:cNvPr id="1697" name="Google Shape;1697;p163"/>
          <p:cNvSpPr txBox="1"/>
          <p:nvPr/>
        </p:nvSpPr>
        <p:spPr>
          <a:xfrm>
            <a:off x="687700" y="1273875"/>
            <a:ext cx="3150300" cy="2001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A Swarm is a collection of nodes. We can classify a node as a physical computer or Virtual Machine</a:t>
            </a:r>
            <a:endParaRPr sz="1100">
              <a:solidFill>
                <a:srgbClr val="00084D"/>
              </a:solidFill>
              <a:latin typeface="Maven Pro"/>
              <a:ea typeface="Maven Pro"/>
              <a:cs typeface="Maven Pro"/>
              <a:sym typeface="Maven Pro"/>
            </a:endParaRPr>
          </a:p>
          <a:p>
            <a:pPr indent="0" lvl="0" marL="0" rtl="0" algn="just">
              <a:spcBef>
                <a:spcPts val="120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(VM). Physical computers these days are often referred to as bare metal.</a:t>
            </a:r>
            <a:endParaRPr sz="1100">
              <a:solidFill>
                <a:srgbClr val="00084D"/>
              </a:solidFill>
              <a:latin typeface="Maven Pro"/>
              <a:ea typeface="Maven Pro"/>
              <a:cs typeface="Maven Pro"/>
              <a:sym typeface="Maven Pro"/>
            </a:endParaRPr>
          </a:p>
          <a:p>
            <a:pPr indent="0" lvl="0" marL="0" rtl="0" algn="just">
              <a:spcBef>
                <a:spcPts val="120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When we install Docker on such a node, we call this node a </a:t>
            </a:r>
            <a:r>
              <a:rPr b="1" lang="en-GB" sz="1100">
                <a:solidFill>
                  <a:srgbClr val="00084D"/>
                </a:solidFill>
                <a:latin typeface="Maven Pro"/>
                <a:ea typeface="Maven Pro"/>
                <a:cs typeface="Maven Pro"/>
                <a:sym typeface="Maven Pro"/>
              </a:rPr>
              <a:t>Docker host</a:t>
            </a:r>
            <a:r>
              <a:rPr lang="en-GB" sz="1100">
                <a:solidFill>
                  <a:srgbClr val="00084D"/>
                </a:solidFill>
                <a:latin typeface="Maven Pro"/>
                <a:ea typeface="Maven Pro"/>
                <a:cs typeface="Maven Pro"/>
                <a:sym typeface="Maven Pro"/>
              </a:rPr>
              <a:t>.</a:t>
            </a:r>
            <a:endParaRPr sz="1100">
              <a:solidFill>
                <a:srgbClr val="00084D"/>
              </a:solidFill>
              <a:latin typeface="Maven Pro"/>
              <a:ea typeface="Maven Pro"/>
              <a:cs typeface="Maven Pro"/>
              <a:sym typeface="Maven Pro"/>
            </a:endParaRPr>
          </a:p>
          <a:p>
            <a:pPr indent="0" lvl="0" marL="0" rtl="0" algn="just">
              <a:spcBef>
                <a:spcPts val="1200"/>
              </a:spcBef>
              <a:spcAft>
                <a:spcPts val="1200"/>
              </a:spcAft>
              <a:buClr>
                <a:schemeClr val="dk1"/>
              </a:buClr>
              <a:buSzPts val="1100"/>
              <a:buFont typeface="Arial"/>
              <a:buNone/>
            </a:pPr>
            <a:r>
              <a:t/>
            </a:r>
            <a:endParaRPr sz="1100">
              <a:solidFill>
                <a:srgbClr val="00084D"/>
              </a:solidFill>
              <a:latin typeface="Maven Pro"/>
              <a:ea typeface="Maven Pro"/>
              <a:cs typeface="Maven Pro"/>
              <a:sym typeface="Maven Pro"/>
            </a:endParaRPr>
          </a:p>
        </p:txBody>
      </p:sp>
      <p:pic>
        <p:nvPicPr>
          <p:cNvPr id="1698" name="Google Shape;1698;p163"/>
          <p:cNvPicPr preferRelativeResize="0"/>
          <p:nvPr/>
        </p:nvPicPr>
        <p:blipFill>
          <a:blip r:embed="rId4">
            <a:alphaModFix/>
          </a:blip>
          <a:stretch>
            <a:fillRect/>
          </a:stretch>
        </p:blipFill>
        <p:spPr>
          <a:xfrm>
            <a:off x="4002597" y="948962"/>
            <a:ext cx="5018550" cy="3245575"/>
          </a:xfrm>
          <a:prstGeom prst="rect">
            <a:avLst/>
          </a:prstGeom>
          <a:noFill/>
          <a:ln>
            <a:noFill/>
          </a:ln>
        </p:spPr>
      </p:pic>
      <p:sp>
        <p:nvSpPr>
          <p:cNvPr id="1699" name="Google Shape;1699;p163"/>
          <p:cNvSpPr txBox="1"/>
          <p:nvPr/>
        </p:nvSpPr>
        <p:spPr>
          <a:xfrm>
            <a:off x="5107875" y="4309225"/>
            <a:ext cx="3413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rgbClr val="00084D"/>
                </a:solidFill>
                <a:latin typeface="Maven Pro"/>
                <a:ea typeface="Maven Pro"/>
                <a:cs typeface="Maven Pro"/>
                <a:sym typeface="Maven Pro"/>
              </a:rPr>
              <a:t>Bare-metal and VM types of Docker Swarm nodes</a:t>
            </a:r>
            <a:endParaRPr/>
          </a:p>
        </p:txBody>
      </p:sp>
      <p:sp>
        <p:nvSpPr>
          <p:cNvPr id="1700" name="Google Shape;1700;p163"/>
          <p:cNvSpPr txBox="1"/>
          <p:nvPr/>
        </p:nvSpPr>
        <p:spPr>
          <a:xfrm>
            <a:off x="762850" y="2988175"/>
            <a:ext cx="3000000" cy="1693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n-GB" sz="1100">
                <a:solidFill>
                  <a:srgbClr val="00084D"/>
                </a:solidFill>
                <a:latin typeface="Maven Pro"/>
                <a:ea typeface="Maven Pro"/>
                <a:cs typeface="Maven Pro"/>
                <a:sym typeface="Maven Pro"/>
              </a:rPr>
              <a:t>To become a member of a Docker Swarm, a node must be a Docker host. A node in a Docker Swarm</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1200"/>
              </a:spcAft>
              <a:buNone/>
            </a:pPr>
            <a:r>
              <a:rPr lang="en-GB" sz="1100">
                <a:solidFill>
                  <a:srgbClr val="00084D"/>
                </a:solidFill>
                <a:latin typeface="Maven Pro"/>
                <a:ea typeface="Maven Pro"/>
                <a:cs typeface="Maven Pro"/>
                <a:sym typeface="Maven Pro"/>
              </a:rPr>
              <a:t>can have one of two roles: it can be a </a:t>
            </a:r>
            <a:r>
              <a:rPr b="1" lang="en-GB" sz="1100">
                <a:solidFill>
                  <a:srgbClr val="00084D"/>
                </a:solidFill>
                <a:latin typeface="Maven Pro"/>
                <a:ea typeface="Maven Pro"/>
                <a:cs typeface="Maven Pro"/>
                <a:sym typeface="Maven Pro"/>
              </a:rPr>
              <a:t>manager</a:t>
            </a:r>
            <a:r>
              <a:rPr lang="en-GB" sz="1100">
                <a:solidFill>
                  <a:srgbClr val="00084D"/>
                </a:solidFill>
                <a:latin typeface="Maven Pro"/>
                <a:ea typeface="Maven Pro"/>
                <a:cs typeface="Maven Pro"/>
                <a:sym typeface="Maven Pro"/>
              </a:rPr>
              <a:t> or it can be a </a:t>
            </a:r>
            <a:r>
              <a:rPr b="1" lang="en-GB" sz="1100">
                <a:solidFill>
                  <a:srgbClr val="00084D"/>
                </a:solidFill>
                <a:latin typeface="Maven Pro"/>
                <a:ea typeface="Maven Pro"/>
                <a:cs typeface="Maven Pro"/>
                <a:sym typeface="Maven Pro"/>
              </a:rPr>
              <a:t>worker</a:t>
            </a:r>
            <a:r>
              <a:rPr lang="en-GB" sz="1100">
                <a:solidFill>
                  <a:srgbClr val="00084D"/>
                </a:solidFill>
                <a:latin typeface="Maven Pro"/>
                <a:ea typeface="Maven Pro"/>
                <a:cs typeface="Maven Pro"/>
                <a:sym typeface="Maven Pro"/>
              </a:rPr>
              <a:t>. Manager nodes do what their name implies; they manage the Swarm. The worker nodes, in turn, execute the application workload.</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4" name="Shape 1704"/>
        <p:cNvGrpSpPr/>
        <p:nvPr/>
      </p:nvGrpSpPr>
      <p:grpSpPr>
        <a:xfrm>
          <a:off x="0" y="0"/>
          <a:ext cx="0" cy="0"/>
          <a:chOff x="0" y="0"/>
          <a:chExt cx="0" cy="0"/>
        </a:xfrm>
      </p:grpSpPr>
      <p:sp>
        <p:nvSpPr>
          <p:cNvPr id="1705" name="Google Shape;1705;p1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06" name="Google Shape;1706;p16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07" name="Google Shape;1707;p16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Swarm Nodes</a:t>
            </a:r>
            <a:endParaRPr sz="2000">
              <a:solidFill>
                <a:srgbClr val="073763"/>
              </a:solidFill>
              <a:latin typeface="Maven Pro"/>
              <a:ea typeface="Maven Pro"/>
              <a:cs typeface="Maven Pro"/>
              <a:sym typeface="Maven Pro"/>
            </a:endParaRPr>
          </a:p>
        </p:txBody>
      </p:sp>
      <p:sp>
        <p:nvSpPr>
          <p:cNvPr id="1708" name="Google Shape;1708;p164"/>
          <p:cNvSpPr txBox="1"/>
          <p:nvPr/>
        </p:nvSpPr>
        <p:spPr>
          <a:xfrm>
            <a:off x="741475" y="1371050"/>
            <a:ext cx="3000000" cy="2862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lang="en-GB" sz="1100">
                <a:solidFill>
                  <a:srgbClr val="00084D"/>
                </a:solidFill>
                <a:latin typeface="Maven Pro"/>
                <a:ea typeface="Maven Pro"/>
                <a:cs typeface="Maven Pro"/>
                <a:sym typeface="Maven Pro"/>
              </a:rPr>
              <a:t>To become a member of a Docker Swarm, a node must be a Docker host. A node in a Docker Swarm</a:t>
            </a:r>
            <a:endParaRPr sz="1100">
              <a:solidFill>
                <a:srgbClr val="00084D"/>
              </a:solidFill>
              <a:latin typeface="Maven Pro"/>
              <a:ea typeface="Maven Pro"/>
              <a:cs typeface="Maven Pro"/>
              <a:sym typeface="Maven Pro"/>
            </a:endParaRPr>
          </a:p>
          <a:p>
            <a:pPr indent="0" lvl="0" marL="0" marR="0" rtl="0" algn="just">
              <a:lnSpc>
                <a:spcPct val="100000"/>
              </a:lnSpc>
              <a:spcBef>
                <a:spcPts val="1200"/>
              </a:spcBef>
              <a:spcAft>
                <a:spcPts val="0"/>
              </a:spcAft>
              <a:buNone/>
            </a:pPr>
            <a:r>
              <a:rPr lang="en-GB" sz="1100">
                <a:solidFill>
                  <a:srgbClr val="00084D"/>
                </a:solidFill>
                <a:latin typeface="Maven Pro"/>
                <a:ea typeface="Maven Pro"/>
                <a:cs typeface="Maven Pro"/>
                <a:sym typeface="Maven Pro"/>
              </a:rPr>
              <a:t>can have one of two roles: it can be a </a:t>
            </a:r>
            <a:r>
              <a:rPr b="1" lang="en-GB" sz="1100">
                <a:solidFill>
                  <a:srgbClr val="00084D"/>
                </a:solidFill>
                <a:latin typeface="Maven Pro"/>
                <a:ea typeface="Maven Pro"/>
                <a:cs typeface="Maven Pro"/>
                <a:sym typeface="Maven Pro"/>
              </a:rPr>
              <a:t>manager</a:t>
            </a:r>
            <a:r>
              <a:rPr lang="en-GB" sz="1100">
                <a:solidFill>
                  <a:srgbClr val="00084D"/>
                </a:solidFill>
                <a:latin typeface="Maven Pro"/>
                <a:ea typeface="Maven Pro"/>
                <a:cs typeface="Maven Pro"/>
                <a:sym typeface="Maven Pro"/>
              </a:rPr>
              <a:t> or it can be a </a:t>
            </a:r>
            <a:r>
              <a:rPr b="1" lang="en-GB" sz="1100">
                <a:solidFill>
                  <a:srgbClr val="00084D"/>
                </a:solidFill>
                <a:latin typeface="Maven Pro"/>
                <a:ea typeface="Maven Pro"/>
                <a:cs typeface="Maven Pro"/>
                <a:sym typeface="Maven Pro"/>
              </a:rPr>
              <a:t>worker</a:t>
            </a:r>
            <a:r>
              <a:rPr lang="en-GB" sz="1100">
                <a:solidFill>
                  <a:srgbClr val="00084D"/>
                </a:solidFill>
                <a:latin typeface="Maven Pro"/>
                <a:ea typeface="Maven Pro"/>
                <a:cs typeface="Maven Pro"/>
                <a:sym typeface="Maven Pro"/>
              </a:rPr>
              <a:t>. Manager nodes do what their name implies; they manage the Swarm. The worker nodes, in turn, execute the application workload.</a:t>
            </a:r>
            <a:endParaRPr sz="1100">
              <a:solidFill>
                <a:srgbClr val="00084D"/>
              </a:solidFill>
              <a:latin typeface="Maven Pro"/>
              <a:ea typeface="Maven Pro"/>
              <a:cs typeface="Maven Pro"/>
              <a:sym typeface="Maven Pro"/>
            </a:endParaRPr>
          </a:p>
          <a:p>
            <a:pPr indent="0" lvl="0" marL="0" rtl="0" algn="just">
              <a:spcBef>
                <a:spcPts val="1200"/>
              </a:spcBef>
              <a:spcAft>
                <a:spcPts val="1200"/>
              </a:spcAft>
              <a:buNone/>
            </a:pPr>
            <a:r>
              <a:rPr lang="en-GB" sz="1100">
                <a:solidFill>
                  <a:srgbClr val="00084D"/>
                </a:solidFill>
                <a:latin typeface="Maven Pro"/>
                <a:ea typeface="Maven Pro"/>
                <a:cs typeface="Maven Pro"/>
                <a:sym typeface="Maven Pro"/>
              </a:rPr>
              <a:t>Technically, a manager node can also be a worker node and hence run the application workload although that is not recommended, especially if the Swarm is a production system running mission-critical applications.</a:t>
            </a:r>
            <a:endParaRPr sz="1100">
              <a:solidFill>
                <a:srgbClr val="00084D"/>
              </a:solidFill>
              <a:latin typeface="Maven Pro"/>
              <a:ea typeface="Maven Pro"/>
              <a:cs typeface="Maven Pro"/>
              <a:sym typeface="Maven Pro"/>
            </a:endParaRPr>
          </a:p>
        </p:txBody>
      </p:sp>
      <p:pic>
        <p:nvPicPr>
          <p:cNvPr id="1709" name="Google Shape;1709;p164"/>
          <p:cNvPicPr preferRelativeResize="0"/>
          <p:nvPr/>
        </p:nvPicPr>
        <p:blipFill>
          <a:blip r:embed="rId4">
            <a:alphaModFix/>
          </a:blip>
          <a:stretch>
            <a:fillRect/>
          </a:stretch>
        </p:blipFill>
        <p:spPr>
          <a:xfrm>
            <a:off x="3882549" y="587450"/>
            <a:ext cx="5261450" cy="378665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3" name="Shape 1713"/>
        <p:cNvGrpSpPr/>
        <p:nvPr/>
      </p:nvGrpSpPr>
      <p:grpSpPr>
        <a:xfrm>
          <a:off x="0" y="0"/>
          <a:ext cx="0" cy="0"/>
          <a:chOff x="0" y="0"/>
          <a:chExt cx="0" cy="0"/>
        </a:xfrm>
      </p:grpSpPr>
      <p:sp>
        <p:nvSpPr>
          <p:cNvPr id="1714" name="Google Shape;1714;p1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15" name="Google Shape;1715;p16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16" name="Google Shape;1716;p16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Raft leader election</a:t>
            </a:r>
            <a:endParaRPr sz="2000">
              <a:solidFill>
                <a:srgbClr val="073763"/>
              </a:solidFill>
              <a:latin typeface="Maven Pro"/>
              <a:ea typeface="Maven Pro"/>
              <a:cs typeface="Maven Pro"/>
              <a:sym typeface="Maven Pro"/>
            </a:endParaRPr>
          </a:p>
        </p:txBody>
      </p:sp>
      <p:sp>
        <p:nvSpPr>
          <p:cNvPr id="1717" name="Google Shape;1717;p165"/>
          <p:cNvSpPr txBox="1"/>
          <p:nvPr/>
        </p:nvSpPr>
        <p:spPr>
          <a:xfrm>
            <a:off x="687700" y="1273875"/>
            <a:ext cx="7506300" cy="3524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Raft uses a heartbeat mechanism to trigger leader election. When servers start up, they begin as followers. A server remains in the follower state as long as it receives valid Remote Procedure Calls (RPCs) from a leader or candidate. Leaders send periodic heartbeats to all followers in order to maintain their authority. If a follower receives no communication over a period of time called the election timeout, then it assumes there is no viable leader and begins an election to choose a new leader. During the election, each server will start a timer with a random time chosen. When this timer fires, the server turns itself from a follower into a candidate. At the same time, it increments the term and sends messages to all its peers asking for a vote and waits for the responses back.</a:t>
            </a:r>
            <a:endParaRPr sz="1100">
              <a:solidFill>
                <a:srgbClr val="00084D"/>
              </a:solidFill>
              <a:latin typeface="Maven Pro"/>
              <a:ea typeface="Maven Pro"/>
              <a:cs typeface="Maven Pro"/>
              <a:sym typeface="Maven Pro"/>
            </a:endParaRPr>
          </a:p>
          <a:p>
            <a:pPr indent="0" lvl="0" marL="0" rtl="0" algn="just">
              <a:spcBef>
                <a:spcPts val="120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In the context of the Raft consensus algorithm, a “term” corresponds to a round of election and serves as a logical clock for the system, allowing Raft to detect obsolete information such as stale leaders. Every time an election is initiated, the term value is incremented.</a:t>
            </a:r>
            <a:endParaRPr sz="1100">
              <a:solidFill>
                <a:srgbClr val="00084D"/>
              </a:solidFill>
              <a:latin typeface="Maven Pro"/>
              <a:ea typeface="Maven Pro"/>
              <a:cs typeface="Maven Pro"/>
              <a:sym typeface="Maven Pro"/>
            </a:endParaRPr>
          </a:p>
          <a:p>
            <a:pPr indent="0" lvl="0" marL="0" rtl="0" algn="just">
              <a:spcBef>
                <a:spcPts val="1200"/>
              </a:spcBef>
              <a:spcAft>
                <a:spcPts val="0"/>
              </a:spcAft>
              <a:buClr>
                <a:schemeClr val="dk1"/>
              </a:buClr>
              <a:buSzPts val="1100"/>
              <a:buFont typeface="Arial"/>
              <a:buNone/>
            </a:pPr>
            <a:r>
              <a:rPr lang="en-GB" sz="1100">
                <a:solidFill>
                  <a:srgbClr val="00084D"/>
                </a:solidFill>
                <a:latin typeface="Maven Pro"/>
                <a:ea typeface="Maven Pro"/>
                <a:cs typeface="Maven Pro"/>
                <a:sym typeface="Maven Pro"/>
              </a:rPr>
              <a:t>When a server receives a vote request, it casts its vote only if the candidate has a higher term or the candidate has the same term. Otherwise, the vote request will be rejected. One peer can only vote for one candidate for one term, but when it receives another vote request with a higher term than the candidate it voted for, it will discard its previous vote.</a:t>
            </a:r>
            <a:endParaRPr sz="1100">
              <a:solidFill>
                <a:srgbClr val="00084D"/>
              </a:solidFill>
              <a:latin typeface="Maven Pro"/>
              <a:ea typeface="Maven Pro"/>
              <a:cs typeface="Maven Pro"/>
              <a:sym typeface="Maven Pro"/>
            </a:endParaRPr>
          </a:p>
          <a:p>
            <a:pPr indent="0" lvl="0" marL="0" rtl="0" algn="just">
              <a:spcBef>
                <a:spcPts val="1200"/>
              </a:spcBef>
              <a:spcAft>
                <a:spcPts val="1200"/>
              </a:spcAft>
              <a:buClr>
                <a:schemeClr val="dk1"/>
              </a:buClr>
              <a:buSzPts val="1100"/>
              <a:buFont typeface="Arial"/>
              <a:buNone/>
            </a:pPr>
            <a:r>
              <a:rPr lang="en-GB" sz="1100">
                <a:solidFill>
                  <a:srgbClr val="00084D"/>
                </a:solidFill>
                <a:latin typeface="Maven Pro"/>
                <a:ea typeface="Maven Pro"/>
                <a:cs typeface="Maven Pro"/>
                <a:sym typeface="Maven Pro"/>
              </a:rPr>
              <a:t>In the context of Raft and many other distributed systems, “logs” refer to the state machine logs or operation logs, not to be confused with traditional application logs.</a:t>
            </a:r>
            <a:endParaRPr sz="1100">
              <a:solidFill>
                <a:srgbClr val="00084D"/>
              </a:solidFill>
              <a:latin typeface="Maven Pro"/>
              <a:ea typeface="Maven Pro"/>
              <a:cs typeface="Maven Pro"/>
              <a:sym typeface="Maven Pro"/>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1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23" name="Google Shape;1723;p16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24" name="Google Shape;1724;p16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Swarm Manager</a:t>
            </a:r>
            <a:endParaRPr sz="2000">
              <a:solidFill>
                <a:srgbClr val="073763"/>
              </a:solidFill>
              <a:latin typeface="Maven Pro"/>
              <a:ea typeface="Maven Pro"/>
              <a:cs typeface="Maven Pro"/>
              <a:sym typeface="Maven Pro"/>
            </a:endParaRPr>
          </a:p>
        </p:txBody>
      </p:sp>
      <p:sp>
        <p:nvSpPr>
          <p:cNvPr id="1725" name="Google Shape;1725;p166"/>
          <p:cNvSpPr txBox="1"/>
          <p:nvPr/>
        </p:nvSpPr>
        <p:spPr>
          <a:xfrm>
            <a:off x="687700" y="1273875"/>
            <a:ext cx="7506300" cy="3203700"/>
          </a:xfrm>
          <a:prstGeom prst="rect">
            <a:avLst/>
          </a:prstGeom>
          <a:noFill/>
          <a:ln>
            <a:noFill/>
          </a:ln>
        </p:spPr>
        <p:txBody>
          <a:bodyPr anchorCtr="0" anchor="t" bIns="91425" lIns="91425" spcFirstLastPara="1" rIns="91425" wrap="square" tIns="91425">
            <a:spAutoFit/>
          </a:bodyPr>
          <a:lstStyle/>
          <a:p>
            <a:pPr indent="0" lvl="0" marL="0" rtl="0" algn="just">
              <a:lnSpc>
                <a:spcPct val="178593"/>
              </a:lnSpc>
              <a:spcBef>
                <a:spcPts val="1000"/>
              </a:spcBef>
              <a:spcAft>
                <a:spcPts val="0"/>
              </a:spcAft>
              <a:buClr>
                <a:schemeClr val="dk1"/>
              </a:buClr>
              <a:buSzPts val="1100"/>
              <a:buFont typeface="Arial"/>
              <a:buNone/>
            </a:pPr>
            <a:r>
              <a:rPr b="1" lang="en-GB" sz="1100">
                <a:solidFill>
                  <a:srgbClr val="404040"/>
                </a:solidFill>
                <a:highlight>
                  <a:srgbClr val="FFFFFF"/>
                </a:highlight>
                <a:latin typeface="Maven Pro"/>
                <a:ea typeface="Maven Pro"/>
                <a:cs typeface="Maven Pro"/>
                <a:sym typeface="Maven Pro"/>
              </a:rPr>
              <a:t>Chaque Docker Swarm</a:t>
            </a:r>
            <a:r>
              <a:rPr lang="en-GB" sz="1100">
                <a:solidFill>
                  <a:srgbClr val="404040"/>
                </a:solidFill>
                <a:highlight>
                  <a:srgbClr val="FFFFFF"/>
                </a:highlight>
                <a:latin typeface="Maven Pro"/>
                <a:ea typeface="Maven Pro"/>
                <a:cs typeface="Maven Pro"/>
                <a:sym typeface="Maven Pro"/>
              </a:rPr>
              <a:t> doit inclure au moins </a:t>
            </a:r>
            <a:r>
              <a:rPr b="1" lang="en-GB" sz="1100">
                <a:solidFill>
                  <a:srgbClr val="404040"/>
                </a:solidFill>
                <a:highlight>
                  <a:srgbClr val="FFFFFF"/>
                </a:highlight>
                <a:latin typeface="Maven Pro"/>
                <a:ea typeface="Maven Pro"/>
                <a:cs typeface="Maven Pro"/>
                <a:sym typeface="Maven Pro"/>
              </a:rPr>
              <a:t>un nœud manager</a:t>
            </a:r>
            <a:r>
              <a:rPr lang="en-GB" sz="1100">
                <a:solidFill>
                  <a:srgbClr val="404040"/>
                </a:solidFill>
                <a:highlight>
                  <a:srgbClr val="FFFFFF"/>
                </a:highlight>
                <a:latin typeface="Maven Pro"/>
                <a:ea typeface="Maven Pro"/>
                <a:cs typeface="Maven Pro"/>
                <a:sym typeface="Maven Pro"/>
              </a:rPr>
              <a:t>. Pour des raisons de </a:t>
            </a:r>
            <a:r>
              <a:rPr b="1" lang="en-GB" sz="1100">
                <a:solidFill>
                  <a:srgbClr val="404040"/>
                </a:solidFill>
                <a:highlight>
                  <a:srgbClr val="FFFFFF"/>
                </a:highlight>
                <a:latin typeface="Maven Pro"/>
                <a:ea typeface="Maven Pro"/>
                <a:cs typeface="Maven Pro"/>
                <a:sym typeface="Maven Pro"/>
              </a:rPr>
              <a:t>haute disponibilité</a:t>
            </a:r>
            <a:r>
              <a:rPr lang="en-GB" sz="1100">
                <a:solidFill>
                  <a:srgbClr val="404040"/>
                </a:solidFill>
                <a:highlight>
                  <a:srgbClr val="FFFFFF"/>
                </a:highlight>
                <a:latin typeface="Maven Pro"/>
                <a:ea typeface="Maven Pro"/>
                <a:cs typeface="Maven Pro"/>
                <a:sym typeface="Maven Pro"/>
              </a:rPr>
              <a:t>, il est recommandé d'avoir </a:t>
            </a:r>
            <a:r>
              <a:rPr b="1" lang="en-GB" sz="1100">
                <a:solidFill>
                  <a:srgbClr val="404040"/>
                </a:solidFill>
                <a:highlight>
                  <a:srgbClr val="FFFFFF"/>
                </a:highlight>
                <a:latin typeface="Maven Pro"/>
                <a:ea typeface="Maven Pro"/>
                <a:cs typeface="Maven Pro"/>
                <a:sym typeface="Maven Pro"/>
              </a:rPr>
              <a:t>plusieurs nœuds managers</a:t>
            </a:r>
            <a:r>
              <a:rPr lang="en-GB" sz="1100">
                <a:solidFill>
                  <a:srgbClr val="404040"/>
                </a:solidFill>
                <a:highlight>
                  <a:srgbClr val="FFFFFF"/>
                </a:highlight>
                <a:latin typeface="Maven Pro"/>
                <a:ea typeface="Maven Pro"/>
                <a:cs typeface="Maven Pro"/>
                <a:sym typeface="Maven Pro"/>
              </a:rPr>
              <a:t> dans un Swarm, notamment dans des environnements de </a:t>
            </a:r>
            <a:r>
              <a:rPr b="1" lang="en-GB" sz="1100">
                <a:solidFill>
                  <a:srgbClr val="404040"/>
                </a:solidFill>
                <a:highlight>
                  <a:srgbClr val="FFFFFF"/>
                </a:highlight>
                <a:latin typeface="Maven Pro"/>
                <a:ea typeface="Maven Pro"/>
                <a:cs typeface="Maven Pro"/>
                <a:sym typeface="Maven Pro"/>
              </a:rPr>
              <a:t>production</a:t>
            </a:r>
            <a:r>
              <a:rPr lang="en-GB" sz="1100">
                <a:solidFill>
                  <a:srgbClr val="404040"/>
                </a:solidFill>
                <a:highlight>
                  <a:srgbClr val="FFFFFF"/>
                </a:highlight>
                <a:latin typeface="Maven Pro"/>
                <a:ea typeface="Maven Pro"/>
                <a:cs typeface="Maven Pro"/>
                <a:sym typeface="Maven Pro"/>
              </a:rPr>
              <a:t> ou similaires. Si plusieurs nœuds managers sont présents, ceux-ci collaborent en utilisant le </a:t>
            </a:r>
            <a:r>
              <a:rPr b="1" lang="en-GB" sz="1100">
                <a:solidFill>
                  <a:srgbClr val="404040"/>
                </a:solidFill>
                <a:highlight>
                  <a:srgbClr val="FFFFFF"/>
                </a:highlight>
                <a:latin typeface="Maven Pro"/>
                <a:ea typeface="Maven Pro"/>
                <a:cs typeface="Maven Pro"/>
                <a:sym typeface="Maven Pro"/>
              </a:rPr>
              <a:t>protocole de consensus Raft</a:t>
            </a:r>
            <a:r>
              <a:rPr lang="en-GB" sz="1100">
                <a:solidFill>
                  <a:srgbClr val="404040"/>
                </a:solidFill>
                <a:highlight>
                  <a:srgbClr val="FFFFFF"/>
                </a:highlight>
                <a:latin typeface="Maven Pro"/>
                <a:ea typeface="Maven Pro"/>
                <a:cs typeface="Maven Pro"/>
                <a:sym typeface="Maven Pro"/>
              </a:rPr>
              <a:t>. Ce protocole est une norme couramment utilisée lorsque plusieurs entités doivent travailler ensemble et s'accorder en permanence sur la prochaine activité à exécuter.</a:t>
            </a:r>
            <a:endParaRPr sz="1100">
              <a:solidFill>
                <a:srgbClr val="404040"/>
              </a:solidFill>
              <a:highlight>
                <a:srgbClr val="FFFFFF"/>
              </a:highlight>
              <a:latin typeface="Maven Pro"/>
              <a:ea typeface="Maven Pro"/>
              <a:cs typeface="Maven Pro"/>
              <a:sym typeface="Maven Pro"/>
            </a:endParaRPr>
          </a:p>
          <a:p>
            <a:pPr indent="0" lvl="0" marL="0" rtl="0" algn="just">
              <a:lnSpc>
                <a:spcPct val="178593"/>
              </a:lnSpc>
              <a:spcBef>
                <a:spcPts val="1000"/>
              </a:spcBef>
              <a:spcAft>
                <a:spcPts val="1000"/>
              </a:spcAft>
              <a:buClr>
                <a:schemeClr val="dk1"/>
              </a:buClr>
              <a:buSzPts val="1100"/>
              <a:buFont typeface="Arial"/>
              <a:buNone/>
            </a:pPr>
            <a:r>
              <a:rPr lang="en-GB" sz="1100">
                <a:solidFill>
                  <a:srgbClr val="404040"/>
                </a:solidFill>
                <a:highlight>
                  <a:srgbClr val="FFFFFF"/>
                </a:highlight>
                <a:latin typeface="Maven Pro"/>
                <a:ea typeface="Maven Pro"/>
                <a:cs typeface="Maven Pro"/>
                <a:sym typeface="Maven Pro"/>
              </a:rPr>
              <a:t>Pour fonctionner efficacement, le protocole Raft exige un </a:t>
            </a:r>
            <a:r>
              <a:rPr b="1" lang="en-GB" sz="1100">
                <a:solidFill>
                  <a:srgbClr val="404040"/>
                </a:solidFill>
                <a:highlight>
                  <a:srgbClr val="FFFFFF"/>
                </a:highlight>
                <a:latin typeface="Maven Pro"/>
                <a:ea typeface="Maven Pro"/>
                <a:cs typeface="Maven Pro"/>
                <a:sym typeface="Maven Pro"/>
              </a:rPr>
              <a:t>nombre impair de membres</a:t>
            </a:r>
            <a:r>
              <a:rPr lang="en-GB" sz="1100">
                <a:solidFill>
                  <a:srgbClr val="404040"/>
                </a:solidFill>
                <a:highlight>
                  <a:srgbClr val="FFFFFF"/>
                </a:highlight>
                <a:latin typeface="Maven Pro"/>
                <a:ea typeface="Maven Pro"/>
                <a:cs typeface="Maven Pro"/>
                <a:sym typeface="Maven Pro"/>
              </a:rPr>
              <a:t> au sein du </a:t>
            </a:r>
            <a:r>
              <a:rPr b="1" lang="en-GB" sz="1100">
                <a:solidFill>
                  <a:srgbClr val="404040"/>
                </a:solidFill>
                <a:highlight>
                  <a:srgbClr val="FFFFFF"/>
                </a:highlight>
                <a:latin typeface="Maven Pro"/>
                <a:ea typeface="Maven Pro"/>
                <a:cs typeface="Maven Pro"/>
                <a:sym typeface="Maven Pro"/>
              </a:rPr>
              <a:t>groupe de consensus</a:t>
            </a:r>
            <a:r>
              <a:rPr lang="en-GB" sz="1100">
                <a:solidFill>
                  <a:srgbClr val="404040"/>
                </a:solidFill>
                <a:highlight>
                  <a:srgbClr val="FFFFFF"/>
                </a:highlight>
                <a:latin typeface="Maven Pro"/>
                <a:ea typeface="Maven Pro"/>
                <a:cs typeface="Maven Pro"/>
                <a:sym typeface="Maven Pro"/>
              </a:rPr>
              <a:t>. Ainsi, il faut toujours avoir </a:t>
            </a:r>
            <a:r>
              <a:rPr b="1" lang="en-GB" sz="1100">
                <a:solidFill>
                  <a:srgbClr val="404040"/>
                </a:solidFill>
                <a:highlight>
                  <a:srgbClr val="FFFFFF"/>
                </a:highlight>
                <a:latin typeface="Maven Pro"/>
                <a:ea typeface="Maven Pro"/>
                <a:cs typeface="Maven Pro"/>
                <a:sym typeface="Maven Pro"/>
              </a:rPr>
              <a:t>1, 3, 5, 7</a:t>
            </a:r>
            <a:r>
              <a:rPr lang="en-GB" sz="1100">
                <a:solidFill>
                  <a:srgbClr val="404040"/>
                </a:solidFill>
                <a:highlight>
                  <a:srgbClr val="FFFFFF"/>
                </a:highlight>
                <a:latin typeface="Maven Pro"/>
                <a:ea typeface="Maven Pro"/>
                <a:cs typeface="Maven Pro"/>
                <a:sym typeface="Maven Pro"/>
              </a:rPr>
              <a:t> (etc.) nœuds managers. Dans un tel groupe, un </a:t>
            </a:r>
            <a:r>
              <a:rPr b="1" lang="en-GB" sz="1100">
                <a:solidFill>
                  <a:srgbClr val="404040"/>
                </a:solidFill>
                <a:highlight>
                  <a:srgbClr val="FFFFFF"/>
                </a:highlight>
                <a:latin typeface="Maven Pro"/>
                <a:ea typeface="Maven Pro"/>
                <a:cs typeface="Maven Pro"/>
                <a:sym typeface="Maven Pro"/>
              </a:rPr>
              <a:t>leader</a:t>
            </a:r>
            <a:r>
              <a:rPr lang="en-GB" sz="1100">
                <a:solidFill>
                  <a:srgbClr val="404040"/>
                </a:solidFill>
                <a:highlight>
                  <a:srgbClr val="FFFFFF"/>
                </a:highlight>
                <a:latin typeface="Maven Pro"/>
                <a:ea typeface="Maven Pro"/>
                <a:cs typeface="Maven Pro"/>
                <a:sym typeface="Maven Pro"/>
              </a:rPr>
              <a:t> est systématiquement désigné. Dans Docker Swarm, le premier nœud à initialiser le Swarm devient automatiquement le leader. Si le leader devient indisponible, les autres nœuds managers </a:t>
            </a:r>
            <a:r>
              <a:rPr b="1" lang="en-GB" sz="1100">
                <a:solidFill>
                  <a:srgbClr val="404040"/>
                </a:solidFill>
                <a:highlight>
                  <a:srgbClr val="FFFFFF"/>
                </a:highlight>
                <a:latin typeface="Maven Pro"/>
                <a:ea typeface="Maven Pro"/>
                <a:cs typeface="Maven Pro"/>
                <a:sym typeface="Maven Pro"/>
              </a:rPr>
              <a:t>élisent un nouveau leader</a:t>
            </a:r>
            <a:r>
              <a:rPr lang="en-GB" sz="1100">
                <a:solidFill>
                  <a:srgbClr val="404040"/>
                </a:solidFill>
                <a:highlight>
                  <a:srgbClr val="FFFFFF"/>
                </a:highlight>
                <a:latin typeface="Maven Pro"/>
                <a:ea typeface="Maven Pro"/>
                <a:cs typeface="Maven Pro"/>
                <a:sym typeface="Maven Pro"/>
              </a:rPr>
              <a:t>. Les autres membres du groupe de consensus sont appelés </a:t>
            </a:r>
            <a:r>
              <a:rPr b="1" lang="en-GB" sz="1100">
                <a:solidFill>
                  <a:srgbClr val="404040"/>
                </a:solidFill>
                <a:highlight>
                  <a:srgbClr val="FFFFFF"/>
                </a:highlight>
                <a:latin typeface="Maven Pro"/>
                <a:ea typeface="Maven Pro"/>
                <a:cs typeface="Maven Pro"/>
                <a:sym typeface="Maven Pro"/>
              </a:rPr>
              <a:t>followers</a:t>
            </a:r>
            <a:r>
              <a:rPr lang="en-GB" sz="1100">
                <a:solidFill>
                  <a:srgbClr val="404040"/>
                </a:solidFill>
                <a:highlight>
                  <a:srgbClr val="FFFFFF"/>
                </a:highlight>
                <a:latin typeface="Maven Pro"/>
                <a:ea typeface="Maven Pro"/>
                <a:cs typeface="Maven Pro"/>
                <a:sym typeface="Maven Pro"/>
              </a:rPr>
              <a:t> (ou « suiveurs »).</a:t>
            </a:r>
            <a:endParaRPr sz="1100">
              <a:solidFill>
                <a:srgbClr val="00084D"/>
              </a:solidFill>
              <a:latin typeface="Maven Pro"/>
              <a:ea typeface="Maven Pro"/>
              <a:cs typeface="Maven Pro"/>
              <a:sym typeface="Maven Pro"/>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1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31" name="Google Shape;1731;p16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32" name="Google Shape;1732;p16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Quorum</a:t>
            </a:r>
            <a:endParaRPr sz="2000">
              <a:solidFill>
                <a:srgbClr val="073763"/>
              </a:solidFill>
              <a:latin typeface="Maven Pro"/>
              <a:ea typeface="Maven Pro"/>
              <a:cs typeface="Maven Pro"/>
              <a:sym typeface="Maven Pro"/>
            </a:endParaRPr>
          </a:p>
        </p:txBody>
      </p:sp>
      <p:sp>
        <p:nvSpPr>
          <p:cNvPr id="1733" name="Google Shape;1733;p167"/>
          <p:cNvSpPr txBox="1"/>
          <p:nvPr/>
        </p:nvSpPr>
        <p:spPr>
          <a:xfrm>
            <a:off x="687700" y="1273875"/>
            <a:ext cx="7506300" cy="656400"/>
          </a:xfrm>
          <a:prstGeom prst="rect">
            <a:avLst/>
          </a:prstGeom>
          <a:noFill/>
          <a:ln>
            <a:noFill/>
          </a:ln>
        </p:spPr>
        <p:txBody>
          <a:bodyPr anchorCtr="0" anchor="t" bIns="91425" lIns="91425" spcFirstLastPara="1" rIns="91425" wrap="square" tIns="91425">
            <a:spAutoFit/>
          </a:bodyPr>
          <a:lstStyle/>
          <a:p>
            <a:pPr indent="0" lvl="0" marL="0" rtl="0" algn="just">
              <a:lnSpc>
                <a:spcPct val="178593"/>
              </a:lnSpc>
              <a:spcBef>
                <a:spcPts val="1000"/>
              </a:spcBef>
              <a:spcAft>
                <a:spcPts val="1000"/>
              </a:spcAft>
              <a:buClr>
                <a:schemeClr val="dk1"/>
              </a:buClr>
              <a:buSzPts val="1100"/>
              <a:buFont typeface="Arial"/>
              <a:buNone/>
            </a:pPr>
            <a:r>
              <a:rPr lang="en-GB" sz="1100">
                <a:solidFill>
                  <a:schemeClr val="dk1"/>
                </a:solidFill>
              </a:rPr>
              <a:t>Il désigne le </a:t>
            </a:r>
            <a:r>
              <a:rPr b="1" lang="en-GB" sz="1100">
                <a:solidFill>
                  <a:schemeClr val="dk1"/>
                </a:solidFill>
              </a:rPr>
              <a:t>nombre minimal de nœuds qui doivent être d'accord</a:t>
            </a:r>
            <a:r>
              <a:rPr lang="en-GB" sz="1100">
                <a:solidFill>
                  <a:schemeClr val="dk1"/>
                </a:solidFill>
              </a:rPr>
              <a:t> pour que le cluster puisse </a:t>
            </a:r>
            <a:r>
              <a:rPr b="1" lang="en-GB" sz="1100">
                <a:solidFill>
                  <a:schemeClr val="dk1"/>
                </a:solidFill>
              </a:rPr>
              <a:t>prendre des décisions valides</a:t>
            </a:r>
            <a:r>
              <a:rPr lang="en-GB" sz="1100">
                <a:solidFill>
                  <a:schemeClr val="dk1"/>
                </a:solidFill>
              </a:rPr>
              <a:t> (comme élire un leader, modifier l’état du cluster, etc.).</a:t>
            </a:r>
            <a:endParaRPr sz="1100">
              <a:solidFill>
                <a:srgbClr val="00084D"/>
              </a:solidFill>
              <a:latin typeface="Maven Pro"/>
              <a:ea typeface="Maven Pro"/>
              <a:cs typeface="Maven Pro"/>
              <a:sym typeface="Maven Pro"/>
            </a:endParaRPr>
          </a:p>
        </p:txBody>
      </p:sp>
      <p:pic>
        <p:nvPicPr>
          <p:cNvPr id="1734" name="Google Shape;1734;p167"/>
          <p:cNvPicPr preferRelativeResize="0"/>
          <p:nvPr/>
        </p:nvPicPr>
        <p:blipFill>
          <a:blip r:embed="rId4">
            <a:alphaModFix/>
          </a:blip>
          <a:stretch>
            <a:fillRect/>
          </a:stretch>
        </p:blipFill>
        <p:spPr>
          <a:xfrm>
            <a:off x="1987400" y="2263247"/>
            <a:ext cx="5169201" cy="617025"/>
          </a:xfrm>
          <a:prstGeom prst="rect">
            <a:avLst/>
          </a:prstGeom>
          <a:noFill/>
          <a:ln>
            <a:noFill/>
          </a:ln>
        </p:spPr>
      </p:pic>
      <p:sp>
        <p:nvSpPr>
          <p:cNvPr id="1735" name="Google Shape;1735;p167"/>
          <p:cNvSpPr txBox="1"/>
          <p:nvPr/>
        </p:nvSpPr>
        <p:spPr>
          <a:xfrm>
            <a:off x="825400" y="3096425"/>
            <a:ext cx="7230900" cy="1086900"/>
          </a:xfrm>
          <a:prstGeom prst="rect">
            <a:avLst/>
          </a:prstGeom>
          <a:noFill/>
          <a:ln>
            <a:noFill/>
          </a:ln>
        </p:spPr>
        <p:txBody>
          <a:bodyPr anchorCtr="0" anchor="t" bIns="91425" lIns="91425" spcFirstLastPara="1" rIns="91425" wrap="square" tIns="91425">
            <a:spAutoFit/>
          </a:bodyPr>
          <a:lstStyle/>
          <a:p>
            <a:pPr indent="0" lvl="0" marL="0" marR="0" rtl="0" algn="just">
              <a:lnSpc>
                <a:spcPct val="178593"/>
              </a:lnSpc>
              <a:spcBef>
                <a:spcPts val="1000"/>
              </a:spcBef>
              <a:spcAft>
                <a:spcPts val="0"/>
              </a:spcAft>
              <a:buNone/>
            </a:pPr>
            <a:r>
              <a:rPr lang="en-GB" sz="1100">
                <a:solidFill>
                  <a:schemeClr val="dk1"/>
                </a:solidFill>
              </a:rPr>
              <a:t>Cela signifie :</a:t>
            </a:r>
            <a:endParaRPr sz="1100">
              <a:solidFill>
                <a:schemeClr val="dk1"/>
              </a:solidFill>
            </a:endParaRPr>
          </a:p>
          <a:p>
            <a:pPr indent="-298450" lvl="0" marL="457200" marR="0" rtl="0" algn="just">
              <a:lnSpc>
                <a:spcPct val="178593"/>
              </a:lnSpc>
              <a:spcBef>
                <a:spcPts val="1000"/>
              </a:spcBef>
              <a:spcAft>
                <a:spcPts val="0"/>
              </a:spcAft>
              <a:buClr>
                <a:schemeClr val="dk1"/>
              </a:buClr>
              <a:buSzPts val="1100"/>
              <a:buChar char="●"/>
            </a:pPr>
            <a:r>
              <a:rPr lang="en-GB" sz="1100">
                <a:solidFill>
                  <a:schemeClr val="dk1"/>
                </a:solidFill>
              </a:rPr>
              <a:t>Il faut une </a:t>
            </a:r>
            <a:r>
              <a:rPr b="1" lang="en-GB" sz="1100">
                <a:solidFill>
                  <a:schemeClr val="dk1"/>
                </a:solidFill>
              </a:rPr>
              <a:t>majorité absolue</a:t>
            </a:r>
            <a:r>
              <a:rPr lang="en-GB" sz="1100">
                <a:solidFill>
                  <a:schemeClr val="dk1"/>
                </a:solidFill>
              </a:rPr>
              <a:t> pour prendre une décision.</a:t>
            </a:r>
            <a:endParaRPr sz="1100">
              <a:solidFill>
                <a:schemeClr val="dk1"/>
              </a:solidFill>
            </a:endParaRPr>
          </a:p>
          <a:p>
            <a:pPr indent="-298450" lvl="0" marL="457200" marR="0" rtl="0" algn="just">
              <a:lnSpc>
                <a:spcPct val="178593"/>
              </a:lnSpc>
              <a:spcBef>
                <a:spcPts val="0"/>
              </a:spcBef>
              <a:spcAft>
                <a:spcPts val="0"/>
              </a:spcAft>
              <a:buClr>
                <a:schemeClr val="dk1"/>
              </a:buClr>
              <a:buSzPts val="1100"/>
              <a:buChar char="●"/>
            </a:pPr>
            <a:r>
              <a:rPr lang="en-GB" sz="1100">
                <a:solidFill>
                  <a:schemeClr val="dk1"/>
                </a:solidFill>
              </a:rPr>
              <a:t>Cette majorité est </a:t>
            </a:r>
            <a:r>
              <a:rPr b="1" lang="en-GB" sz="1100">
                <a:solidFill>
                  <a:schemeClr val="dk1"/>
                </a:solidFill>
              </a:rPr>
              <a:t>obligatoire pour la tolérance aux pannes.</a:t>
            </a:r>
            <a:endParaRPr b="1" sz="1100">
              <a:solidFill>
                <a:schemeClr val="dk1"/>
              </a:solidFill>
            </a:endParaRPr>
          </a:p>
        </p:txBody>
      </p:sp>
      <p:pic>
        <p:nvPicPr>
          <p:cNvPr id="1736" name="Google Shape;1736;p167"/>
          <p:cNvPicPr preferRelativeResize="0"/>
          <p:nvPr/>
        </p:nvPicPr>
        <p:blipFill>
          <a:blip r:embed="rId5">
            <a:alphaModFix/>
          </a:blip>
          <a:stretch>
            <a:fillRect/>
          </a:stretch>
        </p:blipFill>
        <p:spPr>
          <a:xfrm>
            <a:off x="1621163" y="4312400"/>
            <a:ext cx="5639376" cy="56665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0" name="Shape 1740"/>
        <p:cNvGrpSpPr/>
        <p:nvPr/>
      </p:nvGrpSpPr>
      <p:grpSpPr>
        <a:xfrm>
          <a:off x="0" y="0"/>
          <a:ext cx="0" cy="0"/>
          <a:chOff x="0" y="0"/>
          <a:chExt cx="0" cy="0"/>
        </a:xfrm>
      </p:grpSpPr>
      <p:sp>
        <p:nvSpPr>
          <p:cNvPr id="1741" name="Google Shape;1741;p1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42" name="Google Shape;1742;p16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43" name="Google Shape;1743;p16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Quorum</a:t>
            </a:r>
            <a:endParaRPr sz="2000">
              <a:solidFill>
                <a:srgbClr val="073763"/>
              </a:solidFill>
              <a:latin typeface="Maven Pro"/>
              <a:ea typeface="Maven Pro"/>
              <a:cs typeface="Maven Pro"/>
              <a:sym typeface="Maven Pro"/>
            </a:endParaRPr>
          </a:p>
        </p:txBody>
      </p:sp>
      <p:graphicFrame>
        <p:nvGraphicFramePr>
          <p:cNvPr id="1744" name="Google Shape;1744;p168"/>
          <p:cNvGraphicFramePr/>
          <p:nvPr/>
        </p:nvGraphicFramePr>
        <p:xfrm>
          <a:off x="1936263" y="1784600"/>
          <a:ext cx="3000000" cy="3000000"/>
        </p:xfrm>
        <a:graphic>
          <a:graphicData uri="http://schemas.openxmlformats.org/drawingml/2006/table">
            <a:tbl>
              <a:tblPr>
                <a:noFill/>
                <a:tableStyleId>{6D59D660-79D0-447A-8688-C7A9A0A3EB67}</a:tableStyleId>
              </a:tblPr>
              <a:tblGrid>
                <a:gridCol w="1409700"/>
                <a:gridCol w="1019175"/>
                <a:gridCol w="2842600"/>
              </a:tblGrid>
              <a:tr h="190500">
                <a:tc>
                  <a:txBody>
                    <a:bodyPr/>
                    <a:lstStyle/>
                    <a:p>
                      <a:pPr indent="0" lvl="0" marL="0" rtl="0" algn="ctr">
                        <a:lnSpc>
                          <a:spcPct val="115000"/>
                        </a:lnSpc>
                        <a:spcBef>
                          <a:spcPts val="0"/>
                        </a:spcBef>
                        <a:spcAft>
                          <a:spcPts val="0"/>
                        </a:spcAft>
                        <a:buNone/>
                      </a:pPr>
                      <a:r>
                        <a:rPr b="1" lang="en-GB" sz="1500">
                          <a:latin typeface="Maven Pro"/>
                          <a:ea typeface="Maven Pro"/>
                          <a:cs typeface="Maven Pro"/>
                          <a:sym typeface="Maven Pro"/>
                        </a:rPr>
                        <a:t>Nombre de managers</a:t>
                      </a:r>
                      <a:endParaRPr b="1" sz="1500">
                        <a:latin typeface="Maven Pro"/>
                        <a:ea typeface="Maven Pro"/>
                        <a:cs typeface="Maven Pro"/>
                        <a:sym typeface="Maven Pro"/>
                      </a:endParaRPr>
                    </a:p>
                  </a:txBody>
                  <a:tcPr marT="91425" marB="91425" marR="91425" marL="91425"/>
                </a:tc>
                <a:tc>
                  <a:txBody>
                    <a:bodyPr/>
                    <a:lstStyle/>
                    <a:p>
                      <a:pPr indent="0" lvl="0" marL="0" rtl="0" algn="ctr">
                        <a:lnSpc>
                          <a:spcPct val="115000"/>
                        </a:lnSpc>
                        <a:spcBef>
                          <a:spcPts val="0"/>
                        </a:spcBef>
                        <a:spcAft>
                          <a:spcPts val="0"/>
                        </a:spcAft>
                        <a:buNone/>
                      </a:pPr>
                      <a:r>
                        <a:rPr b="1" lang="en-GB" sz="1500">
                          <a:latin typeface="Maven Pro"/>
                          <a:ea typeface="Maven Pro"/>
                          <a:cs typeface="Maven Pro"/>
                          <a:sym typeface="Maven Pro"/>
                        </a:rPr>
                        <a:t>Quorum requis</a:t>
                      </a:r>
                      <a:endParaRPr b="1" sz="1500">
                        <a:latin typeface="Maven Pro"/>
                        <a:ea typeface="Maven Pro"/>
                        <a:cs typeface="Maven Pro"/>
                        <a:sym typeface="Maven Pro"/>
                      </a:endParaRPr>
                    </a:p>
                  </a:txBody>
                  <a:tcPr marT="91425" marB="91425" marR="91425" marL="91425"/>
                </a:tc>
                <a:tc>
                  <a:txBody>
                    <a:bodyPr/>
                    <a:lstStyle/>
                    <a:p>
                      <a:pPr indent="0" lvl="0" marL="0" rtl="0" algn="ctr">
                        <a:lnSpc>
                          <a:spcPct val="115000"/>
                        </a:lnSpc>
                        <a:spcBef>
                          <a:spcPts val="0"/>
                        </a:spcBef>
                        <a:spcAft>
                          <a:spcPts val="0"/>
                        </a:spcAft>
                        <a:buNone/>
                      </a:pPr>
                      <a:r>
                        <a:rPr b="1" lang="en-GB" sz="1500">
                          <a:latin typeface="Maven Pro"/>
                          <a:ea typeface="Maven Pro"/>
                          <a:cs typeface="Maven Pro"/>
                          <a:sym typeface="Maven Pro"/>
                        </a:rPr>
                        <a:t>Tolérance aux pannes</a:t>
                      </a:r>
                      <a:endParaRPr b="1" sz="1500">
                        <a:latin typeface="Maven Pro"/>
                        <a:ea typeface="Maven Pro"/>
                        <a:cs typeface="Maven Pro"/>
                        <a:sym typeface="Maven Pro"/>
                      </a:endParaRPr>
                    </a:p>
                  </a:txBody>
                  <a:tcPr marT="91425" marB="91425" marR="91425" marL="91425"/>
                </a:tc>
              </a:tr>
              <a:tr h="190500">
                <a:tc>
                  <a:txBody>
                    <a:bodyPr/>
                    <a:lstStyle/>
                    <a:p>
                      <a:pPr indent="0" lvl="0" marL="0" rtl="0" algn="l">
                        <a:spcBef>
                          <a:spcPts val="0"/>
                        </a:spcBef>
                        <a:spcAft>
                          <a:spcPts val="0"/>
                        </a:spcAft>
                        <a:buNone/>
                      </a:pPr>
                      <a:r>
                        <a:rPr lang="en-GB" sz="1500">
                          <a:latin typeface="Maven Pro"/>
                          <a:ea typeface="Maven Pro"/>
                          <a:cs typeface="Maven Pro"/>
                          <a:sym typeface="Maven Pro"/>
                        </a:rPr>
                        <a:t>1</a:t>
                      </a:r>
                      <a:endParaRPr sz="15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GB" sz="1500">
                          <a:latin typeface="Maven Pro"/>
                          <a:ea typeface="Maven Pro"/>
                          <a:cs typeface="Maven Pro"/>
                          <a:sym typeface="Maven Pro"/>
                        </a:rPr>
                        <a:t>1</a:t>
                      </a:r>
                      <a:endParaRPr sz="15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GB" sz="1500">
                          <a:latin typeface="Maven Pro"/>
                          <a:ea typeface="Maven Pro"/>
                          <a:cs typeface="Maven Pro"/>
                          <a:sym typeface="Maven Pro"/>
                        </a:rPr>
                        <a:t>0 (pas de tolérance)</a:t>
                      </a:r>
                      <a:endParaRPr sz="1500">
                        <a:latin typeface="Maven Pro"/>
                        <a:ea typeface="Maven Pro"/>
                        <a:cs typeface="Maven Pro"/>
                        <a:sym typeface="Maven Pro"/>
                      </a:endParaRPr>
                    </a:p>
                  </a:txBody>
                  <a:tcPr marT="91425" marB="91425" marR="91425" marL="91425"/>
                </a:tc>
              </a:tr>
              <a:tr h="190500">
                <a:tc>
                  <a:txBody>
                    <a:bodyPr/>
                    <a:lstStyle/>
                    <a:p>
                      <a:pPr indent="0" lvl="0" marL="0" rtl="0" algn="l">
                        <a:spcBef>
                          <a:spcPts val="0"/>
                        </a:spcBef>
                        <a:spcAft>
                          <a:spcPts val="0"/>
                        </a:spcAft>
                        <a:buNone/>
                      </a:pPr>
                      <a:r>
                        <a:rPr lang="en-GB" sz="1500">
                          <a:latin typeface="Maven Pro"/>
                          <a:ea typeface="Maven Pro"/>
                          <a:cs typeface="Maven Pro"/>
                          <a:sym typeface="Maven Pro"/>
                        </a:rPr>
                        <a:t>3</a:t>
                      </a:r>
                      <a:endParaRPr sz="15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GB" sz="1500">
                          <a:latin typeface="Maven Pro"/>
                          <a:ea typeface="Maven Pro"/>
                          <a:cs typeface="Maven Pro"/>
                          <a:sym typeface="Maven Pro"/>
                        </a:rPr>
                        <a:t>2</a:t>
                      </a:r>
                      <a:endParaRPr sz="15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GB" sz="1500">
                          <a:latin typeface="Maven Pro"/>
                          <a:ea typeface="Maven Pro"/>
                          <a:cs typeface="Maven Pro"/>
                          <a:sym typeface="Maven Pro"/>
                        </a:rPr>
                        <a:t>1 manager peut tomber</a:t>
                      </a:r>
                      <a:endParaRPr sz="1500">
                        <a:latin typeface="Maven Pro"/>
                        <a:ea typeface="Maven Pro"/>
                        <a:cs typeface="Maven Pro"/>
                        <a:sym typeface="Maven Pro"/>
                      </a:endParaRPr>
                    </a:p>
                  </a:txBody>
                  <a:tcPr marT="91425" marB="91425" marR="91425" marL="91425"/>
                </a:tc>
              </a:tr>
              <a:tr h="190500">
                <a:tc>
                  <a:txBody>
                    <a:bodyPr/>
                    <a:lstStyle/>
                    <a:p>
                      <a:pPr indent="0" lvl="0" marL="0" rtl="0" algn="l">
                        <a:spcBef>
                          <a:spcPts val="0"/>
                        </a:spcBef>
                        <a:spcAft>
                          <a:spcPts val="0"/>
                        </a:spcAft>
                        <a:buNone/>
                      </a:pPr>
                      <a:r>
                        <a:rPr lang="en-GB" sz="1500">
                          <a:latin typeface="Maven Pro"/>
                          <a:ea typeface="Maven Pro"/>
                          <a:cs typeface="Maven Pro"/>
                          <a:sym typeface="Maven Pro"/>
                        </a:rPr>
                        <a:t>5</a:t>
                      </a:r>
                      <a:endParaRPr sz="15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GB" sz="1500">
                          <a:latin typeface="Maven Pro"/>
                          <a:ea typeface="Maven Pro"/>
                          <a:cs typeface="Maven Pro"/>
                          <a:sym typeface="Maven Pro"/>
                        </a:rPr>
                        <a:t>3</a:t>
                      </a:r>
                      <a:endParaRPr sz="15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GB" sz="1500">
                          <a:latin typeface="Maven Pro"/>
                          <a:ea typeface="Maven Pro"/>
                          <a:cs typeface="Maven Pro"/>
                          <a:sym typeface="Maven Pro"/>
                        </a:rPr>
                        <a:t>2 managers peuvent tomber</a:t>
                      </a:r>
                      <a:endParaRPr sz="1500">
                        <a:latin typeface="Maven Pro"/>
                        <a:ea typeface="Maven Pro"/>
                        <a:cs typeface="Maven Pro"/>
                        <a:sym typeface="Maven Pro"/>
                      </a:endParaRPr>
                    </a:p>
                  </a:txBody>
                  <a:tcPr marT="91425" marB="91425" marR="91425" marL="91425"/>
                </a:tc>
              </a:tr>
              <a:tr h="190500">
                <a:tc>
                  <a:txBody>
                    <a:bodyPr/>
                    <a:lstStyle/>
                    <a:p>
                      <a:pPr indent="0" lvl="0" marL="0" rtl="0" algn="l">
                        <a:spcBef>
                          <a:spcPts val="0"/>
                        </a:spcBef>
                        <a:spcAft>
                          <a:spcPts val="0"/>
                        </a:spcAft>
                        <a:buNone/>
                      </a:pPr>
                      <a:r>
                        <a:rPr lang="en-GB" sz="1500">
                          <a:latin typeface="Maven Pro"/>
                          <a:ea typeface="Maven Pro"/>
                          <a:cs typeface="Maven Pro"/>
                          <a:sym typeface="Maven Pro"/>
                        </a:rPr>
                        <a:t>7</a:t>
                      </a:r>
                      <a:endParaRPr sz="15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GB" sz="1500">
                          <a:latin typeface="Maven Pro"/>
                          <a:ea typeface="Maven Pro"/>
                          <a:cs typeface="Maven Pro"/>
                          <a:sym typeface="Maven Pro"/>
                        </a:rPr>
                        <a:t>4</a:t>
                      </a:r>
                      <a:endParaRPr sz="1500">
                        <a:latin typeface="Maven Pro"/>
                        <a:ea typeface="Maven Pro"/>
                        <a:cs typeface="Maven Pro"/>
                        <a:sym typeface="Maven Pro"/>
                      </a:endParaRPr>
                    </a:p>
                  </a:txBody>
                  <a:tcPr marT="91425" marB="91425" marR="91425" marL="91425"/>
                </a:tc>
                <a:tc>
                  <a:txBody>
                    <a:bodyPr/>
                    <a:lstStyle/>
                    <a:p>
                      <a:pPr indent="0" lvl="0" marL="0" rtl="0" algn="l">
                        <a:spcBef>
                          <a:spcPts val="0"/>
                        </a:spcBef>
                        <a:spcAft>
                          <a:spcPts val="0"/>
                        </a:spcAft>
                        <a:buNone/>
                      </a:pPr>
                      <a:r>
                        <a:rPr lang="en-GB" sz="1500">
                          <a:latin typeface="Maven Pro"/>
                          <a:ea typeface="Maven Pro"/>
                          <a:cs typeface="Maven Pro"/>
                          <a:sym typeface="Maven Pro"/>
                        </a:rPr>
                        <a:t>3 managers peuvent tomber</a:t>
                      </a:r>
                      <a:endParaRPr sz="1500">
                        <a:latin typeface="Maven Pro"/>
                        <a:ea typeface="Maven Pro"/>
                        <a:cs typeface="Maven Pro"/>
                        <a:sym typeface="Maven Pro"/>
                      </a:endParaRPr>
                    </a:p>
                  </a:txBody>
                  <a:tcPr marT="91425" marB="91425" marR="91425" marL="91425"/>
                </a:tc>
              </a:tr>
            </a:tbl>
          </a:graphicData>
        </a:graphic>
      </p:graphicFrame>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8" name="Shape 1748"/>
        <p:cNvGrpSpPr/>
        <p:nvPr/>
      </p:nvGrpSpPr>
      <p:grpSpPr>
        <a:xfrm>
          <a:off x="0" y="0"/>
          <a:ext cx="0" cy="0"/>
          <a:chOff x="0" y="0"/>
          <a:chExt cx="0" cy="0"/>
        </a:xfrm>
      </p:grpSpPr>
      <p:sp>
        <p:nvSpPr>
          <p:cNvPr id="1749" name="Google Shape;1749;p1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50" name="Google Shape;1750;p16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51" name="Google Shape;1751;p16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Workers</a:t>
            </a:r>
            <a:endParaRPr sz="2000">
              <a:solidFill>
                <a:srgbClr val="073763"/>
              </a:solidFill>
              <a:latin typeface="Maven Pro"/>
              <a:ea typeface="Maven Pro"/>
              <a:cs typeface="Maven Pro"/>
              <a:sym typeface="Maven Pro"/>
            </a:endParaRPr>
          </a:p>
        </p:txBody>
      </p:sp>
      <p:sp>
        <p:nvSpPr>
          <p:cNvPr id="1752" name="Google Shape;1752;p169"/>
          <p:cNvSpPr txBox="1"/>
          <p:nvPr/>
        </p:nvSpPr>
        <p:spPr>
          <a:xfrm>
            <a:off x="1129275" y="1273875"/>
            <a:ext cx="7064700" cy="35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1200"/>
              </a:spcAft>
              <a:buClr>
                <a:schemeClr val="dk1"/>
              </a:buClr>
              <a:buSzPts val="1100"/>
              <a:buFont typeface="Arial"/>
              <a:buNone/>
            </a:pPr>
            <a:r>
              <a:rPr lang="en-GB" sz="1100">
                <a:solidFill>
                  <a:srgbClr val="00084D"/>
                </a:solidFill>
                <a:latin typeface="Maven Pro"/>
                <a:ea typeface="Maven Pro"/>
                <a:cs typeface="Maven Pro"/>
                <a:sym typeface="Maven Pro"/>
              </a:rPr>
              <a:t>dfdf</a:t>
            </a:r>
            <a:endParaRPr sz="1100">
              <a:solidFill>
                <a:srgbClr val="00084D"/>
              </a:solidFill>
              <a:latin typeface="Maven Pro"/>
              <a:ea typeface="Maven Pro"/>
              <a:cs typeface="Maven Pro"/>
              <a:sym typeface="Maven Pro"/>
            </a:endParaRPr>
          </a:p>
        </p:txBody>
      </p:sp>
      <p:pic>
        <p:nvPicPr>
          <p:cNvPr id="1753" name="Google Shape;1753;p169"/>
          <p:cNvPicPr preferRelativeResize="0"/>
          <p:nvPr/>
        </p:nvPicPr>
        <p:blipFill>
          <a:blip r:embed="rId4">
            <a:alphaModFix/>
          </a:blip>
          <a:stretch>
            <a:fillRect/>
          </a:stretch>
        </p:blipFill>
        <p:spPr>
          <a:xfrm>
            <a:off x="900275" y="1002210"/>
            <a:ext cx="7343432" cy="3364012"/>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1758" name="Google Shape;1758;p1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59" name="Google Shape;1759;p17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60" name="Google Shape;1760;p17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Workers</a:t>
            </a:r>
            <a:endParaRPr sz="2000">
              <a:solidFill>
                <a:srgbClr val="073763"/>
              </a:solidFill>
              <a:latin typeface="Maven Pro"/>
              <a:ea typeface="Maven Pro"/>
              <a:cs typeface="Maven Pro"/>
              <a:sym typeface="Maven Pro"/>
            </a:endParaRPr>
          </a:p>
        </p:txBody>
      </p:sp>
      <p:sp>
        <p:nvSpPr>
          <p:cNvPr id="1761" name="Google Shape;1761;p170"/>
          <p:cNvSpPr txBox="1"/>
          <p:nvPr/>
        </p:nvSpPr>
        <p:spPr>
          <a:xfrm>
            <a:off x="818850" y="1337800"/>
            <a:ext cx="7506300" cy="3634500"/>
          </a:xfrm>
          <a:prstGeom prst="rect">
            <a:avLst/>
          </a:prstGeom>
          <a:noFill/>
          <a:ln>
            <a:noFill/>
          </a:ln>
        </p:spPr>
        <p:txBody>
          <a:bodyPr anchorCtr="0" anchor="t" bIns="91425" lIns="91425" spcFirstLastPara="1" rIns="91425" wrap="square" tIns="91425">
            <a:spAutoFit/>
          </a:bodyPr>
          <a:lstStyle/>
          <a:p>
            <a:pPr indent="0" lvl="0" marL="0" rtl="0" algn="just">
              <a:lnSpc>
                <a:spcPct val="178593"/>
              </a:lnSpc>
              <a:spcBef>
                <a:spcPts val="1000"/>
              </a:spcBef>
              <a:spcAft>
                <a:spcPts val="0"/>
              </a:spcAft>
              <a:buClr>
                <a:schemeClr val="dk1"/>
              </a:buClr>
              <a:buSzPts val="1100"/>
              <a:buFont typeface="Arial"/>
              <a:buNone/>
            </a:pPr>
            <a:r>
              <a:rPr lang="en-GB" sz="1100">
                <a:solidFill>
                  <a:schemeClr val="dk1"/>
                </a:solidFill>
                <a:highlight>
                  <a:srgbClr val="FFFFFF"/>
                </a:highlight>
                <a:latin typeface="Maven Pro"/>
                <a:ea typeface="Maven Pro"/>
                <a:cs typeface="Maven Pro"/>
                <a:sym typeface="Maven Pro"/>
              </a:rPr>
              <a:t>un nœud worker Swarm est conçu pour héberger et exécuter des conteneurs contenant les services d'application réels que nous souhaitons faire fonctionner sur notre cluster. Ces nœuds sont les chevaux de bataille du Swarm. En théorie, un nœud manager peut également agir comme worker. Cependant, comme nous l'avons déjà souligné, cette pratique est déconseillée dans un environnement de production. Dans un tel système, il est préférable de laisser les managers se concentrer sur leur rôle de gestion.</a:t>
            </a:r>
            <a:endParaRPr sz="1100">
              <a:solidFill>
                <a:schemeClr val="dk1"/>
              </a:solidFill>
              <a:highlight>
                <a:srgbClr val="FFFFFF"/>
              </a:highlight>
              <a:latin typeface="Maven Pro"/>
              <a:ea typeface="Maven Pro"/>
              <a:cs typeface="Maven Pro"/>
              <a:sym typeface="Maven Pro"/>
            </a:endParaRPr>
          </a:p>
          <a:p>
            <a:pPr indent="0" lvl="0" marL="0" rtl="0" algn="just">
              <a:lnSpc>
                <a:spcPct val="178593"/>
              </a:lnSpc>
              <a:spcBef>
                <a:spcPts val="1000"/>
              </a:spcBef>
              <a:spcAft>
                <a:spcPts val="0"/>
              </a:spcAft>
              <a:buClr>
                <a:schemeClr val="dk1"/>
              </a:buClr>
              <a:buSzPts val="1100"/>
              <a:buFont typeface="Arial"/>
              <a:buNone/>
            </a:pPr>
            <a:r>
              <a:rPr lang="en-GB" sz="1100">
                <a:solidFill>
                  <a:schemeClr val="dk1"/>
                </a:solidFill>
                <a:highlight>
                  <a:srgbClr val="FFFFFF"/>
                </a:highlight>
                <a:latin typeface="Maven Pro"/>
                <a:ea typeface="Maven Pro"/>
                <a:cs typeface="Maven Pro"/>
                <a:sym typeface="Maven Pro"/>
              </a:rPr>
              <a:t>Les nœuds worker communiquent entre eux via le </a:t>
            </a:r>
            <a:r>
              <a:rPr b="1" lang="en-GB" sz="1100">
                <a:solidFill>
                  <a:schemeClr val="dk1"/>
                </a:solidFill>
                <a:highlight>
                  <a:srgbClr val="FFFFFF"/>
                </a:highlight>
                <a:latin typeface="Maven Pro"/>
                <a:ea typeface="Maven Pro"/>
                <a:cs typeface="Maven Pro"/>
                <a:sym typeface="Maven Pro"/>
              </a:rPr>
              <a:t>plan de contrôle</a:t>
            </a:r>
            <a:r>
              <a:rPr lang="en-GB" sz="1100">
                <a:solidFill>
                  <a:schemeClr val="dk1"/>
                </a:solidFill>
                <a:highlight>
                  <a:srgbClr val="FFFFFF"/>
                </a:highlight>
                <a:latin typeface="Maven Pro"/>
                <a:ea typeface="Maven Pro"/>
                <a:cs typeface="Maven Pro"/>
                <a:sym typeface="Maven Pro"/>
              </a:rPr>
              <a:t>, en utilisant le </a:t>
            </a:r>
            <a:r>
              <a:rPr b="1" lang="en-GB" sz="1100">
                <a:solidFill>
                  <a:schemeClr val="dk1"/>
                </a:solidFill>
                <a:highlight>
                  <a:srgbClr val="FFFFFF"/>
                </a:highlight>
                <a:latin typeface="Maven Pro"/>
                <a:ea typeface="Maven Pro"/>
                <a:cs typeface="Maven Pro"/>
                <a:sym typeface="Maven Pro"/>
              </a:rPr>
              <a:t>protocole gossip</a:t>
            </a:r>
            <a:r>
              <a:rPr lang="en-GB" sz="1100">
                <a:solidFill>
                  <a:schemeClr val="dk1"/>
                </a:solidFill>
                <a:highlight>
                  <a:srgbClr val="FFFFFF"/>
                </a:highlight>
                <a:latin typeface="Maven Pro"/>
                <a:ea typeface="Maven Pro"/>
                <a:cs typeface="Maven Pro"/>
                <a:sym typeface="Maven Pro"/>
              </a:rPr>
              <a:t> pour leurs échanges. Cette communication est asynchrone, ce qui signifie qu'à un instant donné, il est probable que tous les nœuds worker ne soient pas parfaitement synchronisés.</a:t>
            </a:r>
            <a:endParaRPr sz="1100">
              <a:solidFill>
                <a:schemeClr val="dk1"/>
              </a:solidFill>
              <a:highlight>
                <a:srgbClr val="FFFFFF"/>
              </a:highlight>
              <a:latin typeface="Maven Pro"/>
              <a:ea typeface="Maven Pro"/>
              <a:cs typeface="Maven Pro"/>
              <a:sym typeface="Maven Pro"/>
            </a:endParaRPr>
          </a:p>
          <a:p>
            <a:pPr indent="0" lvl="0" marL="0" rtl="0" algn="just">
              <a:lnSpc>
                <a:spcPct val="178593"/>
              </a:lnSpc>
              <a:spcBef>
                <a:spcPts val="1000"/>
              </a:spcBef>
              <a:spcAft>
                <a:spcPts val="1000"/>
              </a:spcAft>
              <a:buClr>
                <a:schemeClr val="dk1"/>
              </a:buClr>
              <a:buSzPts val="1100"/>
              <a:buFont typeface="Arial"/>
              <a:buNone/>
            </a:pPr>
            <a:r>
              <a:rPr lang="en-GB" sz="1100">
                <a:solidFill>
                  <a:schemeClr val="dk1"/>
                </a:solidFill>
                <a:highlight>
                  <a:srgbClr val="FFFFFF"/>
                </a:highlight>
                <a:latin typeface="Maven Pro"/>
                <a:ea typeface="Maven Pro"/>
                <a:cs typeface="Maven Pro"/>
                <a:sym typeface="Maven Pro"/>
              </a:rPr>
              <a:t>Vous pourriez alors vous demander : </a:t>
            </a:r>
            <a:r>
              <a:rPr i="1" lang="en-GB" sz="1100">
                <a:solidFill>
                  <a:schemeClr val="dk1"/>
                </a:solidFill>
                <a:highlight>
                  <a:srgbClr val="FFFFFF"/>
                </a:highlight>
                <a:latin typeface="Maven Pro"/>
                <a:ea typeface="Maven Pro"/>
                <a:cs typeface="Maven Pro"/>
                <a:sym typeface="Maven Pro"/>
              </a:rPr>
              <a:t>Quelles informations les nœuds worker échangent-ils ?</a:t>
            </a:r>
            <a:r>
              <a:rPr lang="en-GB" sz="1100">
                <a:solidFill>
                  <a:schemeClr val="dk1"/>
                </a:solidFill>
                <a:highlight>
                  <a:srgbClr val="FFFFFF"/>
                </a:highlight>
                <a:latin typeface="Maven Pro"/>
                <a:ea typeface="Maven Pro"/>
                <a:cs typeface="Maven Pro"/>
                <a:sym typeface="Maven Pro"/>
              </a:rPr>
              <a:t> Il s'agit principalement de données nécessaires à la </a:t>
            </a:r>
            <a:r>
              <a:rPr b="1" lang="en-GB" sz="1100">
                <a:solidFill>
                  <a:schemeClr val="dk1"/>
                </a:solidFill>
                <a:highlight>
                  <a:srgbClr val="FFFFFF"/>
                </a:highlight>
                <a:latin typeface="Maven Pro"/>
                <a:ea typeface="Maven Pro"/>
                <a:cs typeface="Maven Pro"/>
                <a:sym typeface="Maven Pro"/>
              </a:rPr>
              <a:t>découverte de services</a:t>
            </a:r>
            <a:r>
              <a:rPr lang="en-GB" sz="1100">
                <a:solidFill>
                  <a:schemeClr val="dk1"/>
                </a:solidFill>
                <a:highlight>
                  <a:srgbClr val="FFFFFF"/>
                </a:highlight>
                <a:latin typeface="Maven Pro"/>
                <a:ea typeface="Maven Pro"/>
                <a:cs typeface="Maven Pro"/>
                <a:sym typeface="Maven Pro"/>
              </a:rPr>
              <a:t> et au </a:t>
            </a:r>
            <a:r>
              <a:rPr b="1" lang="en-GB" sz="1100">
                <a:solidFill>
                  <a:schemeClr val="dk1"/>
                </a:solidFill>
                <a:highlight>
                  <a:srgbClr val="FFFFFF"/>
                </a:highlight>
                <a:latin typeface="Maven Pro"/>
                <a:ea typeface="Maven Pro"/>
                <a:cs typeface="Maven Pro"/>
                <a:sym typeface="Maven Pro"/>
              </a:rPr>
              <a:t>routage</a:t>
            </a:r>
            <a:r>
              <a:rPr lang="en-GB" sz="1100">
                <a:solidFill>
                  <a:schemeClr val="dk1"/>
                </a:solidFill>
                <a:highlight>
                  <a:srgbClr val="FFFFFF"/>
                </a:highlight>
                <a:latin typeface="Maven Pro"/>
                <a:ea typeface="Maven Pro"/>
                <a:cs typeface="Maven Pro"/>
                <a:sym typeface="Maven Pro"/>
              </a:rPr>
              <a:t>, comme les informations sur les conteneurs en cours d'exécution, leur répartition entre les nœuds, et autres détails techniques.</a:t>
            </a:r>
            <a:endParaRPr sz="1100">
              <a:solidFill>
                <a:schemeClr val="dk1"/>
              </a:solidFill>
              <a:latin typeface="Maven Pro"/>
              <a:ea typeface="Maven Pro"/>
              <a:cs typeface="Maven Pro"/>
              <a:sym typeface="Maven Pro"/>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171"/>
          <p:cNvSpPr txBox="1"/>
          <p:nvPr/>
        </p:nvSpPr>
        <p:spPr>
          <a:xfrm>
            <a:off x="818850" y="1337800"/>
            <a:ext cx="7506300" cy="2901300"/>
          </a:xfrm>
          <a:prstGeom prst="rect">
            <a:avLst/>
          </a:prstGeom>
          <a:noFill/>
          <a:ln>
            <a:noFill/>
          </a:ln>
        </p:spPr>
        <p:txBody>
          <a:bodyPr anchorCtr="0" anchor="t" bIns="91425" lIns="91425" spcFirstLastPara="1" rIns="91425" wrap="square" tIns="91425">
            <a:spAutoFit/>
          </a:bodyPr>
          <a:lstStyle/>
          <a:p>
            <a:pPr indent="0" lvl="0" marL="0" rtl="0" algn="just">
              <a:lnSpc>
                <a:spcPct val="178593"/>
              </a:lnSpc>
              <a:spcBef>
                <a:spcPts val="1000"/>
              </a:spcBef>
              <a:spcAft>
                <a:spcPts val="0"/>
              </a:spcAft>
              <a:buClr>
                <a:schemeClr val="dk1"/>
              </a:buClr>
              <a:buSzPts val="1100"/>
              <a:buFont typeface="Arial"/>
              <a:buNone/>
            </a:pPr>
            <a:r>
              <a:rPr lang="en-GB" sz="1100">
                <a:solidFill>
                  <a:srgbClr val="404040"/>
                </a:solidFill>
                <a:highlight>
                  <a:srgbClr val="FFFFFF"/>
                </a:highlight>
                <a:latin typeface="Maven Pro"/>
                <a:ea typeface="Maven Pro"/>
                <a:cs typeface="Maven Pro"/>
                <a:sym typeface="Maven Pro"/>
              </a:rPr>
              <a:t>Lorsqu'on utilise un </a:t>
            </a:r>
            <a:r>
              <a:rPr b="1" lang="en-GB" sz="1100">
                <a:solidFill>
                  <a:srgbClr val="404040"/>
                </a:solidFill>
                <a:highlight>
                  <a:srgbClr val="FFFFFF"/>
                </a:highlight>
                <a:latin typeface="Maven Pro"/>
                <a:ea typeface="Maven Pro"/>
                <a:cs typeface="Maven Pro"/>
                <a:sym typeface="Maven Pro"/>
              </a:rPr>
              <a:t>Docker Swarm</a:t>
            </a:r>
            <a:r>
              <a:rPr lang="en-GB" sz="1100">
                <a:solidFill>
                  <a:srgbClr val="404040"/>
                </a:solidFill>
                <a:highlight>
                  <a:srgbClr val="FFFFFF"/>
                </a:highlight>
                <a:latin typeface="Maven Pro"/>
                <a:ea typeface="Maven Pro"/>
                <a:cs typeface="Maven Pro"/>
                <a:sym typeface="Maven Pro"/>
              </a:rPr>
              <a:t> par opposition à un seul hôte Docker, il y a un </a:t>
            </a:r>
            <a:r>
              <a:rPr b="1" lang="en-GB" sz="1100">
                <a:solidFill>
                  <a:srgbClr val="404040"/>
                </a:solidFill>
                <a:highlight>
                  <a:srgbClr val="FFFFFF"/>
                </a:highlight>
                <a:latin typeface="Maven Pro"/>
                <a:ea typeface="Maven Pro"/>
                <a:cs typeface="Maven Pro"/>
                <a:sym typeface="Maven Pro"/>
              </a:rPr>
              <a:t>changement de paradigme</a:t>
            </a:r>
            <a:r>
              <a:rPr lang="en-GB" sz="1100">
                <a:solidFill>
                  <a:srgbClr val="404040"/>
                </a:solidFill>
                <a:highlight>
                  <a:srgbClr val="FFFFFF"/>
                </a:highlight>
                <a:latin typeface="Maven Pro"/>
                <a:ea typeface="Maven Pro"/>
                <a:cs typeface="Maven Pro"/>
                <a:sym typeface="Maven Pro"/>
              </a:rPr>
              <a:t>. Au lieu de parler de conteneurs individuels exécutant des processus, on passe à un niveau d'abstraction avec des </a:t>
            </a:r>
            <a:r>
              <a:rPr b="1" lang="en-GB" sz="1100">
                <a:solidFill>
                  <a:srgbClr val="404040"/>
                </a:solidFill>
                <a:highlight>
                  <a:srgbClr val="FFFFFF"/>
                </a:highlight>
                <a:latin typeface="Maven Pro"/>
                <a:ea typeface="Maven Pro"/>
                <a:cs typeface="Maven Pro"/>
                <a:sym typeface="Maven Pro"/>
              </a:rPr>
              <a:t>services</a:t>
            </a:r>
            <a:r>
              <a:rPr lang="en-GB" sz="1100">
                <a:solidFill>
                  <a:srgbClr val="404040"/>
                </a:solidFill>
                <a:highlight>
                  <a:srgbClr val="FFFFFF"/>
                </a:highlight>
                <a:latin typeface="Maven Pro"/>
                <a:ea typeface="Maven Pro"/>
                <a:cs typeface="Maven Pro"/>
                <a:sym typeface="Maven Pro"/>
              </a:rPr>
              <a:t> représentant un ensemble de répliques de chaque processus, permettant ainsi une </a:t>
            </a:r>
            <a:r>
              <a:rPr b="1" lang="en-GB" sz="1100">
                <a:solidFill>
                  <a:srgbClr val="404040"/>
                </a:solidFill>
                <a:highlight>
                  <a:srgbClr val="FFFFFF"/>
                </a:highlight>
                <a:latin typeface="Maven Pro"/>
                <a:ea typeface="Maven Pro"/>
                <a:cs typeface="Maven Pro"/>
                <a:sym typeface="Maven Pro"/>
              </a:rPr>
              <a:t>haute disponibilité</a:t>
            </a:r>
            <a:r>
              <a:rPr lang="en-GB" sz="1100">
                <a:solidFill>
                  <a:srgbClr val="404040"/>
                </a:solidFill>
                <a:highlight>
                  <a:srgbClr val="FFFFFF"/>
                </a:highlight>
                <a:latin typeface="Maven Pro"/>
                <a:ea typeface="Maven Pro"/>
                <a:cs typeface="Maven Pro"/>
                <a:sym typeface="Maven Pro"/>
              </a:rPr>
              <a:t>. De plus, on ne se réfère plus à des hôtes Docker individuels avec des noms et adresses IP spécifiques sur lesquels déployer des conteneurs ; on parle désormais de </a:t>
            </a:r>
            <a:r>
              <a:rPr b="1" lang="en-GB" sz="1100">
                <a:solidFill>
                  <a:srgbClr val="404040"/>
                </a:solidFill>
                <a:highlight>
                  <a:srgbClr val="FFFFFF"/>
                </a:highlight>
                <a:latin typeface="Maven Pro"/>
                <a:ea typeface="Maven Pro"/>
                <a:cs typeface="Maven Pro"/>
                <a:sym typeface="Maven Pro"/>
              </a:rPr>
              <a:t>clusters d’hôtes</a:t>
            </a:r>
            <a:r>
              <a:rPr lang="en-GB" sz="1100">
                <a:solidFill>
                  <a:srgbClr val="404040"/>
                </a:solidFill>
                <a:highlight>
                  <a:srgbClr val="FFFFFF"/>
                </a:highlight>
                <a:latin typeface="Maven Pro"/>
                <a:ea typeface="Maven Pro"/>
                <a:cs typeface="Maven Pro"/>
                <a:sym typeface="Maven Pro"/>
              </a:rPr>
              <a:t> sur lesquels déployer des services.</a:t>
            </a:r>
            <a:endParaRPr sz="1100">
              <a:solidFill>
                <a:srgbClr val="404040"/>
              </a:solidFill>
              <a:highlight>
                <a:srgbClr val="FFFFFF"/>
              </a:highlight>
              <a:latin typeface="Maven Pro"/>
              <a:ea typeface="Maven Pro"/>
              <a:cs typeface="Maven Pro"/>
              <a:sym typeface="Maven Pro"/>
            </a:endParaRPr>
          </a:p>
          <a:p>
            <a:pPr indent="0" lvl="0" marL="0" rtl="0" algn="just">
              <a:lnSpc>
                <a:spcPct val="178593"/>
              </a:lnSpc>
              <a:spcBef>
                <a:spcPts val="1000"/>
              </a:spcBef>
              <a:spcAft>
                <a:spcPts val="1000"/>
              </a:spcAft>
              <a:buClr>
                <a:schemeClr val="dk1"/>
              </a:buClr>
              <a:buSzPts val="1100"/>
              <a:buFont typeface="Arial"/>
              <a:buNone/>
            </a:pPr>
            <a:r>
              <a:rPr lang="en-GB" sz="1100">
                <a:solidFill>
                  <a:srgbClr val="404040"/>
                </a:solidFill>
                <a:highlight>
                  <a:srgbClr val="FFFFFF"/>
                </a:highlight>
                <a:latin typeface="Maven Pro"/>
                <a:ea typeface="Maven Pro"/>
                <a:cs typeface="Maven Pro"/>
                <a:sym typeface="Maven Pro"/>
              </a:rPr>
              <a:t>L’idée est de ne plus se préoccuper d’un hôte ou nœud spécifique. On ne lui attribue plus de nom significatif ; chaque nœud devient plutôt un simple numéro. De même, on ne s’intéresse plus aux conteneurs individuels ni à leur emplacement de déploiement. L’objectif principal est de maintenir un </a:t>
            </a:r>
            <a:r>
              <a:rPr b="1" lang="en-GB" sz="1100">
                <a:solidFill>
                  <a:srgbClr val="404040"/>
                </a:solidFill>
                <a:highlight>
                  <a:srgbClr val="FFFFFF"/>
                </a:highlight>
                <a:latin typeface="Maven Pro"/>
                <a:ea typeface="Maven Pro"/>
                <a:cs typeface="Maven Pro"/>
                <a:sym typeface="Maven Pro"/>
              </a:rPr>
              <a:t>état souhaité</a:t>
            </a:r>
            <a:r>
              <a:rPr lang="en-GB" sz="1100">
                <a:solidFill>
                  <a:srgbClr val="404040"/>
                </a:solidFill>
                <a:highlight>
                  <a:srgbClr val="FFFFFF"/>
                </a:highlight>
                <a:latin typeface="Maven Pro"/>
                <a:ea typeface="Maven Pro"/>
                <a:cs typeface="Maven Pro"/>
                <a:sym typeface="Maven Pro"/>
              </a:rPr>
              <a:t> défini via un service, indépendamment des détails d’infrastructure sous-jacents.</a:t>
            </a:r>
            <a:endParaRPr sz="1100">
              <a:solidFill>
                <a:schemeClr val="dk1"/>
              </a:solidFill>
              <a:latin typeface="Maven Pro"/>
              <a:ea typeface="Maven Pro"/>
              <a:cs typeface="Maven Pro"/>
              <a:sym typeface="Maven Pro"/>
            </a:endParaRPr>
          </a:p>
        </p:txBody>
      </p:sp>
      <p:sp>
        <p:nvSpPr>
          <p:cNvPr id="1767" name="Google Shape;1767;p1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68" name="Google Shape;1768;p171"/>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69" name="Google Shape;1769;p171"/>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Stacks, services, and tasks</a:t>
            </a:r>
            <a:endParaRPr sz="2000">
              <a:solidFill>
                <a:srgbClr val="073763"/>
              </a:solidFill>
              <a:latin typeface="Maven Pro"/>
              <a:ea typeface="Maven Pro"/>
              <a:cs typeface="Maven Pro"/>
              <a:sym typeface="Maven Pro"/>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3" name="Shape 1773"/>
        <p:cNvGrpSpPr/>
        <p:nvPr/>
      </p:nvGrpSpPr>
      <p:grpSpPr>
        <a:xfrm>
          <a:off x="0" y="0"/>
          <a:ext cx="0" cy="0"/>
          <a:chOff x="0" y="0"/>
          <a:chExt cx="0" cy="0"/>
        </a:xfrm>
      </p:grpSpPr>
      <p:sp>
        <p:nvSpPr>
          <p:cNvPr id="1774" name="Google Shape;1774;p172"/>
          <p:cNvSpPr txBox="1"/>
          <p:nvPr/>
        </p:nvSpPr>
        <p:spPr>
          <a:xfrm>
            <a:off x="0" y="1169450"/>
            <a:ext cx="9144000" cy="1845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0"/>
              </a:spcAft>
              <a:buClr>
                <a:schemeClr val="dk1"/>
              </a:buClr>
              <a:buSzPts val="1100"/>
              <a:buFont typeface="Arial"/>
              <a:buNone/>
            </a:pPr>
            <a:r>
              <a:rPr lang="en-GB" sz="1100">
                <a:solidFill>
                  <a:srgbClr val="404040"/>
                </a:solidFill>
                <a:highlight>
                  <a:srgbClr val="FFFFFF"/>
                </a:highlight>
                <a:latin typeface="Maven Pro"/>
                <a:ea typeface="Maven Pro"/>
                <a:cs typeface="Maven Pro"/>
                <a:sym typeface="Maven Pro"/>
              </a:rPr>
              <a:t>Lorsqu'on utilise un </a:t>
            </a:r>
            <a:r>
              <a:rPr b="1" lang="en-GB" sz="1100">
                <a:solidFill>
                  <a:srgbClr val="404040"/>
                </a:solidFill>
                <a:highlight>
                  <a:srgbClr val="FFFFFF"/>
                </a:highlight>
                <a:latin typeface="Maven Pro"/>
                <a:ea typeface="Maven Pro"/>
                <a:cs typeface="Maven Pro"/>
                <a:sym typeface="Maven Pro"/>
              </a:rPr>
              <a:t>Docker Swarm</a:t>
            </a:r>
            <a:r>
              <a:rPr lang="en-GB" sz="1100">
                <a:solidFill>
                  <a:srgbClr val="404040"/>
                </a:solidFill>
                <a:highlight>
                  <a:srgbClr val="FFFFFF"/>
                </a:highlight>
                <a:latin typeface="Maven Pro"/>
                <a:ea typeface="Maven Pro"/>
                <a:cs typeface="Maven Pro"/>
                <a:sym typeface="Maven Pro"/>
              </a:rPr>
              <a:t> par opposition à un seul hôte Docker, il y a un </a:t>
            </a:r>
            <a:r>
              <a:rPr b="1" lang="en-GB" sz="1100">
                <a:solidFill>
                  <a:srgbClr val="404040"/>
                </a:solidFill>
                <a:highlight>
                  <a:srgbClr val="FFFFFF"/>
                </a:highlight>
                <a:latin typeface="Maven Pro"/>
                <a:ea typeface="Maven Pro"/>
                <a:cs typeface="Maven Pro"/>
                <a:sym typeface="Maven Pro"/>
              </a:rPr>
              <a:t>changement de paradigme</a:t>
            </a:r>
            <a:r>
              <a:rPr lang="en-GB" sz="1100">
                <a:solidFill>
                  <a:srgbClr val="404040"/>
                </a:solidFill>
                <a:highlight>
                  <a:srgbClr val="FFFFFF"/>
                </a:highlight>
                <a:latin typeface="Maven Pro"/>
                <a:ea typeface="Maven Pro"/>
                <a:cs typeface="Maven Pro"/>
                <a:sym typeface="Maven Pro"/>
              </a:rPr>
              <a:t>. Au lieu de parler de conteneurs individuels exécutant des processus, on passe à un niveau d'abstraction avec des </a:t>
            </a:r>
            <a:r>
              <a:rPr b="1" lang="en-GB" sz="1100">
                <a:solidFill>
                  <a:srgbClr val="404040"/>
                </a:solidFill>
                <a:highlight>
                  <a:srgbClr val="FFFFFF"/>
                </a:highlight>
                <a:latin typeface="Maven Pro"/>
                <a:ea typeface="Maven Pro"/>
                <a:cs typeface="Maven Pro"/>
                <a:sym typeface="Maven Pro"/>
              </a:rPr>
              <a:t>services</a:t>
            </a:r>
            <a:r>
              <a:rPr lang="en-GB" sz="1100">
                <a:solidFill>
                  <a:srgbClr val="404040"/>
                </a:solidFill>
                <a:highlight>
                  <a:srgbClr val="FFFFFF"/>
                </a:highlight>
                <a:latin typeface="Maven Pro"/>
                <a:ea typeface="Maven Pro"/>
                <a:cs typeface="Maven Pro"/>
                <a:sym typeface="Maven Pro"/>
              </a:rPr>
              <a:t> représentant un ensemble de répliques de chaque processus, permettant ainsi une </a:t>
            </a:r>
            <a:r>
              <a:rPr b="1" lang="en-GB" sz="1100">
                <a:solidFill>
                  <a:srgbClr val="404040"/>
                </a:solidFill>
                <a:highlight>
                  <a:srgbClr val="FFFFFF"/>
                </a:highlight>
                <a:latin typeface="Maven Pro"/>
                <a:ea typeface="Maven Pro"/>
                <a:cs typeface="Maven Pro"/>
                <a:sym typeface="Maven Pro"/>
              </a:rPr>
              <a:t>haute disponibilité</a:t>
            </a:r>
            <a:r>
              <a:rPr lang="en-GB" sz="1100">
                <a:solidFill>
                  <a:srgbClr val="404040"/>
                </a:solidFill>
                <a:highlight>
                  <a:srgbClr val="FFFFFF"/>
                </a:highlight>
                <a:latin typeface="Maven Pro"/>
                <a:ea typeface="Maven Pro"/>
                <a:cs typeface="Maven Pro"/>
                <a:sym typeface="Maven Pro"/>
              </a:rPr>
              <a:t>. De plus, on ne se réfère plus à des hôtes Docker individuels avec des noms et adresses IP spécifiques sur lesquels déployer des conteneurs ; on parle désormais de </a:t>
            </a:r>
            <a:r>
              <a:rPr b="1" lang="en-GB" sz="1100">
                <a:solidFill>
                  <a:srgbClr val="404040"/>
                </a:solidFill>
                <a:highlight>
                  <a:srgbClr val="FFFFFF"/>
                </a:highlight>
                <a:latin typeface="Maven Pro"/>
                <a:ea typeface="Maven Pro"/>
                <a:cs typeface="Maven Pro"/>
                <a:sym typeface="Maven Pro"/>
              </a:rPr>
              <a:t>clusters d’hôtes</a:t>
            </a:r>
            <a:r>
              <a:rPr lang="en-GB" sz="1100">
                <a:solidFill>
                  <a:srgbClr val="404040"/>
                </a:solidFill>
                <a:highlight>
                  <a:srgbClr val="FFFFFF"/>
                </a:highlight>
                <a:latin typeface="Maven Pro"/>
                <a:ea typeface="Maven Pro"/>
                <a:cs typeface="Maven Pro"/>
                <a:sym typeface="Maven Pro"/>
              </a:rPr>
              <a:t> sur lesquels déployer des services.</a:t>
            </a:r>
            <a:endParaRPr sz="1100">
              <a:solidFill>
                <a:srgbClr val="404040"/>
              </a:solidFill>
              <a:highlight>
                <a:srgbClr val="FFFFFF"/>
              </a:highlight>
              <a:latin typeface="Maven Pro"/>
              <a:ea typeface="Maven Pro"/>
              <a:cs typeface="Maven Pro"/>
              <a:sym typeface="Maven Pro"/>
            </a:endParaRPr>
          </a:p>
          <a:p>
            <a:pPr indent="0" lvl="0" marL="0" rtl="0" algn="just">
              <a:lnSpc>
                <a:spcPct val="115000"/>
              </a:lnSpc>
              <a:spcBef>
                <a:spcPts val="1000"/>
              </a:spcBef>
              <a:spcAft>
                <a:spcPts val="1000"/>
              </a:spcAft>
              <a:buClr>
                <a:schemeClr val="dk1"/>
              </a:buClr>
              <a:buSzPts val="1100"/>
              <a:buFont typeface="Arial"/>
              <a:buNone/>
            </a:pPr>
            <a:r>
              <a:rPr lang="en-GB" sz="1100">
                <a:solidFill>
                  <a:srgbClr val="404040"/>
                </a:solidFill>
                <a:highlight>
                  <a:srgbClr val="FFFFFF"/>
                </a:highlight>
                <a:latin typeface="Maven Pro"/>
                <a:ea typeface="Maven Pro"/>
                <a:cs typeface="Maven Pro"/>
                <a:sym typeface="Maven Pro"/>
              </a:rPr>
              <a:t>L’idée est de ne plus se préoccuper d’un hôte ou nœud spécifique. On ne lui attribue plus de nom significatif ; chaque nœud devient plutôt un simple numéro. De même, on ne s’intéresse plus aux conteneurs individuels ni à leur emplacement de déploiement. L’objectif principal est de maintenir un </a:t>
            </a:r>
            <a:r>
              <a:rPr b="1" lang="en-GB" sz="1100">
                <a:solidFill>
                  <a:srgbClr val="404040"/>
                </a:solidFill>
                <a:highlight>
                  <a:srgbClr val="FFFFFF"/>
                </a:highlight>
                <a:latin typeface="Maven Pro"/>
                <a:ea typeface="Maven Pro"/>
                <a:cs typeface="Maven Pro"/>
                <a:sym typeface="Maven Pro"/>
              </a:rPr>
              <a:t>état souhaité</a:t>
            </a:r>
            <a:r>
              <a:rPr lang="en-GB" sz="1100">
                <a:solidFill>
                  <a:srgbClr val="404040"/>
                </a:solidFill>
                <a:highlight>
                  <a:srgbClr val="FFFFFF"/>
                </a:highlight>
                <a:latin typeface="Maven Pro"/>
                <a:ea typeface="Maven Pro"/>
                <a:cs typeface="Maven Pro"/>
                <a:sym typeface="Maven Pro"/>
              </a:rPr>
              <a:t> défini via un service, indépendamment des détails d’infrastructure sous-jacents.</a:t>
            </a:r>
            <a:endParaRPr sz="1100">
              <a:solidFill>
                <a:schemeClr val="dk1"/>
              </a:solidFill>
              <a:latin typeface="Maven Pro"/>
              <a:ea typeface="Maven Pro"/>
              <a:cs typeface="Maven Pro"/>
              <a:sym typeface="Maven Pro"/>
            </a:endParaRPr>
          </a:p>
        </p:txBody>
      </p:sp>
      <p:sp>
        <p:nvSpPr>
          <p:cNvPr id="1775" name="Google Shape;1775;p1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76" name="Google Shape;1776;p172"/>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77" name="Google Shape;1777;p172"/>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Stacks, services, and tasks</a:t>
            </a:r>
            <a:endParaRPr sz="2000">
              <a:solidFill>
                <a:srgbClr val="073763"/>
              </a:solidFill>
              <a:latin typeface="Maven Pro"/>
              <a:ea typeface="Maven Pro"/>
              <a:cs typeface="Maven Pro"/>
              <a:sym typeface="Maven Pro"/>
            </a:endParaRPr>
          </a:p>
        </p:txBody>
      </p:sp>
      <p:pic>
        <p:nvPicPr>
          <p:cNvPr id="1778" name="Google Shape;1778;p172"/>
          <p:cNvPicPr preferRelativeResize="0"/>
          <p:nvPr/>
        </p:nvPicPr>
        <p:blipFill>
          <a:blip r:embed="rId4">
            <a:alphaModFix/>
          </a:blip>
          <a:stretch>
            <a:fillRect/>
          </a:stretch>
        </p:blipFill>
        <p:spPr>
          <a:xfrm>
            <a:off x="2057181" y="2983425"/>
            <a:ext cx="5029632" cy="2128750"/>
          </a:xfrm>
          <a:prstGeom prst="rect">
            <a:avLst/>
          </a:prstGeom>
          <a:noFill/>
          <a:ln>
            <a:noFill/>
          </a:ln>
        </p:spPr>
      </p:pic>
      <p:sp>
        <p:nvSpPr>
          <p:cNvPr id="1779" name="Google Shape;1779;p172"/>
          <p:cNvSpPr txBox="1"/>
          <p:nvPr/>
        </p:nvSpPr>
        <p:spPr>
          <a:xfrm>
            <a:off x="2032350" y="4773750"/>
            <a:ext cx="5079300" cy="3540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1000"/>
              </a:spcBef>
              <a:spcAft>
                <a:spcPts val="1000"/>
              </a:spcAft>
              <a:buClr>
                <a:schemeClr val="dk1"/>
              </a:buClr>
              <a:buSzPts val="1100"/>
              <a:buFont typeface="Arial"/>
              <a:buNone/>
            </a:pPr>
            <a:r>
              <a:rPr lang="en-GB" sz="1100">
                <a:solidFill>
                  <a:srgbClr val="404040"/>
                </a:solidFill>
                <a:highlight>
                  <a:srgbClr val="FFFFFF"/>
                </a:highlight>
                <a:latin typeface="Maven Pro"/>
                <a:ea typeface="Maven Pro"/>
                <a:cs typeface="Maven Pro"/>
                <a:sym typeface="Maven Pro"/>
              </a:rPr>
              <a:t>Containers are deployed to well-known servers</a:t>
            </a:r>
            <a:endParaRPr sz="1100">
              <a:solidFill>
                <a:srgbClr val="404040"/>
              </a:solidFill>
              <a:highlight>
                <a:srgbClr val="FFFFFF"/>
              </a:highlight>
              <a:latin typeface="Maven Pro"/>
              <a:ea typeface="Maven Pro"/>
              <a:cs typeface="Maven Pro"/>
              <a:sym typeface="Maven Pro"/>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3" name="Shape 1783"/>
        <p:cNvGrpSpPr/>
        <p:nvPr/>
      </p:nvGrpSpPr>
      <p:grpSpPr>
        <a:xfrm>
          <a:off x="0" y="0"/>
          <a:ext cx="0" cy="0"/>
          <a:chOff x="0" y="0"/>
          <a:chExt cx="0" cy="0"/>
        </a:xfrm>
      </p:grpSpPr>
      <p:sp>
        <p:nvSpPr>
          <p:cNvPr id="1784" name="Google Shape;1784;p173"/>
          <p:cNvSpPr txBox="1"/>
          <p:nvPr/>
        </p:nvSpPr>
        <p:spPr>
          <a:xfrm>
            <a:off x="0" y="1169450"/>
            <a:ext cx="9144000" cy="794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1000"/>
              </a:spcAft>
              <a:buClr>
                <a:schemeClr val="dk1"/>
              </a:buClr>
              <a:buSzPts val="1100"/>
              <a:buFont typeface="Arial"/>
              <a:buNone/>
            </a:pPr>
            <a:r>
              <a:rPr i="1" lang="en-GB" sz="1200">
                <a:solidFill>
                  <a:srgbClr val="404040"/>
                </a:solidFill>
                <a:highlight>
                  <a:srgbClr val="FFFFFF"/>
                </a:highlight>
                <a:latin typeface="Roboto"/>
                <a:ea typeface="Roboto"/>
                <a:cs typeface="Roboto"/>
                <a:sym typeface="Roboto"/>
              </a:rPr>
              <a:t>Plutôt que de déployer des conteneurs individuels sur des serveurs spécifiques et identifiables</a:t>
            </a:r>
            <a:r>
              <a:rPr lang="en-GB" sz="1200">
                <a:solidFill>
                  <a:srgbClr val="404040"/>
                </a:solidFill>
                <a:highlight>
                  <a:srgbClr val="FFFFFF"/>
                </a:highlight>
                <a:latin typeface="Roboto"/>
                <a:ea typeface="Roboto"/>
                <a:cs typeface="Roboto"/>
                <a:sym typeface="Roboto"/>
              </a:rPr>
              <a:t> (comme dans le schéma précédent, où nous déployons le </a:t>
            </a:r>
            <a:r>
              <a:rPr b="1" lang="en-GB" sz="1200">
                <a:solidFill>
                  <a:srgbClr val="404040"/>
                </a:solidFill>
                <a:highlight>
                  <a:srgbClr val="FFFFFF"/>
                </a:highlight>
                <a:latin typeface="Roboto"/>
                <a:ea typeface="Roboto"/>
                <a:cs typeface="Roboto"/>
                <a:sym typeface="Roboto"/>
              </a:rPr>
              <a:t>conteneur web</a:t>
            </a:r>
            <a:r>
              <a:rPr lang="en-GB" sz="1200">
                <a:solidFill>
                  <a:srgbClr val="404040"/>
                </a:solidFill>
                <a:highlight>
                  <a:srgbClr val="FFFFFF"/>
                </a:highlight>
                <a:latin typeface="Roboto"/>
                <a:ea typeface="Roboto"/>
                <a:cs typeface="Roboto"/>
                <a:sym typeface="Roboto"/>
              </a:rPr>
              <a:t> sur le serveur </a:t>
            </a:r>
            <a:r>
              <a:rPr i="1" lang="en-GB" sz="1200">
                <a:solidFill>
                  <a:srgbClr val="404040"/>
                </a:solidFill>
                <a:highlight>
                  <a:srgbClr val="FFFFFF"/>
                </a:highlight>
                <a:latin typeface="Roboto"/>
                <a:ea typeface="Roboto"/>
                <a:cs typeface="Roboto"/>
                <a:sym typeface="Roboto"/>
              </a:rPr>
              <a:t>alpha</a:t>
            </a:r>
            <a:r>
              <a:rPr lang="en-GB" sz="1200">
                <a:solidFill>
                  <a:srgbClr val="404040"/>
                </a:solidFill>
                <a:highlight>
                  <a:srgbClr val="FFFFFF"/>
                </a:highlight>
                <a:latin typeface="Roboto"/>
                <a:ea typeface="Roboto"/>
                <a:cs typeface="Roboto"/>
                <a:sym typeface="Roboto"/>
              </a:rPr>
              <a:t> avec l’adresse IP </a:t>
            </a:r>
            <a:r>
              <a:rPr lang="en-GB" sz="950">
                <a:solidFill>
                  <a:srgbClr val="404040"/>
                </a:solidFill>
                <a:highlight>
                  <a:srgbClr val="ECECEC"/>
                </a:highlight>
                <a:latin typeface="Roboto Mono"/>
                <a:ea typeface="Roboto Mono"/>
                <a:cs typeface="Roboto Mono"/>
                <a:sym typeface="Roboto Mono"/>
              </a:rPr>
              <a:t>52.120.12.1</a:t>
            </a:r>
            <a:r>
              <a:rPr lang="en-GB" sz="1200">
                <a:solidFill>
                  <a:srgbClr val="404040"/>
                </a:solidFill>
                <a:highlight>
                  <a:srgbClr val="FFFFFF"/>
                </a:highlight>
                <a:latin typeface="Roboto"/>
                <a:ea typeface="Roboto"/>
                <a:cs typeface="Roboto"/>
                <a:sym typeface="Roboto"/>
              </a:rPr>
              <a:t>, et le </a:t>
            </a:r>
            <a:r>
              <a:rPr b="1" lang="en-GB" sz="1200">
                <a:solidFill>
                  <a:srgbClr val="404040"/>
                </a:solidFill>
                <a:highlight>
                  <a:srgbClr val="FFFFFF"/>
                </a:highlight>
                <a:latin typeface="Roboto"/>
                <a:ea typeface="Roboto"/>
                <a:cs typeface="Roboto"/>
                <a:sym typeface="Roboto"/>
              </a:rPr>
              <a:t>conteneur de paiement</a:t>
            </a:r>
            <a:r>
              <a:rPr lang="en-GB" sz="1200">
                <a:solidFill>
                  <a:srgbClr val="404040"/>
                </a:solidFill>
                <a:highlight>
                  <a:srgbClr val="FFFFFF"/>
                </a:highlight>
                <a:latin typeface="Roboto"/>
                <a:ea typeface="Roboto"/>
                <a:cs typeface="Roboto"/>
                <a:sym typeface="Roboto"/>
              </a:rPr>
              <a:t> sur le serveur </a:t>
            </a:r>
            <a:r>
              <a:rPr i="1" lang="en-GB" sz="1200">
                <a:solidFill>
                  <a:srgbClr val="404040"/>
                </a:solidFill>
                <a:highlight>
                  <a:srgbClr val="FFFFFF"/>
                </a:highlight>
                <a:latin typeface="Roboto"/>
                <a:ea typeface="Roboto"/>
                <a:cs typeface="Roboto"/>
                <a:sym typeface="Roboto"/>
              </a:rPr>
              <a:t>bêta</a:t>
            </a:r>
            <a:r>
              <a:rPr lang="en-GB" sz="1200">
                <a:solidFill>
                  <a:srgbClr val="404040"/>
                </a:solidFill>
                <a:highlight>
                  <a:srgbClr val="FFFFFF"/>
                </a:highlight>
                <a:latin typeface="Roboto"/>
                <a:ea typeface="Roboto"/>
                <a:cs typeface="Roboto"/>
                <a:sym typeface="Roboto"/>
              </a:rPr>
              <a:t> avec l’IP </a:t>
            </a:r>
            <a:r>
              <a:rPr lang="en-GB" sz="950">
                <a:solidFill>
                  <a:srgbClr val="404040"/>
                </a:solidFill>
                <a:highlight>
                  <a:srgbClr val="ECECEC"/>
                </a:highlight>
                <a:latin typeface="Roboto Mono"/>
                <a:ea typeface="Roboto Mono"/>
                <a:cs typeface="Roboto Mono"/>
                <a:sym typeface="Roboto Mono"/>
              </a:rPr>
              <a:t>52.121.24.33</a:t>
            </a:r>
            <a:r>
              <a:rPr lang="en-GB" sz="1200">
                <a:solidFill>
                  <a:srgbClr val="404040"/>
                </a:solidFill>
                <a:highlight>
                  <a:srgbClr val="FFFFFF"/>
                </a:highlight>
                <a:latin typeface="Roboto"/>
                <a:ea typeface="Roboto"/>
                <a:cs typeface="Roboto"/>
                <a:sym typeface="Roboto"/>
              </a:rPr>
              <a:t>), </a:t>
            </a:r>
            <a:r>
              <a:rPr i="1" lang="en-GB" sz="1200">
                <a:solidFill>
                  <a:srgbClr val="404040"/>
                </a:solidFill>
                <a:highlight>
                  <a:srgbClr val="FFFFFF"/>
                </a:highlight>
                <a:latin typeface="Roboto"/>
                <a:ea typeface="Roboto"/>
                <a:cs typeface="Roboto"/>
                <a:sym typeface="Roboto"/>
              </a:rPr>
              <a:t>nous basculons vers ce nouveau paradigme de </a:t>
            </a:r>
            <a:r>
              <a:rPr b="1" i="1" lang="en-GB" sz="1200">
                <a:solidFill>
                  <a:srgbClr val="404040"/>
                </a:solidFill>
                <a:highlight>
                  <a:srgbClr val="FFFFFF"/>
                </a:highlight>
                <a:latin typeface="Roboto"/>
                <a:ea typeface="Roboto"/>
                <a:cs typeface="Roboto"/>
                <a:sym typeface="Roboto"/>
              </a:rPr>
              <a:t>services</a:t>
            </a:r>
            <a:r>
              <a:rPr i="1" lang="en-GB" sz="1200">
                <a:solidFill>
                  <a:srgbClr val="404040"/>
                </a:solidFill>
                <a:highlight>
                  <a:srgbClr val="FFFFFF"/>
                </a:highlight>
                <a:latin typeface="Roboto"/>
                <a:ea typeface="Roboto"/>
                <a:cs typeface="Roboto"/>
                <a:sym typeface="Roboto"/>
              </a:rPr>
              <a:t> et de </a:t>
            </a:r>
            <a:r>
              <a:rPr b="1" i="1" lang="en-GB" sz="1200">
                <a:solidFill>
                  <a:srgbClr val="404040"/>
                </a:solidFill>
                <a:highlight>
                  <a:srgbClr val="FFFFFF"/>
                </a:highlight>
                <a:latin typeface="Roboto"/>
                <a:ea typeface="Roboto"/>
                <a:cs typeface="Roboto"/>
                <a:sym typeface="Roboto"/>
              </a:rPr>
              <a:t>Swarms</a:t>
            </a:r>
            <a:r>
              <a:rPr lang="en-GB" sz="1200">
                <a:solidFill>
                  <a:srgbClr val="404040"/>
                </a:solidFill>
                <a:highlight>
                  <a:srgbClr val="FFFFFF"/>
                </a:highlight>
                <a:latin typeface="Roboto"/>
                <a:ea typeface="Roboto"/>
                <a:cs typeface="Roboto"/>
                <a:sym typeface="Roboto"/>
              </a:rPr>
              <a:t> (ou plus généralement, de </a:t>
            </a:r>
            <a:r>
              <a:rPr i="1" lang="en-GB" sz="1200">
                <a:solidFill>
                  <a:srgbClr val="404040"/>
                </a:solidFill>
                <a:highlight>
                  <a:srgbClr val="FFFFFF"/>
                </a:highlight>
                <a:latin typeface="Roboto"/>
                <a:ea typeface="Roboto"/>
                <a:cs typeface="Roboto"/>
                <a:sym typeface="Roboto"/>
              </a:rPr>
              <a:t>clusters</a:t>
            </a:r>
            <a:r>
              <a:rPr lang="en-GB" sz="1200">
                <a:solidFill>
                  <a:srgbClr val="404040"/>
                </a:solidFill>
                <a:highlight>
                  <a:srgbClr val="FFFFFF"/>
                </a:highlight>
                <a:latin typeface="Roboto"/>
                <a:ea typeface="Roboto"/>
                <a:cs typeface="Roboto"/>
                <a:sym typeface="Roboto"/>
              </a:rPr>
              <a:t>) :</a:t>
            </a:r>
            <a:endParaRPr sz="1100">
              <a:solidFill>
                <a:schemeClr val="dk1"/>
              </a:solidFill>
              <a:latin typeface="Maven Pro"/>
              <a:ea typeface="Maven Pro"/>
              <a:cs typeface="Maven Pro"/>
              <a:sym typeface="Maven Pro"/>
            </a:endParaRPr>
          </a:p>
        </p:txBody>
      </p:sp>
      <p:sp>
        <p:nvSpPr>
          <p:cNvPr id="1785" name="Google Shape;1785;p1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86" name="Google Shape;1786;p173"/>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87" name="Google Shape;1787;p173"/>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Stacks, services, and tasks</a:t>
            </a:r>
            <a:endParaRPr sz="2000">
              <a:solidFill>
                <a:srgbClr val="073763"/>
              </a:solidFill>
              <a:latin typeface="Maven Pro"/>
              <a:ea typeface="Maven Pro"/>
              <a:cs typeface="Maven Pro"/>
              <a:sym typeface="Maven Pro"/>
            </a:endParaRPr>
          </a:p>
        </p:txBody>
      </p:sp>
      <p:pic>
        <p:nvPicPr>
          <p:cNvPr id="1788" name="Google Shape;1788;p173"/>
          <p:cNvPicPr preferRelativeResize="0"/>
          <p:nvPr/>
        </p:nvPicPr>
        <p:blipFill>
          <a:blip r:embed="rId4">
            <a:alphaModFix/>
          </a:blip>
          <a:stretch>
            <a:fillRect/>
          </a:stretch>
        </p:blipFill>
        <p:spPr>
          <a:xfrm>
            <a:off x="2058362" y="2181675"/>
            <a:ext cx="5027276" cy="2875150"/>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2" name="Shape 1792"/>
        <p:cNvGrpSpPr/>
        <p:nvPr/>
      </p:nvGrpSpPr>
      <p:grpSpPr>
        <a:xfrm>
          <a:off x="0" y="0"/>
          <a:ext cx="0" cy="0"/>
          <a:chOff x="0" y="0"/>
          <a:chExt cx="0" cy="0"/>
        </a:xfrm>
      </p:grpSpPr>
      <p:sp>
        <p:nvSpPr>
          <p:cNvPr id="1793" name="Google Shape;1793;p174"/>
          <p:cNvSpPr txBox="1"/>
          <p:nvPr/>
        </p:nvSpPr>
        <p:spPr>
          <a:xfrm>
            <a:off x="0" y="1169450"/>
            <a:ext cx="9144000" cy="1006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1000"/>
              </a:spcAft>
              <a:buClr>
                <a:schemeClr val="dk1"/>
              </a:buClr>
              <a:buSzPts val="1100"/>
              <a:buFont typeface="Arial"/>
              <a:buNone/>
            </a:pPr>
            <a:r>
              <a:rPr i="1" lang="en-GB" sz="1200">
                <a:solidFill>
                  <a:srgbClr val="404040"/>
                </a:solidFill>
                <a:highlight>
                  <a:srgbClr val="FFFFFF"/>
                </a:highlight>
                <a:latin typeface="Roboto"/>
                <a:ea typeface="Roboto"/>
                <a:cs typeface="Roboto"/>
                <a:sym typeface="Roboto"/>
              </a:rPr>
              <a:t>On constate qu’un </a:t>
            </a:r>
            <a:r>
              <a:rPr b="1" i="1" lang="en-GB" sz="1200">
                <a:solidFill>
                  <a:srgbClr val="404040"/>
                </a:solidFill>
                <a:highlight>
                  <a:srgbClr val="FFFFFF"/>
                </a:highlight>
                <a:latin typeface="Roboto"/>
                <a:ea typeface="Roboto"/>
                <a:cs typeface="Roboto"/>
                <a:sym typeface="Roboto"/>
              </a:rPr>
              <a:t>service web</a:t>
            </a:r>
            <a:r>
              <a:rPr i="1" lang="en-GB" sz="1200">
                <a:solidFill>
                  <a:srgbClr val="404040"/>
                </a:solidFill>
                <a:highlight>
                  <a:srgbClr val="FFFFFF"/>
                </a:highlight>
                <a:latin typeface="Roboto"/>
                <a:ea typeface="Roboto"/>
                <a:cs typeface="Roboto"/>
                <a:sym typeface="Roboto"/>
              </a:rPr>
              <a:t> et un </a:t>
            </a:r>
            <a:r>
              <a:rPr b="1" i="1" lang="en-GB" sz="1200">
                <a:solidFill>
                  <a:srgbClr val="404040"/>
                </a:solidFill>
                <a:highlight>
                  <a:srgbClr val="FFFFFF"/>
                </a:highlight>
                <a:latin typeface="Roboto"/>
                <a:ea typeface="Roboto"/>
                <a:cs typeface="Roboto"/>
                <a:sym typeface="Roboto"/>
              </a:rPr>
              <a:t>service d’inventaire</a:t>
            </a:r>
            <a:r>
              <a:rPr i="1" lang="en-GB" sz="1200">
                <a:solidFill>
                  <a:srgbClr val="404040"/>
                </a:solidFill>
                <a:highlight>
                  <a:srgbClr val="FFFFFF"/>
                </a:highlight>
                <a:latin typeface="Roboto"/>
                <a:ea typeface="Roboto"/>
                <a:cs typeface="Roboto"/>
                <a:sym typeface="Roboto"/>
              </a:rPr>
              <a:t> sont tous deux déployés sur un </a:t>
            </a:r>
            <a:r>
              <a:rPr b="1" i="1" lang="en-GB" sz="1200">
                <a:solidFill>
                  <a:srgbClr val="404040"/>
                </a:solidFill>
                <a:highlight>
                  <a:srgbClr val="FFFFFF"/>
                </a:highlight>
                <a:latin typeface="Roboto"/>
                <a:ea typeface="Roboto"/>
                <a:cs typeface="Roboto"/>
                <a:sym typeface="Roboto"/>
              </a:rPr>
              <a:t>Swarm</a:t>
            </a:r>
            <a:r>
              <a:rPr i="1" lang="en-GB" sz="1200">
                <a:solidFill>
                  <a:srgbClr val="404040"/>
                </a:solidFill>
                <a:highlight>
                  <a:srgbClr val="FFFFFF"/>
                </a:highlight>
                <a:latin typeface="Roboto"/>
                <a:ea typeface="Roboto"/>
                <a:cs typeface="Roboto"/>
                <a:sym typeface="Roboto"/>
              </a:rPr>
              <a:t> composé de nombreux nœuds. Chaque service dispose d’un nombre défini de </a:t>
            </a:r>
            <a:r>
              <a:rPr b="1" i="1" lang="en-GB" sz="1200">
                <a:solidFill>
                  <a:srgbClr val="404040"/>
                </a:solidFill>
                <a:highlight>
                  <a:srgbClr val="FFFFFF"/>
                </a:highlight>
                <a:latin typeface="Roboto"/>
                <a:ea typeface="Roboto"/>
                <a:cs typeface="Roboto"/>
                <a:sym typeface="Roboto"/>
              </a:rPr>
              <a:t>répliques</a:t>
            </a:r>
            <a:r>
              <a:rPr i="1" lang="en-GB" sz="1200">
                <a:solidFill>
                  <a:srgbClr val="404040"/>
                </a:solidFill>
                <a:highlight>
                  <a:srgbClr val="FFFFFF"/>
                </a:highlight>
                <a:latin typeface="Roboto"/>
                <a:ea typeface="Roboto"/>
                <a:cs typeface="Roboto"/>
                <a:sym typeface="Roboto"/>
              </a:rPr>
              <a:t> : cinq pour le service web et sept pour le service d’inventaire. Peu importe sur quel nœud les répliques s’exécuteront ; l’essentiel est que le nombre demandé de répliques soit toujours actif, quel que soit l’emplacement choisi par le </a:t>
            </a:r>
            <a:r>
              <a:rPr b="1" i="1" lang="en-GB" sz="1200">
                <a:solidFill>
                  <a:srgbClr val="404040"/>
                </a:solidFill>
                <a:highlight>
                  <a:srgbClr val="FFFFFF"/>
                </a:highlight>
                <a:latin typeface="Roboto"/>
                <a:ea typeface="Roboto"/>
                <a:cs typeface="Roboto"/>
                <a:sym typeface="Roboto"/>
              </a:rPr>
              <a:t>Swarm scheduler</a:t>
            </a:r>
            <a:r>
              <a:rPr i="1" lang="en-GB" sz="1200">
                <a:solidFill>
                  <a:srgbClr val="404040"/>
                </a:solidFill>
                <a:highlight>
                  <a:srgbClr val="FFFFFF"/>
                </a:highlight>
                <a:latin typeface="Roboto"/>
                <a:ea typeface="Roboto"/>
                <a:cs typeface="Roboto"/>
                <a:sym typeface="Roboto"/>
              </a:rPr>
              <a:t> pour les déployer.</a:t>
            </a:r>
            <a:endParaRPr sz="1100">
              <a:solidFill>
                <a:schemeClr val="dk1"/>
              </a:solidFill>
              <a:latin typeface="Maven Pro"/>
              <a:ea typeface="Maven Pro"/>
              <a:cs typeface="Maven Pro"/>
              <a:sym typeface="Maven Pro"/>
            </a:endParaRPr>
          </a:p>
        </p:txBody>
      </p:sp>
      <p:sp>
        <p:nvSpPr>
          <p:cNvPr id="1794" name="Google Shape;1794;p1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795" name="Google Shape;1795;p174"/>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796" name="Google Shape;1796;p174"/>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Stacks, services, and tasks</a:t>
            </a:r>
            <a:endParaRPr sz="2000">
              <a:solidFill>
                <a:srgbClr val="073763"/>
              </a:solidFill>
              <a:latin typeface="Maven Pro"/>
              <a:ea typeface="Maven Pro"/>
              <a:cs typeface="Maven Pro"/>
              <a:sym typeface="Maven Pro"/>
            </a:endParaRPr>
          </a:p>
        </p:txBody>
      </p:sp>
      <p:pic>
        <p:nvPicPr>
          <p:cNvPr id="1797" name="Google Shape;1797;p174"/>
          <p:cNvPicPr preferRelativeResize="0"/>
          <p:nvPr/>
        </p:nvPicPr>
        <p:blipFill>
          <a:blip r:embed="rId4">
            <a:alphaModFix/>
          </a:blip>
          <a:stretch>
            <a:fillRect/>
          </a:stretch>
        </p:blipFill>
        <p:spPr>
          <a:xfrm>
            <a:off x="2058362" y="2181675"/>
            <a:ext cx="5027276" cy="287515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175"/>
          <p:cNvSpPr txBox="1"/>
          <p:nvPr/>
        </p:nvSpPr>
        <p:spPr>
          <a:xfrm>
            <a:off x="591300" y="1169450"/>
            <a:ext cx="7708200" cy="4125300"/>
          </a:xfrm>
          <a:prstGeom prst="rect">
            <a:avLst/>
          </a:prstGeom>
          <a:noFill/>
          <a:ln>
            <a:noFill/>
          </a:ln>
        </p:spPr>
        <p:txBody>
          <a:bodyPr anchorCtr="0" anchor="t" bIns="91425" lIns="91425" spcFirstLastPara="1" rIns="91425" wrap="square" tIns="91425">
            <a:spAutoFit/>
          </a:bodyPr>
          <a:lstStyle/>
          <a:p>
            <a:pPr indent="0" lvl="0" marL="0" rtl="0" algn="just">
              <a:lnSpc>
                <a:spcPct val="178593"/>
              </a:lnSpc>
              <a:spcBef>
                <a:spcPts val="1000"/>
              </a:spcBef>
              <a:spcAft>
                <a:spcPts val="0"/>
              </a:spcAft>
              <a:buClr>
                <a:schemeClr val="dk1"/>
              </a:buClr>
              <a:buSzPts val="1100"/>
              <a:buFont typeface="Arial"/>
              <a:buNone/>
            </a:pPr>
            <a:r>
              <a:rPr b="1" lang="en-GB" sz="1200">
                <a:solidFill>
                  <a:srgbClr val="404040"/>
                </a:solidFill>
                <a:highlight>
                  <a:srgbClr val="FFFFFF"/>
                </a:highlight>
                <a:latin typeface="Roboto"/>
                <a:ea typeface="Roboto"/>
                <a:cs typeface="Roboto"/>
                <a:sym typeface="Roboto"/>
              </a:rPr>
              <a:t>Un service Swarm</a:t>
            </a:r>
            <a:r>
              <a:rPr lang="en-GB" sz="1200">
                <a:solidFill>
                  <a:srgbClr val="404040"/>
                </a:solidFill>
                <a:highlight>
                  <a:srgbClr val="FFFFFF"/>
                </a:highlight>
                <a:latin typeface="Roboto"/>
                <a:ea typeface="Roboto"/>
                <a:cs typeface="Roboto"/>
                <a:sym typeface="Roboto"/>
              </a:rPr>
              <a:t> est une entité abstraite. Il représente la </a:t>
            </a:r>
            <a:r>
              <a:rPr i="1" lang="en-GB" sz="1200">
                <a:solidFill>
                  <a:srgbClr val="404040"/>
                </a:solidFill>
                <a:highlight>
                  <a:srgbClr val="FFFFFF"/>
                </a:highlight>
                <a:latin typeface="Roboto"/>
                <a:ea typeface="Roboto"/>
                <a:cs typeface="Roboto"/>
                <a:sym typeface="Roboto"/>
              </a:rPr>
              <a:t>description de l'état souhaité</a:t>
            </a:r>
            <a:r>
              <a:rPr lang="en-GB" sz="1200">
                <a:solidFill>
                  <a:srgbClr val="404040"/>
                </a:solidFill>
                <a:highlight>
                  <a:srgbClr val="FFFFFF"/>
                </a:highlight>
                <a:latin typeface="Roboto"/>
                <a:ea typeface="Roboto"/>
                <a:cs typeface="Roboto"/>
                <a:sym typeface="Roboto"/>
              </a:rPr>
              <a:t> d'une application ou d'un service applicatif que nous voulons exécuter dans un Swarm. Ce service Swarm agit comme un </a:t>
            </a:r>
            <a:r>
              <a:rPr b="1" lang="en-GB" sz="1200">
                <a:solidFill>
                  <a:srgbClr val="404040"/>
                </a:solidFill>
                <a:highlight>
                  <a:srgbClr val="FFFFFF"/>
                </a:highlight>
                <a:latin typeface="Roboto"/>
                <a:ea typeface="Roboto"/>
                <a:cs typeface="Roboto"/>
                <a:sym typeface="Roboto"/>
              </a:rPr>
              <a:t>manifeste</a:t>
            </a:r>
            <a:r>
              <a:rPr lang="en-GB" sz="1200">
                <a:solidFill>
                  <a:srgbClr val="404040"/>
                </a:solidFill>
                <a:highlight>
                  <a:srgbClr val="FFFFFF"/>
                </a:highlight>
                <a:latin typeface="Roboto"/>
                <a:ea typeface="Roboto"/>
                <a:cs typeface="Roboto"/>
                <a:sym typeface="Roboto"/>
              </a:rPr>
              <a:t> décrivant des éléments tels que :</a:t>
            </a:r>
            <a:endParaRPr sz="1200">
              <a:solidFill>
                <a:srgbClr val="404040"/>
              </a:solidFill>
              <a:highlight>
                <a:srgbClr val="FFFFFF"/>
              </a:highlight>
              <a:latin typeface="Roboto"/>
              <a:ea typeface="Roboto"/>
              <a:cs typeface="Roboto"/>
              <a:sym typeface="Roboto"/>
            </a:endParaRPr>
          </a:p>
          <a:p>
            <a:pPr indent="-304800" lvl="0" marL="457200" rtl="0" algn="just">
              <a:lnSpc>
                <a:spcPct val="115000"/>
              </a:lnSpc>
              <a:spcBef>
                <a:spcPts val="1000"/>
              </a:spcBef>
              <a:spcAft>
                <a:spcPts val="0"/>
              </a:spcAft>
              <a:buClr>
                <a:srgbClr val="404040"/>
              </a:buClr>
              <a:buSzPts val="1200"/>
              <a:buFont typeface="Roboto"/>
              <a:buChar char="●"/>
            </a:pPr>
            <a:r>
              <a:rPr b="1" lang="en-GB" sz="1200">
                <a:solidFill>
                  <a:srgbClr val="404040"/>
                </a:solidFill>
                <a:highlight>
                  <a:srgbClr val="FFFFFF"/>
                </a:highlight>
                <a:latin typeface="Roboto"/>
                <a:ea typeface="Roboto"/>
                <a:cs typeface="Roboto"/>
                <a:sym typeface="Roboto"/>
              </a:rPr>
              <a:t>Le nom du service</a:t>
            </a:r>
            <a:endParaRPr b="1" sz="1200">
              <a:solidFill>
                <a:srgbClr val="404040"/>
              </a:solidFill>
              <a:highlight>
                <a:srgbClr val="FFFFFF"/>
              </a:highlight>
              <a:latin typeface="Roboto"/>
              <a:ea typeface="Roboto"/>
              <a:cs typeface="Roboto"/>
              <a:sym typeface="Roboto"/>
            </a:endParaRPr>
          </a:p>
          <a:p>
            <a:pPr indent="-304800" lvl="0" marL="457200" rtl="0" algn="just">
              <a:lnSpc>
                <a:spcPct val="115000"/>
              </a:lnSpc>
              <a:spcBef>
                <a:spcPts val="0"/>
              </a:spcBef>
              <a:spcAft>
                <a:spcPts val="0"/>
              </a:spcAft>
              <a:buClr>
                <a:srgbClr val="404040"/>
              </a:buClr>
              <a:buSzPts val="1200"/>
              <a:buFont typeface="Roboto"/>
              <a:buChar char="●"/>
            </a:pPr>
            <a:r>
              <a:rPr b="1" lang="en-GB" sz="1200">
                <a:solidFill>
                  <a:srgbClr val="404040"/>
                </a:solidFill>
                <a:highlight>
                  <a:srgbClr val="FFFFFF"/>
                </a:highlight>
                <a:latin typeface="Roboto"/>
                <a:ea typeface="Roboto"/>
                <a:cs typeface="Roboto"/>
                <a:sym typeface="Roboto"/>
              </a:rPr>
              <a:t>L'image</a:t>
            </a:r>
            <a:r>
              <a:rPr lang="en-GB" sz="1200">
                <a:solidFill>
                  <a:srgbClr val="404040"/>
                </a:solidFill>
                <a:highlight>
                  <a:srgbClr val="FFFFFF"/>
                </a:highlight>
                <a:latin typeface="Roboto"/>
                <a:ea typeface="Roboto"/>
                <a:cs typeface="Roboto"/>
                <a:sym typeface="Roboto"/>
              </a:rPr>
              <a:t> utilisée pour créer les conteneurs</a:t>
            </a:r>
            <a:endParaRPr sz="1200">
              <a:solidFill>
                <a:srgbClr val="404040"/>
              </a:solidFill>
              <a:highlight>
                <a:srgbClr val="FFFFFF"/>
              </a:highlight>
              <a:latin typeface="Roboto"/>
              <a:ea typeface="Roboto"/>
              <a:cs typeface="Roboto"/>
              <a:sym typeface="Roboto"/>
            </a:endParaRPr>
          </a:p>
          <a:p>
            <a:pPr indent="-304800" lvl="0" marL="457200" rtl="0" algn="just">
              <a:lnSpc>
                <a:spcPct val="115000"/>
              </a:lnSpc>
              <a:spcBef>
                <a:spcPts val="0"/>
              </a:spcBef>
              <a:spcAft>
                <a:spcPts val="0"/>
              </a:spcAft>
              <a:buClr>
                <a:srgbClr val="404040"/>
              </a:buClr>
              <a:buSzPts val="1200"/>
              <a:buFont typeface="Roboto"/>
              <a:buChar char="●"/>
            </a:pPr>
            <a:r>
              <a:rPr b="1" lang="en-GB" sz="1200">
                <a:solidFill>
                  <a:srgbClr val="404040"/>
                </a:solidFill>
                <a:highlight>
                  <a:srgbClr val="FFFFFF"/>
                </a:highlight>
                <a:latin typeface="Roboto"/>
                <a:ea typeface="Roboto"/>
                <a:cs typeface="Roboto"/>
                <a:sym typeface="Roboto"/>
              </a:rPr>
              <a:t>Le nombre de répliques</a:t>
            </a:r>
            <a:r>
              <a:rPr lang="en-GB" sz="1200">
                <a:solidFill>
                  <a:srgbClr val="404040"/>
                </a:solidFill>
                <a:highlight>
                  <a:srgbClr val="FFFFFF"/>
                </a:highlight>
                <a:latin typeface="Roboto"/>
                <a:ea typeface="Roboto"/>
                <a:cs typeface="Roboto"/>
                <a:sym typeface="Roboto"/>
              </a:rPr>
              <a:t> à exécuter</a:t>
            </a:r>
            <a:endParaRPr sz="1200">
              <a:solidFill>
                <a:srgbClr val="404040"/>
              </a:solidFill>
              <a:highlight>
                <a:srgbClr val="FFFFFF"/>
              </a:highlight>
              <a:latin typeface="Roboto"/>
              <a:ea typeface="Roboto"/>
              <a:cs typeface="Roboto"/>
              <a:sym typeface="Roboto"/>
            </a:endParaRPr>
          </a:p>
          <a:p>
            <a:pPr indent="-304800" lvl="0" marL="457200" rtl="0" algn="just">
              <a:lnSpc>
                <a:spcPct val="115000"/>
              </a:lnSpc>
              <a:spcBef>
                <a:spcPts val="0"/>
              </a:spcBef>
              <a:spcAft>
                <a:spcPts val="0"/>
              </a:spcAft>
              <a:buClr>
                <a:srgbClr val="404040"/>
              </a:buClr>
              <a:buSzPts val="1200"/>
              <a:buFont typeface="Roboto"/>
              <a:buChar char="●"/>
            </a:pPr>
            <a:r>
              <a:rPr b="1" lang="en-GB" sz="1200">
                <a:solidFill>
                  <a:srgbClr val="404040"/>
                </a:solidFill>
                <a:highlight>
                  <a:srgbClr val="FFFFFF"/>
                </a:highlight>
                <a:latin typeface="Roboto"/>
                <a:ea typeface="Roboto"/>
                <a:cs typeface="Roboto"/>
                <a:sym typeface="Roboto"/>
              </a:rPr>
              <a:t>Les réseaux</a:t>
            </a:r>
            <a:r>
              <a:rPr lang="en-GB" sz="1200">
                <a:solidFill>
                  <a:srgbClr val="404040"/>
                </a:solidFill>
                <a:highlight>
                  <a:srgbClr val="FFFFFF"/>
                </a:highlight>
                <a:latin typeface="Roboto"/>
                <a:ea typeface="Roboto"/>
                <a:cs typeface="Roboto"/>
                <a:sym typeface="Roboto"/>
              </a:rPr>
              <a:t> auxquels les conteneurs du service sont connectés</a:t>
            </a:r>
            <a:endParaRPr sz="1200">
              <a:solidFill>
                <a:srgbClr val="404040"/>
              </a:solidFill>
              <a:highlight>
                <a:srgbClr val="FFFFFF"/>
              </a:highlight>
              <a:latin typeface="Roboto"/>
              <a:ea typeface="Roboto"/>
              <a:cs typeface="Roboto"/>
              <a:sym typeface="Roboto"/>
            </a:endParaRPr>
          </a:p>
          <a:p>
            <a:pPr indent="-304800" lvl="0" marL="457200" rtl="0" algn="just">
              <a:lnSpc>
                <a:spcPct val="115000"/>
              </a:lnSpc>
              <a:spcBef>
                <a:spcPts val="0"/>
              </a:spcBef>
              <a:spcAft>
                <a:spcPts val="0"/>
              </a:spcAft>
              <a:buClr>
                <a:srgbClr val="404040"/>
              </a:buClr>
              <a:buSzPts val="1200"/>
              <a:buFont typeface="Roboto"/>
              <a:buChar char="●"/>
            </a:pPr>
            <a:r>
              <a:rPr b="1" lang="en-GB" sz="1200">
                <a:solidFill>
                  <a:srgbClr val="404040"/>
                </a:solidFill>
                <a:highlight>
                  <a:srgbClr val="FFFFFF"/>
                </a:highlight>
                <a:latin typeface="Roboto"/>
                <a:ea typeface="Roboto"/>
                <a:cs typeface="Roboto"/>
                <a:sym typeface="Roboto"/>
              </a:rPr>
              <a:t>Les ports</a:t>
            </a:r>
            <a:r>
              <a:rPr lang="en-GB" sz="1200">
                <a:solidFill>
                  <a:srgbClr val="404040"/>
                </a:solidFill>
                <a:highlight>
                  <a:srgbClr val="FFFFFF"/>
                </a:highlight>
                <a:latin typeface="Roboto"/>
                <a:ea typeface="Roboto"/>
                <a:cs typeface="Roboto"/>
                <a:sym typeface="Roboto"/>
              </a:rPr>
              <a:t> à mapper</a:t>
            </a:r>
            <a:endParaRPr sz="1200">
              <a:solidFill>
                <a:srgbClr val="404040"/>
              </a:solidFill>
              <a:highlight>
                <a:srgbClr val="FFFFFF"/>
              </a:highlight>
              <a:latin typeface="Roboto"/>
              <a:ea typeface="Roboto"/>
              <a:cs typeface="Roboto"/>
              <a:sym typeface="Roboto"/>
            </a:endParaRPr>
          </a:p>
          <a:p>
            <a:pPr indent="0" lvl="0" marL="0" rtl="0" algn="just">
              <a:lnSpc>
                <a:spcPct val="178593"/>
              </a:lnSpc>
              <a:spcBef>
                <a:spcPts val="1000"/>
              </a:spcBef>
              <a:spcAft>
                <a:spcPts val="0"/>
              </a:spcAft>
              <a:buClr>
                <a:schemeClr val="dk1"/>
              </a:buClr>
              <a:buSzPts val="1100"/>
              <a:buFont typeface="Arial"/>
              <a:buNone/>
            </a:pPr>
            <a:r>
              <a:rPr lang="en-GB" sz="1200">
                <a:solidFill>
                  <a:srgbClr val="404040"/>
                </a:solidFill>
                <a:highlight>
                  <a:srgbClr val="FFFFFF"/>
                </a:highlight>
                <a:latin typeface="Roboto"/>
                <a:ea typeface="Roboto"/>
                <a:cs typeface="Roboto"/>
                <a:sym typeface="Roboto"/>
              </a:rPr>
              <a:t>Une fois ce manifeste défini, le </a:t>
            </a:r>
            <a:r>
              <a:rPr b="1" lang="en-GB" sz="1200">
                <a:solidFill>
                  <a:srgbClr val="404040"/>
                </a:solidFill>
                <a:highlight>
                  <a:srgbClr val="FFFFFF"/>
                </a:highlight>
                <a:latin typeface="Roboto"/>
                <a:ea typeface="Roboto"/>
                <a:cs typeface="Roboto"/>
                <a:sym typeface="Roboto"/>
              </a:rPr>
              <a:t>Swarm manager</a:t>
            </a:r>
            <a:r>
              <a:rPr lang="en-GB" sz="1200">
                <a:solidFill>
                  <a:srgbClr val="404040"/>
                </a:solidFill>
                <a:highlight>
                  <a:srgbClr val="FFFFFF"/>
                </a:highlight>
                <a:latin typeface="Roboto"/>
                <a:ea typeface="Roboto"/>
                <a:cs typeface="Roboto"/>
                <a:sym typeface="Roboto"/>
              </a:rPr>
              <a:t> s'assure que l'état souhaité décrit est toujours respecté, même si l'état réel s'en écarte. Par exemple, si une instance du service plante, le</a:t>
            </a:r>
            <a:r>
              <a:rPr lang="en-GB" sz="1200">
                <a:solidFill>
                  <a:srgbClr val="404040"/>
                </a:solidFill>
                <a:highlight>
                  <a:srgbClr val="FFFFFF"/>
                </a:highlight>
                <a:latin typeface="Roboto"/>
                <a:ea typeface="Roboto"/>
                <a:cs typeface="Roboto"/>
                <a:sym typeface="Roboto"/>
              </a:rPr>
              <a:t> </a:t>
            </a:r>
            <a:r>
              <a:rPr b="1" lang="en-GB" sz="1200">
                <a:solidFill>
                  <a:srgbClr val="404040"/>
                </a:solidFill>
                <a:highlight>
                  <a:srgbClr val="FFFFFF"/>
                </a:highlight>
                <a:latin typeface="Roboto"/>
                <a:ea typeface="Roboto"/>
                <a:cs typeface="Roboto"/>
                <a:sym typeface="Roboto"/>
              </a:rPr>
              <a:t>scheduler</a:t>
            </a:r>
            <a:r>
              <a:rPr lang="en-GB" sz="1200">
                <a:solidFill>
                  <a:srgbClr val="404040"/>
                </a:solidFill>
                <a:highlight>
                  <a:srgbClr val="FFFFFF"/>
                </a:highlight>
                <a:latin typeface="Roboto"/>
                <a:ea typeface="Roboto"/>
                <a:cs typeface="Roboto"/>
                <a:sym typeface="Roboto"/>
              </a:rPr>
              <a:t> du Swarm manager programme une nouvelle instance de ce service sur un nœud disposant de ressources disponibles, afin de rétablir l'état souhaité.</a:t>
            </a:r>
            <a:endParaRPr sz="1200">
              <a:solidFill>
                <a:srgbClr val="404040"/>
              </a:solidFill>
              <a:highlight>
                <a:srgbClr val="FFFFFF"/>
              </a:highlight>
              <a:latin typeface="Roboto"/>
              <a:ea typeface="Roboto"/>
              <a:cs typeface="Roboto"/>
              <a:sym typeface="Roboto"/>
            </a:endParaRPr>
          </a:p>
          <a:p>
            <a:pPr indent="0" lvl="0" marL="0" rtl="0" algn="just">
              <a:lnSpc>
                <a:spcPct val="115000"/>
              </a:lnSpc>
              <a:spcBef>
                <a:spcPts val="1000"/>
              </a:spcBef>
              <a:spcAft>
                <a:spcPts val="1000"/>
              </a:spcAft>
              <a:buClr>
                <a:schemeClr val="dk1"/>
              </a:buClr>
              <a:buSzPts val="1100"/>
              <a:buFont typeface="Arial"/>
              <a:buNone/>
            </a:pPr>
            <a:r>
              <a:t/>
            </a:r>
            <a:endParaRPr i="1" sz="1200">
              <a:solidFill>
                <a:srgbClr val="404040"/>
              </a:solidFill>
              <a:highlight>
                <a:srgbClr val="FFFFFF"/>
              </a:highlight>
              <a:latin typeface="Roboto"/>
              <a:ea typeface="Roboto"/>
              <a:cs typeface="Roboto"/>
              <a:sym typeface="Roboto"/>
            </a:endParaRPr>
          </a:p>
        </p:txBody>
      </p:sp>
      <p:sp>
        <p:nvSpPr>
          <p:cNvPr id="1803" name="Google Shape;1803;p1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804" name="Google Shape;1804;p175"/>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805" name="Google Shape;1805;p175"/>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Services</a:t>
            </a:r>
            <a:endParaRPr sz="2000">
              <a:solidFill>
                <a:srgbClr val="073763"/>
              </a:solidFill>
              <a:latin typeface="Maven Pro"/>
              <a:ea typeface="Maven Pro"/>
              <a:cs typeface="Maven Pro"/>
              <a:sym typeface="Maven Pro"/>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9" name="Shape 1809"/>
        <p:cNvGrpSpPr/>
        <p:nvPr/>
      </p:nvGrpSpPr>
      <p:grpSpPr>
        <a:xfrm>
          <a:off x="0" y="0"/>
          <a:ext cx="0" cy="0"/>
          <a:chOff x="0" y="0"/>
          <a:chExt cx="0" cy="0"/>
        </a:xfrm>
      </p:grpSpPr>
      <p:sp>
        <p:nvSpPr>
          <p:cNvPr id="1810" name="Google Shape;1810;p176"/>
          <p:cNvSpPr txBox="1"/>
          <p:nvPr/>
        </p:nvSpPr>
        <p:spPr>
          <a:xfrm>
            <a:off x="591300" y="1169450"/>
            <a:ext cx="7708200" cy="3818100"/>
          </a:xfrm>
          <a:prstGeom prst="rect">
            <a:avLst/>
          </a:prstGeom>
          <a:noFill/>
          <a:ln>
            <a:noFill/>
          </a:ln>
        </p:spPr>
        <p:txBody>
          <a:bodyPr anchorCtr="0" anchor="t" bIns="91425" lIns="91425" spcFirstLastPara="1" rIns="91425" wrap="square" tIns="91425">
            <a:spAutoFit/>
          </a:bodyPr>
          <a:lstStyle/>
          <a:p>
            <a:pPr indent="0" lvl="0" marL="0" rtl="0" algn="just">
              <a:lnSpc>
                <a:spcPct val="178593"/>
              </a:lnSpc>
              <a:spcBef>
                <a:spcPts val="1000"/>
              </a:spcBef>
              <a:spcAft>
                <a:spcPts val="0"/>
              </a:spcAft>
              <a:buClr>
                <a:schemeClr val="dk1"/>
              </a:buClr>
              <a:buSzPts val="1100"/>
              <a:buFont typeface="Arial"/>
              <a:buNone/>
            </a:pPr>
            <a:r>
              <a:rPr b="1" lang="en-GB" sz="1200">
                <a:solidFill>
                  <a:srgbClr val="404040"/>
                </a:solidFill>
                <a:highlight>
                  <a:srgbClr val="FFFFFF"/>
                </a:highlight>
                <a:latin typeface="Roboto"/>
                <a:ea typeface="Roboto"/>
                <a:cs typeface="Roboto"/>
                <a:sym typeface="Roboto"/>
              </a:rPr>
              <a:t>Nous avons appris qu'un service</a:t>
            </a:r>
            <a:r>
              <a:rPr lang="en-GB" sz="1200">
                <a:solidFill>
                  <a:srgbClr val="404040"/>
                </a:solidFill>
                <a:highlight>
                  <a:srgbClr val="FFFFFF"/>
                </a:highlight>
                <a:latin typeface="Roboto"/>
                <a:ea typeface="Roboto"/>
                <a:cs typeface="Roboto"/>
                <a:sym typeface="Roboto"/>
              </a:rPr>
              <a:t> correspond à une description de l'état souhaité dans lequel un service applicatif doit se trouver en permanence. Une partie de cette description inclut </a:t>
            </a:r>
            <a:r>
              <a:rPr b="1" lang="en-GB" sz="1200">
                <a:solidFill>
                  <a:srgbClr val="404040"/>
                </a:solidFill>
                <a:highlight>
                  <a:srgbClr val="FFFFFF"/>
                </a:highlight>
                <a:latin typeface="Roboto"/>
                <a:ea typeface="Roboto"/>
                <a:cs typeface="Roboto"/>
                <a:sym typeface="Roboto"/>
              </a:rPr>
              <a:t>le nombre de répliques</a:t>
            </a:r>
            <a:r>
              <a:rPr lang="en-GB" sz="1200">
                <a:solidFill>
                  <a:srgbClr val="404040"/>
                </a:solidFill>
                <a:highlight>
                  <a:srgbClr val="FFFFFF"/>
                </a:highlight>
                <a:latin typeface="Roboto"/>
                <a:ea typeface="Roboto"/>
                <a:cs typeface="Roboto"/>
                <a:sym typeface="Roboto"/>
              </a:rPr>
              <a:t> que le service doit exécuter. Chaque réplique est représentée par une </a:t>
            </a:r>
            <a:r>
              <a:rPr b="1" lang="en-GB" sz="1200">
                <a:solidFill>
                  <a:srgbClr val="404040"/>
                </a:solidFill>
                <a:highlight>
                  <a:srgbClr val="FFFFFF"/>
                </a:highlight>
                <a:latin typeface="Roboto"/>
                <a:ea typeface="Roboto"/>
                <a:cs typeface="Roboto"/>
                <a:sym typeface="Roboto"/>
              </a:rPr>
              <a:t>tâche</a:t>
            </a:r>
            <a:r>
              <a:rPr lang="en-GB" sz="1200">
                <a:solidFill>
                  <a:srgbClr val="404040"/>
                </a:solidFill>
                <a:highlight>
                  <a:srgbClr val="FFFFFF"/>
                </a:highlight>
                <a:latin typeface="Roboto"/>
                <a:ea typeface="Roboto"/>
                <a:cs typeface="Roboto"/>
                <a:sym typeface="Roboto"/>
              </a:rPr>
              <a:t>. Ainsi, un </a:t>
            </a:r>
            <a:r>
              <a:rPr b="1" lang="en-GB" sz="1200">
                <a:solidFill>
                  <a:srgbClr val="404040"/>
                </a:solidFill>
                <a:highlight>
                  <a:srgbClr val="FFFFFF"/>
                </a:highlight>
                <a:latin typeface="Roboto"/>
                <a:ea typeface="Roboto"/>
                <a:cs typeface="Roboto"/>
                <a:sym typeface="Roboto"/>
              </a:rPr>
              <a:t>service Swarm</a:t>
            </a:r>
            <a:r>
              <a:rPr lang="en-GB" sz="1200">
                <a:solidFill>
                  <a:srgbClr val="404040"/>
                </a:solidFill>
                <a:highlight>
                  <a:srgbClr val="FFFFFF"/>
                </a:highlight>
                <a:latin typeface="Roboto"/>
                <a:ea typeface="Roboto"/>
                <a:cs typeface="Roboto"/>
                <a:sym typeface="Roboto"/>
              </a:rPr>
              <a:t> contient un ensemble de tâches.</a:t>
            </a:r>
            <a:endParaRPr sz="1200">
              <a:solidFill>
                <a:srgbClr val="404040"/>
              </a:solidFill>
              <a:highlight>
                <a:srgbClr val="FFFFFF"/>
              </a:highlight>
              <a:latin typeface="Roboto"/>
              <a:ea typeface="Roboto"/>
              <a:cs typeface="Roboto"/>
              <a:sym typeface="Roboto"/>
            </a:endParaRPr>
          </a:p>
          <a:p>
            <a:pPr indent="0" lvl="0" marL="0" rtl="0" algn="just">
              <a:lnSpc>
                <a:spcPct val="178593"/>
              </a:lnSpc>
              <a:spcBef>
                <a:spcPts val="1000"/>
              </a:spcBef>
              <a:spcAft>
                <a:spcPts val="0"/>
              </a:spcAft>
              <a:buClr>
                <a:schemeClr val="dk1"/>
              </a:buClr>
              <a:buSzPts val="1100"/>
              <a:buFont typeface="Arial"/>
              <a:buNone/>
            </a:pPr>
            <a:r>
              <a:rPr b="1" lang="en-GB" sz="1200">
                <a:solidFill>
                  <a:srgbClr val="404040"/>
                </a:solidFill>
                <a:highlight>
                  <a:srgbClr val="FFFFFF"/>
                </a:highlight>
                <a:latin typeface="Roboto"/>
                <a:ea typeface="Roboto"/>
                <a:cs typeface="Roboto"/>
                <a:sym typeface="Roboto"/>
              </a:rPr>
              <a:t>Sur Docker Swarm</a:t>
            </a:r>
            <a:r>
              <a:rPr lang="en-GB" sz="1200">
                <a:solidFill>
                  <a:srgbClr val="404040"/>
                </a:solidFill>
                <a:highlight>
                  <a:srgbClr val="FFFFFF"/>
                </a:highlight>
                <a:latin typeface="Roboto"/>
                <a:ea typeface="Roboto"/>
                <a:cs typeface="Roboto"/>
                <a:sym typeface="Roboto"/>
              </a:rPr>
              <a:t>, une tâche est une </a:t>
            </a:r>
            <a:r>
              <a:rPr b="1" lang="en-GB" sz="1200">
                <a:solidFill>
                  <a:srgbClr val="404040"/>
                </a:solidFill>
                <a:highlight>
                  <a:srgbClr val="FFFFFF"/>
                </a:highlight>
                <a:latin typeface="Roboto"/>
                <a:ea typeface="Roboto"/>
                <a:cs typeface="Roboto"/>
                <a:sym typeface="Roboto"/>
              </a:rPr>
              <a:t>unité atomique de déploiement</a:t>
            </a:r>
            <a:r>
              <a:rPr lang="en-GB" sz="1200">
                <a:solidFill>
                  <a:srgbClr val="404040"/>
                </a:solidFill>
                <a:highlight>
                  <a:srgbClr val="FFFFFF"/>
                </a:highlight>
                <a:latin typeface="Roboto"/>
                <a:ea typeface="Roboto"/>
                <a:cs typeface="Roboto"/>
                <a:sym typeface="Roboto"/>
              </a:rPr>
              <a:t>. Chaque tâche d'un service est déployée par </a:t>
            </a:r>
            <a:r>
              <a:rPr b="1" lang="en-GB" sz="1200">
                <a:solidFill>
                  <a:srgbClr val="404040"/>
                </a:solidFill>
                <a:highlight>
                  <a:srgbClr val="FFFFFF"/>
                </a:highlight>
                <a:latin typeface="Roboto"/>
                <a:ea typeface="Roboto"/>
                <a:cs typeface="Roboto"/>
                <a:sym typeface="Roboto"/>
              </a:rPr>
              <a:t>l'ordonnanceur Swarm</a:t>
            </a:r>
            <a:r>
              <a:rPr lang="en-GB" sz="1200">
                <a:solidFill>
                  <a:srgbClr val="404040"/>
                </a:solidFill>
                <a:highlight>
                  <a:srgbClr val="FFFFFF"/>
                </a:highlight>
                <a:latin typeface="Roboto"/>
                <a:ea typeface="Roboto"/>
                <a:cs typeface="Roboto"/>
                <a:sym typeface="Roboto"/>
              </a:rPr>
              <a:t> sur un </a:t>
            </a:r>
            <a:r>
              <a:rPr b="1" lang="en-GB" sz="1200">
                <a:solidFill>
                  <a:srgbClr val="404040"/>
                </a:solidFill>
                <a:highlight>
                  <a:srgbClr val="FFFFFF"/>
                </a:highlight>
                <a:latin typeface="Roboto"/>
                <a:ea typeface="Roboto"/>
                <a:cs typeface="Roboto"/>
                <a:sym typeface="Roboto"/>
              </a:rPr>
              <a:t>nœud worker</a:t>
            </a:r>
            <a:r>
              <a:rPr lang="en-GB" sz="1200">
                <a:solidFill>
                  <a:srgbClr val="404040"/>
                </a:solidFill>
                <a:highlight>
                  <a:srgbClr val="FFFFFF"/>
                </a:highlight>
                <a:latin typeface="Roboto"/>
                <a:ea typeface="Roboto"/>
                <a:cs typeface="Roboto"/>
                <a:sym typeface="Roboto"/>
              </a:rPr>
              <a:t>. La tâche contient toutes les informations nécessaires au nœud worker pour exécuter un </a:t>
            </a:r>
            <a:r>
              <a:rPr b="1" lang="en-GB" sz="1200">
                <a:solidFill>
                  <a:srgbClr val="404040"/>
                </a:solidFill>
                <a:highlight>
                  <a:srgbClr val="FFFFFF"/>
                </a:highlight>
                <a:latin typeface="Roboto"/>
                <a:ea typeface="Roboto"/>
                <a:cs typeface="Roboto"/>
                <a:sym typeface="Roboto"/>
              </a:rPr>
              <a:t>conteneur</a:t>
            </a:r>
            <a:r>
              <a:rPr lang="en-GB" sz="1200">
                <a:solidFill>
                  <a:srgbClr val="404040"/>
                </a:solidFill>
                <a:highlight>
                  <a:srgbClr val="FFFFFF"/>
                </a:highlight>
                <a:latin typeface="Roboto"/>
                <a:ea typeface="Roboto"/>
                <a:cs typeface="Roboto"/>
                <a:sym typeface="Roboto"/>
              </a:rPr>
              <a:t> basé sur l'image définie dans la description du service.</a:t>
            </a:r>
            <a:endParaRPr sz="1200">
              <a:solidFill>
                <a:srgbClr val="404040"/>
              </a:solidFill>
              <a:highlight>
                <a:srgbClr val="FFFFFF"/>
              </a:highlight>
              <a:latin typeface="Roboto"/>
              <a:ea typeface="Roboto"/>
              <a:cs typeface="Roboto"/>
              <a:sym typeface="Roboto"/>
            </a:endParaRPr>
          </a:p>
          <a:p>
            <a:pPr indent="0" lvl="0" marL="0" rtl="0" algn="just">
              <a:lnSpc>
                <a:spcPct val="178593"/>
              </a:lnSpc>
              <a:spcBef>
                <a:spcPts val="1000"/>
              </a:spcBef>
              <a:spcAft>
                <a:spcPts val="0"/>
              </a:spcAft>
              <a:buClr>
                <a:schemeClr val="dk1"/>
              </a:buClr>
              <a:buSzPts val="1100"/>
              <a:buFont typeface="Arial"/>
              <a:buNone/>
            </a:pPr>
            <a:r>
              <a:rPr b="1" lang="en-GB" sz="1200">
                <a:solidFill>
                  <a:srgbClr val="404040"/>
                </a:solidFill>
                <a:highlight>
                  <a:srgbClr val="FFFFFF"/>
                </a:highlight>
                <a:latin typeface="Roboto"/>
                <a:ea typeface="Roboto"/>
                <a:cs typeface="Roboto"/>
                <a:sym typeface="Roboto"/>
              </a:rPr>
              <a:t>Relation tâche-conteneur</a:t>
            </a:r>
            <a:r>
              <a:rPr lang="en-GB" sz="1200">
                <a:solidFill>
                  <a:srgbClr val="404040"/>
                </a:solidFill>
                <a:highlight>
                  <a:srgbClr val="FFFFFF"/>
                </a:highlight>
                <a:latin typeface="Roboto"/>
                <a:ea typeface="Roboto"/>
                <a:cs typeface="Roboto"/>
                <a:sym typeface="Roboto"/>
              </a:rPr>
              <a:t> :</a:t>
            </a:r>
            <a:endParaRPr sz="1200">
              <a:solidFill>
                <a:srgbClr val="404040"/>
              </a:solidFill>
              <a:highlight>
                <a:srgbClr val="FFFFFF"/>
              </a:highlight>
              <a:latin typeface="Roboto"/>
              <a:ea typeface="Roboto"/>
              <a:cs typeface="Roboto"/>
              <a:sym typeface="Roboto"/>
            </a:endParaRPr>
          </a:p>
          <a:p>
            <a:pPr indent="-304800" lvl="0" marL="457200" rtl="0" algn="just">
              <a:lnSpc>
                <a:spcPct val="115000"/>
              </a:lnSpc>
              <a:spcBef>
                <a:spcPts val="1000"/>
              </a:spcBef>
              <a:spcAft>
                <a:spcPts val="0"/>
              </a:spcAft>
              <a:buClr>
                <a:srgbClr val="404040"/>
              </a:buClr>
              <a:buSzPts val="1200"/>
              <a:buFont typeface="Roboto"/>
              <a:buChar char="●"/>
            </a:pPr>
            <a:r>
              <a:rPr lang="en-GB" sz="1200">
                <a:solidFill>
                  <a:srgbClr val="404040"/>
                </a:solidFill>
                <a:highlight>
                  <a:srgbClr val="FFFFFF"/>
                </a:highlight>
                <a:latin typeface="Roboto"/>
                <a:ea typeface="Roboto"/>
                <a:cs typeface="Roboto"/>
                <a:sym typeface="Roboto"/>
              </a:rPr>
              <a:t>Il existe une </a:t>
            </a:r>
            <a:r>
              <a:rPr b="1" lang="en-GB" sz="1200">
                <a:solidFill>
                  <a:srgbClr val="404040"/>
                </a:solidFill>
                <a:highlight>
                  <a:srgbClr val="FFFFFF"/>
                </a:highlight>
                <a:latin typeface="Roboto"/>
                <a:ea typeface="Roboto"/>
                <a:cs typeface="Roboto"/>
                <a:sym typeface="Roboto"/>
              </a:rPr>
              <a:t>relation un-à-un</a:t>
            </a:r>
            <a:r>
              <a:rPr lang="en-GB" sz="1200">
                <a:solidFill>
                  <a:srgbClr val="404040"/>
                </a:solidFill>
                <a:highlight>
                  <a:srgbClr val="FFFFFF"/>
                </a:highlight>
                <a:latin typeface="Roboto"/>
                <a:ea typeface="Roboto"/>
                <a:cs typeface="Roboto"/>
                <a:sym typeface="Roboto"/>
              </a:rPr>
              <a:t> entre une tâche et un conteneur.</a:t>
            </a:r>
            <a:endParaRPr sz="1200">
              <a:solidFill>
                <a:srgbClr val="404040"/>
              </a:solidFill>
              <a:highlight>
                <a:srgbClr val="FFFFFF"/>
              </a:highlight>
              <a:latin typeface="Roboto"/>
              <a:ea typeface="Roboto"/>
              <a:cs typeface="Roboto"/>
              <a:sym typeface="Roboto"/>
            </a:endParaRPr>
          </a:p>
          <a:p>
            <a:pPr indent="-304800" lvl="0" marL="457200" rtl="0" algn="just">
              <a:lnSpc>
                <a:spcPct val="115000"/>
              </a:lnSpc>
              <a:spcBef>
                <a:spcPts val="0"/>
              </a:spcBef>
              <a:spcAft>
                <a:spcPts val="0"/>
              </a:spcAft>
              <a:buClr>
                <a:srgbClr val="404040"/>
              </a:buClr>
              <a:buSzPts val="1200"/>
              <a:buFont typeface="Roboto"/>
              <a:buChar char="●"/>
            </a:pPr>
            <a:r>
              <a:rPr lang="en-GB" sz="1200">
                <a:solidFill>
                  <a:srgbClr val="404040"/>
                </a:solidFill>
                <a:highlight>
                  <a:srgbClr val="FFFFFF"/>
                </a:highlight>
                <a:latin typeface="Roboto"/>
                <a:ea typeface="Roboto"/>
                <a:cs typeface="Roboto"/>
                <a:sym typeface="Roboto"/>
              </a:rPr>
              <a:t>Le conteneur est l'instance exécutée sur le nœud worker, tandis que la tâche décrit ce conteneur en tant qu'élément d'un service Swarm.</a:t>
            </a:r>
            <a:endParaRPr b="1" sz="1200">
              <a:solidFill>
                <a:srgbClr val="404040"/>
              </a:solidFill>
              <a:highlight>
                <a:srgbClr val="FFFFFF"/>
              </a:highlight>
              <a:latin typeface="Roboto"/>
              <a:ea typeface="Roboto"/>
              <a:cs typeface="Roboto"/>
              <a:sym typeface="Roboto"/>
            </a:endParaRPr>
          </a:p>
        </p:txBody>
      </p:sp>
      <p:sp>
        <p:nvSpPr>
          <p:cNvPr id="1811" name="Google Shape;1811;p1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812" name="Google Shape;1812;p176"/>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813" name="Google Shape;1813;p176"/>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Tasks</a:t>
            </a:r>
            <a:endParaRPr sz="2000">
              <a:solidFill>
                <a:srgbClr val="073763"/>
              </a:solidFill>
              <a:latin typeface="Maven Pro"/>
              <a:ea typeface="Maven Pro"/>
              <a:cs typeface="Maven Pro"/>
              <a:sym typeface="Maven Pro"/>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7" name="Shape 1817"/>
        <p:cNvGrpSpPr/>
        <p:nvPr/>
      </p:nvGrpSpPr>
      <p:grpSpPr>
        <a:xfrm>
          <a:off x="0" y="0"/>
          <a:ext cx="0" cy="0"/>
          <a:chOff x="0" y="0"/>
          <a:chExt cx="0" cy="0"/>
        </a:xfrm>
      </p:grpSpPr>
      <p:sp>
        <p:nvSpPr>
          <p:cNvPr id="1818" name="Google Shape;1818;p177"/>
          <p:cNvSpPr txBox="1"/>
          <p:nvPr/>
        </p:nvSpPr>
        <p:spPr>
          <a:xfrm>
            <a:off x="591300" y="1169450"/>
            <a:ext cx="7708200" cy="2750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0"/>
              </a:spcAft>
              <a:buClr>
                <a:schemeClr val="dk1"/>
              </a:buClr>
              <a:buSzPts val="1100"/>
              <a:buFont typeface="Arial"/>
              <a:buNone/>
            </a:pPr>
            <a:r>
              <a:rPr b="1" lang="en-GB" sz="1200">
                <a:solidFill>
                  <a:srgbClr val="404040"/>
                </a:solidFill>
                <a:highlight>
                  <a:srgbClr val="FFFFFF"/>
                </a:highlight>
                <a:latin typeface="Maven Pro"/>
                <a:ea typeface="Maven Pro"/>
                <a:cs typeface="Maven Pro"/>
                <a:sym typeface="Maven Pro"/>
              </a:rPr>
              <a:t>Maintenant que nous comprenons bien</a:t>
            </a:r>
            <a:r>
              <a:rPr lang="en-GB" sz="1200">
                <a:solidFill>
                  <a:srgbClr val="404040"/>
                </a:solidFill>
                <a:highlight>
                  <a:srgbClr val="FFFFFF"/>
                </a:highlight>
                <a:latin typeface="Maven Pro"/>
                <a:ea typeface="Maven Pro"/>
                <a:cs typeface="Maven Pro"/>
                <a:sym typeface="Maven Pro"/>
              </a:rPr>
              <a:t> ce qu'est un </a:t>
            </a:r>
            <a:r>
              <a:rPr b="1" lang="en-GB" sz="1200">
                <a:solidFill>
                  <a:srgbClr val="404040"/>
                </a:solidFill>
                <a:highlight>
                  <a:srgbClr val="FFFFFF"/>
                </a:highlight>
                <a:latin typeface="Maven Pro"/>
                <a:ea typeface="Maven Pro"/>
                <a:cs typeface="Maven Pro"/>
                <a:sym typeface="Maven Pro"/>
              </a:rPr>
              <a:t>service Swarm</a:t>
            </a:r>
            <a:r>
              <a:rPr lang="en-GB" sz="1200">
                <a:solidFill>
                  <a:srgbClr val="404040"/>
                </a:solidFill>
                <a:highlight>
                  <a:srgbClr val="FFFFFF"/>
                </a:highlight>
                <a:latin typeface="Maven Pro"/>
                <a:ea typeface="Maven Pro"/>
                <a:cs typeface="Maven Pro"/>
                <a:sym typeface="Maven Pro"/>
              </a:rPr>
              <a:t> et ce que sont les </a:t>
            </a:r>
            <a:r>
              <a:rPr b="1" lang="en-GB" sz="1200">
                <a:solidFill>
                  <a:srgbClr val="404040"/>
                </a:solidFill>
                <a:highlight>
                  <a:srgbClr val="FFFFFF"/>
                </a:highlight>
                <a:latin typeface="Maven Pro"/>
                <a:ea typeface="Maven Pro"/>
                <a:cs typeface="Maven Pro"/>
                <a:sym typeface="Maven Pro"/>
              </a:rPr>
              <a:t>tâches</a:t>
            </a:r>
            <a:r>
              <a:rPr lang="en-GB" sz="1200">
                <a:solidFill>
                  <a:srgbClr val="404040"/>
                </a:solidFill>
                <a:highlight>
                  <a:srgbClr val="FFFFFF"/>
                </a:highlight>
                <a:latin typeface="Maven Pro"/>
                <a:ea typeface="Maven Pro"/>
                <a:cs typeface="Maven Pro"/>
                <a:sym typeface="Maven Pro"/>
              </a:rPr>
              <a:t>, introduisons la notion de </a:t>
            </a:r>
            <a:r>
              <a:rPr b="1" lang="en-GB" sz="1200">
                <a:solidFill>
                  <a:srgbClr val="404040"/>
                </a:solidFill>
                <a:highlight>
                  <a:srgbClr val="FFFFFF"/>
                </a:highlight>
                <a:latin typeface="Maven Pro"/>
                <a:ea typeface="Maven Pro"/>
                <a:cs typeface="Maven Pro"/>
                <a:sym typeface="Maven Pro"/>
              </a:rPr>
              <a:t>stack</a:t>
            </a:r>
            <a:r>
              <a:rPr lang="en-GB" sz="1200">
                <a:solidFill>
                  <a:srgbClr val="404040"/>
                </a:solidFill>
                <a:highlight>
                  <a:srgbClr val="FFFFFF"/>
                </a:highlight>
                <a:latin typeface="Maven Pro"/>
                <a:ea typeface="Maven Pro"/>
                <a:cs typeface="Maven Pro"/>
                <a:sym typeface="Maven Pro"/>
              </a:rPr>
              <a:t> (pile). Une </a:t>
            </a:r>
            <a:r>
              <a:rPr i="1" lang="en-GB" sz="1200">
                <a:solidFill>
                  <a:srgbClr val="404040"/>
                </a:solidFill>
                <a:highlight>
                  <a:srgbClr val="FFFFFF"/>
                </a:highlight>
                <a:latin typeface="Maven Pro"/>
                <a:ea typeface="Maven Pro"/>
                <a:cs typeface="Maven Pro"/>
                <a:sym typeface="Maven Pro"/>
              </a:rPr>
              <a:t>stack</a:t>
            </a:r>
            <a:r>
              <a:rPr lang="en-GB" sz="1200">
                <a:solidFill>
                  <a:srgbClr val="404040"/>
                </a:solidFill>
                <a:highlight>
                  <a:srgbClr val="FFFFFF"/>
                </a:highlight>
                <a:latin typeface="Maven Pro"/>
                <a:ea typeface="Maven Pro"/>
                <a:cs typeface="Maven Pro"/>
                <a:sym typeface="Maven Pro"/>
              </a:rPr>
              <a:t> est utilisée pour décrire un ensemble de </a:t>
            </a:r>
            <a:r>
              <a:rPr b="1" lang="en-GB" sz="1200">
                <a:solidFill>
                  <a:srgbClr val="404040"/>
                </a:solidFill>
                <a:highlight>
                  <a:srgbClr val="FFFFFF"/>
                </a:highlight>
                <a:latin typeface="Maven Pro"/>
                <a:ea typeface="Maven Pro"/>
                <a:cs typeface="Maven Pro"/>
                <a:sym typeface="Maven Pro"/>
              </a:rPr>
              <a:t>services Swarm</a:t>
            </a:r>
            <a:r>
              <a:rPr lang="en-GB" sz="1200">
                <a:solidFill>
                  <a:srgbClr val="404040"/>
                </a:solidFill>
                <a:highlight>
                  <a:srgbClr val="FFFFFF"/>
                </a:highlight>
                <a:latin typeface="Maven Pro"/>
                <a:ea typeface="Maven Pro"/>
                <a:cs typeface="Maven Pro"/>
                <a:sym typeface="Maven Pro"/>
              </a:rPr>
              <a:t> liés entre eux, généralement parce qu'ils font partie de la même application. En ce sens, on pourrait dire qu'une stack décrit une application composée d'un ou plusieurs services que nous souhaitons exécuter sur le Swarm.</a:t>
            </a:r>
            <a:endParaRPr sz="1200">
              <a:solidFill>
                <a:srgbClr val="404040"/>
              </a:solidFill>
              <a:highlight>
                <a:srgbClr val="FFFFFF"/>
              </a:highlight>
              <a:latin typeface="Maven Pro"/>
              <a:ea typeface="Maven Pro"/>
              <a:cs typeface="Maven Pro"/>
              <a:sym typeface="Maven Pro"/>
            </a:endParaRPr>
          </a:p>
          <a:p>
            <a:pPr indent="0" lvl="0" marL="0" rtl="0" algn="just">
              <a:lnSpc>
                <a:spcPct val="115000"/>
              </a:lnSpc>
              <a:spcBef>
                <a:spcPts val="1000"/>
              </a:spcBef>
              <a:spcAft>
                <a:spcPts val="0"/>
              </a:spcAft>
              <a:buClr>
                <a:schemeClr val="dk1"/>
              </a:buClr>
              <a:buSzPts val="1100"/>
              <a:buFont typeface="Arial"/>
              <a:buNone/>
            </a:pPr>
            <a:r>
              <a:rPr b="1" lang="en-GB" sz="1200">
                <a:solidFill>
                  <a:srgbClr val="404040"/>
                </a:solidFill>
                <a:highlight>
                  <a:srgbClr val="FFFFFF"/>
                </a:highlight>
                <a:latin typeface="Maven Pro"/>
                <a:ea typeface="Maven Pro"/>
                <a:cs typeface="Maven Pro"/>
                <a:sym typeface="Maven Pro"/>
              </a:rPr>
              <a:t>Typiquement</a:t>
            </a:r>
            <a:r>
              <a:rPr lang="en-GB" sz="1200">
                <a:solidFill>
                  <a:srgbClr val="404040"/>
                </a:solidFill>
                <a:highlight>
                  <a:srgbClr val="FFFFFF"/>
                </a:highlight>
                <a:latin typeface="Maven Pro"/>
                <a:ea typeface="Maven Pro"/>
                <a:cs typeface="Maven Pro"/>
                <a:sym typeface="Maven Pro"/>
              </a:rPr>
              <a:t>, une stack est décrite </a:t>
            </a:r>
            <a:r>
              <a:rPr i="1" lang="en-GB" sz="1200">
                <a:solidFill>
                  <a:srgbClr val="404040"/>
                </a:solidFill>
                <a:highlight>
                  <a:srgbClr val="FFFFFF"/>
                </a:highlight>
                <a:latin typeface="Maven Pro"/>
                <a:ea typeface="Maven Pro"/>
                <a:cs typeface="Maven Pro"/>
                <a:sym typeface="Maven Pro"/>
              </a:rPr>
              <a:t>de manière déclarative</a:t>
            </a:r>
            <a:r>
              <a:rPr lang="en-GB" sz="1200">
                <a:solidFill>
                  <a:srgbClr val="404040"/>
                </a:solidFill>
                <a:highlight>
                  <a:srgbClr val="FFFFFF"/>
                </a:highlight>
                <a:latin typeface="Maven Pro"/>
                <a:ea typeface="Maven Pro"/>
                <a:cs typeface="Maven Pro"/>
                <a:sym typeface="Maven Pro"/>
              </a:rPr>
              <a:t> dans un fichier texte formaté en </a:t>
            </a:r>
            <a:r>
              <a:rPr b="1" lang="en-GB" sz="1200">
                <a:solidFill>
                  <a:srgbClr val="404040"/>
                </a:solidFill>
                <a:highlight>
                  <a:srgbClr val="FFFFFF"/>
                </a:highlight>
                <a:latin typeface="Maven Pro"/>
                <a:ea typeface="Maven Pro"/>
                <a:cs typeface="Maven Pro"/>
                <a:sym typeface="Maven Pro"/>
              </a:rPr>
              <a:t>YAML</a:t>
            </a:r>
            <a:r>
              <a:rPr lang="en-GB" sz="1200">
                <a:solidFill>
                  <a:srgbClr val="404040"/>
                </a:solidFill>
                <a:highlight>
                  <a:srgbClr val="FFFFFF"/>
                </a:highlight>
                <a:latin typeface="Maven Pro"/>
                <a:ea typeface="Maven Pro"/>
                <a:cs typeface="Maven Pro"/>
                <a:sym typeface="Maven Pro"/>
              </a:rPr>
              <a:t>, utilisant une syntaxe similaire à celle d'un fichier </a:t>
            </a:r>
            <a:r>
              <a:rPr b="1" lang="en-GB" sz="1200">
                <a:solidFill>
                  <a:srgbClr val="404040"/>
                </a:solidFill>
                <a:highlight>
                  <a:srgbClr val="FFFFFF"/>
                </a:highlight>
                <a:latin typeface="Maven Pro"/>
                <a:ea typeface="Maven Pro"/>
                <a:cs typeface="Maven Pro"/>
                <a:sym typeface="Maven Pro"/>
              </a:rPr>
              <a:t>Docker Compose</a:t>
            </a:r>
            <a:r>
              <a:rPr lang="en-GB" sz="1200">
                <a:solidFill>
                  <a:srgbClr val="404040"/>
                </a:solidFill>
                <a:highlight>
                  <a:srgbClr val="FFFFFF"/>
                </a:highlight>
                <a:latin typeface="Maven Pro"/>
                <a:ea typeface="Maven Pro"/>
                <a:cs typeface="Maven Pro"/>
                <a:sym typeface="Maven Pro"/>
              </a:rPr>
              <a:t>. Cela conduit parfois à dire qu'une stack est "décrite par un fichier Docker Compose", mais une formulation plus précise serait : </a:t>
            </a:r>
            <a:r>
              <a:rPr i="1" lang="en-GB" sz="1200">
                <a:solidFill>
                  <a:srgbClr val="404040"/>
                </a:solidFill>
                <a:highlight>
                  <a:srgbClr val="FFFFFF"/>
                </a:highlight>
                <a:latin typeface="Maven Pro"/>
                <a:ea typeface="Maven Pro"/>
                <a:cs typeface="Maven Pro"/>
                <a:sym typeface="Maven Pro"/>
              </a:rPr>
              <a:t>une stack est décrite dans un fichier de stack</a:t>
            </a:r>
            <a:r>
              <a:rPr lang="en-GB" sz="1200">
                <a:solidFill>
                  <a:srgbClr val="404040"/>
                </a:solidFill>
                <a:highlight>
                  <a:srgbClr val="FFFFFF"/>
                </a:highlight>
                <a:latin typeface="Maven Pro"/>
                <a:ea typeface="Maven Pro"/>
                <a:cs typeface="Maven Pro"/>
                <a:sym typeface="Maven Pro"/>
              </a:rPr>
              <a:t> (stack file) </a:t>
            </a:r>
            <a:r>
              <a:rPr i="1" lang="en-GB" sz="1200">
                <a:solidFill>
                  <a:srgbClr val="404040"/>
                </a:solidFill>
                <a:highlight>
                  <a:srgbClr val="FFFFFF"/>
                </a:highlight>
                <a:latin typeface="Maven Pro"/>
                <a:ea typeface="Maven Pro"/>
                <a:cs typeface="Maven Pro"/>
                <a:sym typeface="Maven Pro"/>
              </a:rPr>
              <a:t>qui utilise une syntaxe proche de celle d'un fichier Docker Compose</a:t>
            </a:r>
            <a:r>
              <a:rPr lang="en-GB" sz="1200">
                <a:solidFill>
                  <a:srgbClr val="404040"/>
                </a:solidFill>
                <a:highlight>
                  <a:srgbClr val="FFFFFF"/>
                </a:highlight>
                <a:latin typeface="Maven Pro"/>
                <a:ea typeface="Maven Pro"/>
                <a:cs typeface="Maven Pro"/>
                <a:sym typeface="Maven Pro"/>
              </a:rPr>
              <a:t>.</a:t>
            </a:r>
            <a:endParaRPr sz="1200">
              <a:solidFill>
                <a:srgbClr val="404040"/>
              </a:solidFill>
              <a:highlight>
                <a:srgbClr val="FFFFFF"/>
              </a:highlight>
              <a:latin typeface="Maven Pro"/>
              <a:ea typeface="Maven Pro"/>
              <a:cs typeface="Maven Pro"/>
              <a:sym typeface="Maven Pro"/>
            </a:endParaRPr>
          </a:p>
          <a:p>
            <a:pPr indent="0" lvl="0" marL="0" rtl="0" algn="just">
              <a:lnSpc>
                <a:spcPct val="115000"/>
              </a:lnSpc>
              <a:spcBef>
                <a:spcPts val="1000"/>
              </a:spcBef>
              <a:spcAft>
                <a:spcPts val="1000"/>
              </a:spcAft>
              <a:buClr>
                <a:schemeClr val="dk1"/>
              </a:buClr>
              <a:buSzPts val="1100"/>
              <a:buFont typeface="Arial"/>
              <a:buNone/>
            </a:pPr>
            <a:r>
              <a:rPr b="1" lang="en-GB" sz="1200">
                <a:solidFill>
                  <a:srgbClr val="404040"/>
                </a:solidFill>
                <a:highlight>
                  <a:srgbClr val="FFFFFF"/>
                </a:highlight>
                <a:latin typeface="Maven Pro"/>
                <a:ea typeface="Maven Pro"/>
                <a:cs typeface="Maven Pro"/>
                <a:sym typeface="Maven Pro"/>
              </a:rPr>
              <a:t>Illustrons</a:t>
            </a:r>
            <a:r>
              <a:rPr lang="en-GB" sz="1200">
                <a:solidFill>
                  <a:srgbClr val="404040"/>
                </a:solidFill>
                <a:highlight>
                  <a:srgbClr val="FFFFFF"/>
                </a:highlight>
                <a:latin typeface="Maven Pro"/>
                <a:ea typeface="Maven Pro"/>
                <a:cs typeface="Maven Pro"/>
                <a:sym typeface="Maven Pro"/>
              </a:rPr>
              <a:t> la relation entre la stack, les services et les tâches à l'aide du schéma suivant, en la reliant au contenu typique d'un fichier de stack :</a:t>
            </a:r>
            <a:endParaRPr b="1" sz="1200">
              <a:solidFill>
                <a:srgbClr val="404040"/>
              </a:solidFill>
              <a:highlight>
                <a:srgbClr val="FFFFFF"/>
              </a:highlight>
              <a:latin typeface="Maven Pro"/>
              <a:ea typeface="Maven Pro"/>
              <a:cs typeface="Maven Pro"/>
              <a:sym typeface="Maven Pro"/>
            </a:endParaRPr>
          </a:p>
        </p:txBody>
      </p:sp>
      <p:sp>
        <p:nvSpPr>
          <p:cNvPr id="1819" name="Google Shape;1819;p1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820" name="Google Shape;1820;p177"/>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821" name="Google Shape;1821;p177"/>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Stack</a:t>
            </a:r>
            <a:endParaRPr sz="2000">
              <a:solidFill>
                <a:srgbClr val="073763"/>
              </a:solidFill>
              <a:latin typeface="Maven Pro"/>
              <a:ea typeface="Maven Pro"/>
              <a:cs typeface="Maven Pro"/>
              <a:sym typeface="Maven Pro"/>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5" name="Shape 1825"/>
        <p:cNvGrpSpPr/>
        <p:nvPr/>
      </p:nvGrpSpPr>
      <p:grpSpPr>
        <a:xfrm>
          <a:off x="0" y="0"/>
          <a:ext cx="0" cy="0"/>
          <a:chOff x="0" y="0"/>
          <a:chExt cx="0" cy="0"/>
        </a:xfrm>
      </p:grpSpPr>
      <p:sp>
        <p:nvSpPr>
          <p:cNvPr id="1826" name="Google Shape;1826;p1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827" name="Google Shape;1827;p178"/>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828" name="Google Shape;1828;p178"/>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Stack</a:t>
            </a:r>
            <a:endParaRPr sz="2000">
              <a:solidFill>
                <a:srgbClr val="073763"/>
              </a:solidFill>
              <a:latin typeface="Maven Pro"/>
              <a:ea typeface="Maven Pro"/>
              <a:cs typeface="Maven Pro"/>
              <a:sym typeface="Maven Pro"/>
            </a:endParaRPr>
          </a:p>
        </p:txBody>
      </p:sp>
      <p:pic>
        <p:nvPicPr>
          <p:cNvPr id="1829" name="Google Shape;1829;p178"/>
          <p:cNvPicPr preferRelativeResize="0"/>
          <p:nvPr/>
        </p:nvPicPr>
        <p:blipFill>
          <a:blip r:embed="rId4">
            <a:alphaModFix/>
          </a:blip>
          <a:stretch>
            <a:fillRect/>
          </a:stretch>
        </p:blipFill>
        <p:spPr>
          <a:xfrm>
            <a:off x="728688" y="1038400"/>
            <a:ext cx="7493442" cy="3974050"/>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
        <p:nvSpPr>
          <p:cNvPr id="1834" name="Google Shape;1834;p179"/>
          <p:cNvSpPr txBox="1"/>
          <p:nvPr/>
        </p:nvSpPr>
        <p:spPr>
          <a:xfrm>
            <a:off x="591300" y="1169450"/>
            <a:ext cx="7708200" cy="28629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0"/>
              </a:spcBef>
              <a:spcAft>
                <a:spcPts val="0"/>
              </a:spcAft>
              <a:buClr>
                <a:schemeClr val="dk1"/>
              </a:buClr>
              <a:buSzPts val="1100"/>
              <a:buFont typeface="Arial"/>
              <a:buNone/>
            </a:pPr>
            <a:r>
              <a:rPr b="1" lang="en-GB" sz="1200">
                <a:solidFill>
                  <a:srgbClr val="404040"/>
                </a:solidFill>
                <a:highlight>
                  <a:srgbClr val="FFFFFF"/>
                </a:highlight>
                <a:latin typeface="Courier New"/>
                <a:ea typeface="Courier New"/>
                <a:cs typeface="Courier New"/>
                <a:sym typeface="Courier New"/>
              </a:rPr>
              <a:t>docker service update \</a:t>
            </a:r>
            <a:endParaRPr b="1" sz="1200">
              <a:solidFill>
                <a:srgbClr val="404040"/>
              </a:solidFill>
              <a:highlight>
                <a:srgbClr val="FFFFFF"/>
              </a:highlight>
              <a:latin typeface="Courier New"/>
              <a:ea typeface="Courier New"/>
              <a:cs typeface="Courier New"/>
              <a:sym typeface="Courier New"/>
            </a:endParaRPr>
          </a:p>
          <a:p>
            <a:pPr indent="0" lvl="0" marL="0" rtl="0" algn="just">
              <a:lnSpc>
                <a:spcPct val="100000"/>
              </a:lnSpc>
              <a:spcBef>
                <a:spcPts val="0"/>
              </a:spcBef>
              <a:spcAft>
                <a:spcPts val="0"/>
              </a:spcAft>
              <a:buClr>
                <a:schemeClr val="dk1"/>
              </a:buClr>
              <a:buSzPts val="1100"/>
              <a:buFont typeface="Arial"/>
              <a:buNone/>
            </a:pPr>
            <a:r>
              <a:rPr b="1" lang="en-GB" sz="1200">
                <a:solidFill>
                  <a:srgbClr val="404040"/>
                </a:solidFill>
                <a:highlight>
                  <a:srgbClr val="FFFFFF"/>
                </a:highlight>
                <a:latin typeface="Courier New"/>
                <a:ea typeface="Courier New"/>
                <a:cs typeface="Courier New"/>
                <a:sym typeface="Courier New"/>
              </a:rPr>
              <a:t>  --image nginx:1.25 \</a:t>
            </a:r>
            <a:endParaRPr b="1" sz="1200">
              <a:solidFill>
                <a:srgbClr val="404040"/>
              </a:solidFill>
              <a:highlight>
                <a:srgbClr val="FFFFFF"/>
              </a:highlight>
              <a:latin typeface="Courier New"/>
              <a:ea typeface="Courier New"/>
              <a:cs typeface="Courier New"/>
              <a:sym typeface="Courier New"/>
            </a:endParaRPr>
          </a:p>
          <a:p>
            <a:pPr indent="0" lvl="0" marL="0" rtl="0" algn="just">
              <a:lnSpc>
                <a:spcPct val="100000"/>
              </a:lnSpc>
              <a:spcBef>
                <a:spcPts val="0"/>
              </a:spcBef>
              <a:spcAft>
                <a:spcPts val="0"/>
              </a:spcAft>
              <a:buClr>
                <a:schemeClr val="dk1"/>
              </a:buClr>
              <a:buSzPts val="1100"/>
              <a:buFont typeface="Arial"/>
              <a:buNone/>
            </a:pPr>
            <a:r>
              <a:rPr b="1" lang="en-GB" sz="1200">
                <a:solidFill>
                  <a:srgbClr val="404040"/>
                </a:solidFill>
                <a:highlight>
                  <a:srgbClr val="FFFFFF"/>
                </a:highlight>
                <a:latin typeface="Courier New"/>
                <a:ea typeface="Courier New"/>
                <a:cs typeface="Courier New"/>
                <a:sym typeface="Courier New"/>
              </a:rPr>
              <a:t>  --update-parallelism 1 \</a:t>
            </a:r>
            <a:endParaRPr b="1" sz="1200">
              <a:solidFill>
                <a:srgbClr val="404040"/>
              </a:solidFill>
              <a:highlight>
                <a:srgbClr val="FFFFFF"/>
              </a:highlight>
              <a:latin typeface="Courier New"/>
              <a:ea typeface="Courier New"/>
              <a:cs typeface="Courier New"/>
              <a:sym typeface="Courier New"/>
            </a:endParaRPr>
          </a:p>
          <a:p>
            <a:pPr indent="0" lvl="0" marL="0" rtl="0" algn="just">
              <a:lnSpc>
                <a:spcPct val="100000"/>
              </a:lnSpc>
              <a:spcBef>
                <a:spcPts val="0"/>
              </a:spcBef>
              <a:spcAft>
                <a:spcPts val="0"/>
              </a:spcAft>
              <a:buClr>
                <a:schemeClr val="dk1"/>
              </a:buClr>
              <a:buSzPts val="1100"/>
              <a:buFont typeface="Arial"/>
              <a:buNone/>
            </a:pPr>
            <a:r>
              <a:rPr b="1" lang="en-GB" sz="1200">
                <a:solidFill>
                  <a:srgbClr val="404040"/>
                </a:solidFill>
                <a:highlight>
                  <a:srgbClr val="FFFFFF"/>
                </a:highlight>
                <a:latin typeface="Courier New"/>
                <a:ea typeface="Courier New"/>
                <a:cs typeface="Courier New"/>
                <a:sym typeface="Courier New"/>
              </a:rPr>
              <a:t>  --update-delay 10s \</a:t>
            </a:r>
            <a:endParaRPr b="1" sz="1200">
              <a:solidFill>
                <a:srgbClr val="404040"/>
              </a:solidFill>
              <a:highlight>
                <a:srgbClr val="FFFFFF"/>
              </a:highlight>
              <a:latin typeface="Courier New"/>
              <a:ea typeface="Courier New"/>
              <a:cs typeface="Courier New"/>
              <a:sym typeface="Courier New"/>
            </a:endParaRPr>
          </a:p>
          <a:p>
            <a:pPr indent="0" lvl="0" marL="0" rtl="0" algn="just">
              <a:lnSpc>
                <a:spcPct val="100000"/>
              </a:lnSpc>
              <a:spcBef>
                <a:spcPts val="0"/>
              </a:spcBef>
              <a:spcAft>
                <a:spcPts val="0"/>
              </a:spcAft>
              <a:buClr>
                <a:schemeClr val="dk1"/>
              </a:buClr>
              <a:buSzPts val="1100"/>
              <a:buFont typeface="Arial"/>
              <a:buNone/>
            </a:pPr>
            <a:r>
              <a:rPr b="1" lang="en-GB" sz="1200">
                <a:solidFill>
                  <a:srgbClr val="404040"/>
                </a:solidFill>
                <a:highlight>
                  <a:srgbClr val="FFFFFF"/>
                </a:highlight>
                <a:latin typeface="Courier New"/>
                <a:ea typeface="Courier New"/>
                <a:cs typeface="Courier New"/>
                <a:sym typeface="Courier New"/>
              </a:rPr>
              <a:t>  --update-order start-first \</a:t>
            </a:r>
            <a:endParaRPr b="1" sz="1200">
              <a:solidFill>
                <a:srgbClr val="404040"/>
              </a:solidFill>
              <a:highlight>
                <a:srgbClr val="FFFFFF"/>
              </a:highlight>
              <a:latin typeface="Courier New"/>
              <a:ea typeface="Courier New"/>
              <a:cs typeface="Courier New"/>
              <a:sym typeface="Courier New"/>
            </a:endParaRPr>
          </a:p>
          <a:p>
            <a:pPr indent="0" lvl="0" marL="0" rtl="0" algn="just">
              <a:lnSpc>
                <a:spcPct val="100000"/>
              </a:lnSpc>
              <a:spcBef>
                <a:spcPts val="0"/>
              </a:spcBef>
              <a:spcAft>
                <a:spcPts val="0"/>
              </a:spcAft>
              <a:buClr>
                <a:schemeClr val="dk1"/>
              </a:buClr>
              <a:buSzPts val="1100"/>
              <a:buFont typeface="Arial"/>
              <a:buNone/>
            </a:pPr>
            <a:r>
              <a:rPr b="1" lang="en-GB" sz="1200">
                <a:solidFill>
                  <a:srgbClr val="404040"/>
                </a:solidFill>
                <a:highlight>
                  <a:srgbClr val="FFFFFF"/>
                </a:highlight>
                <a:latin typeface="Courier New"/>
                <a:ea typeface="Courier New"/>
                <a:cs typeface="Courier New"/>
                <a:sym typeface="Courier New"/>
              </a:rPr>
              <a:t>  --update-failure-action rollback \</a:t>
            </a:r>
            <a:endParaRPr b="1" sz="1200">
              <a:solidFill>
                <a:srgbClr val="404040"/>
              </a:solidFill>
              <a:highlight>
                <a:srgbClr val="FFFFFF"/>
              </a:highlight>
              <a:latin typeface="Courier New"/>
              <a:ea typeface="Courier New"/>
              <a:cs typeface="Courier New"/>
              <a:sym typeface="Courier New"/>
            </a:endParaRPr>
          </a:p>
          <a:p>
            <a:pPr indent="0" lvl="0" marL="0" rtl="0" algn="just">
              <a:lnSpc>
                <a:spcPct val="100000"/>
              </a:lnSpc>
              <a:spcBef>
                <a:spcPts val="0"/>
              </a:spcBef>
              <a:spcAft>
                <a:spcPts val="0"/>
              </a:spcAft>
              <a:buClr>
                <a:schemeClr val="dk1"/>
              </a:buClr>
              <a:buSzPts val="1100"/>
              <a:buFont typeface="Arial"/>
              <a:buNone/>
            </a:pPr>
            <a:r>
              <a:rPr b="1" lang="en-GB" sz="1200">
                <a:solidFill>
                  <a:srgbClr val="404040"/>
                </a:solidFill>
                <a:highlight>
                  <a:srgbClr val="FFFFFF"/>
                </a:highlight>
                <a:latin typeface="Courier New"/>
                <a:ea typeface="Courier New"/>
                <a:cs typeface="Courier New"/>
                <a:sym typeface="Courier New"/>
              </a:rPr>
              <a:t>  web</a:t>
            </a:r>
            <a:endParaRPr b="1" sz="1200">
              <a:solidFill>
                <a:srgbClr val="404040"/>
              </a:solidFill>
              <a:highlight>
                <a:srgbClr val="FFFFFF"/>
              </a:highlight>
              <a:latin typeface="Courier New"/>
              <a:ea typeface="Courier New"/>
              <a:cs typeface="Courier New"/>
              <a:sym typeface="Courier New"/>
            </a:endParaRPr>
          </a:p>
          <a:p>
            <a:pPr indent="0" lvl="0" marL="0" rtl="0" algn="just">
              <a:lnSpc>
                <a:spcPct val="100000"/>
              </a:lnSpc>
              <a:spcBef>
                <a:spcPts val="0"/>
              </a:spcBef>
              <a:spcAft>
                <a:spcPts val="0"/>
              </a:spcAft>
              <a:buClr>
                <a:schemeClr val="dk1"/>
              </a:buClr>
              <a:buSzPts val="1100"/>
              <a:buFont typeface="Arial"/>
              <a:buNone/>
            </a:pPr>
            <a:r>
              <a:t/>
            </a:r>
            <a:endParaRPr b="1" sz="1200">
              <a:solidFill>
                <a:srgbClr val="404040"/>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GB" sz="1100">
                <a:solidFill>
                  <a:schemeClr val="dk1"/>
                </a:solidFill>
                <a:latin typeface="Maven Pro"/>
                <a:ea typeface="Maven Pro"/>
                <a:cs typeface="Maven Pro"/>
                <a:sym typeface="Maven Pro"/>
              </a:rPr>
              <a:t>Explication :</a:t>
            </a:r>
            <a:endParaRPr b="1" sz="1100">
              <a:solidFill>
                <a:schemeClr val="dk1"/>
              </a:solidFill>
              <a:latin typeface="Maven Pro"/>
              <a:ea typeface="Maven Pro"/>
              <a:cs typeface="Maven Pro"/>
              <a:sym typeface="Maven Pro"/>
            </a:endParaRPr>
          </a:p>
          <a:p>
            <a:pPr indent="-298450" lvl="0" marL="457200" rtl="0" algn="l">
              <a:lnSpc>
                <a:spcPct val="100000"/>
              </a:lnSpc>
              <a:spcBef>
                <a:spcPts val="0"/>
              </a:spcBef>
              <a:spcAft>
                <a:spcPts val="0"/>
              </a:spcAft>
              <a:buClr>
                <a:schemeClr val="dk1"/>
              </a:buClr>
              <a:buSzPts val="1100"/>
              <a:buChar char="●"/>
            </a:pPr>
            <a:r>
              <a:rPr lang="en-GB" sz="1100">
                <a:solidFill>
                  <a:schemeClr val="dk1"/>
                </a:solidFill>
                <a:latin typeface="Maven Pro"/>
                <a:ea typeface="Maven Pro"/>
                <a:cs typeface="Maven Pro"/>
                <a:sym typeface="Maven Pro"/>
              </a:rPr>
              <a:t>--image nginx:1.25 : nouvelle version.</a:t>
            </a:r>
            <a:endParaRPr sz="1100">
              <a:solidFill>
                <a:schemeClr val="dk1"/>
              </a:solidFill>
              <a:latin typeface="Maven Pro"/>
              <a:ea typeface="Maven Pro"/>
              <a:cs typeface="Maven Pro"/>
              <a:sym typeface="Maven Pro"/>
            </a:endParaRPr>
          </a:p>
          <a:p>
            <a:pPr indent="-298450" lvl="0" marL="457200" rtl="0" algn="l">
              <a:lnSpc>
                <a:spcPct val="100000"/>
              </a:lnSpc>
              <a:spcBef>
                <a:spcPts val="0"/>
              </a:spcBef>
              <a:spcAft>
                <a:spcPts val="0"/>
              </a:spcAft>
              <a:buClr>
                <a:schemeClr val="dk1"/>
              </a:buClr>
              <a:buSzPts val="1100"/>
              <a:buChar char="●"/>
            </a:pPr>
            <a:r>
              <a:rPr lang="en-GB" sz="1100">
                <a:solidFill>
                  <a:schemeClr val="dk1"/>
                </a:solidFill>
                <a:latin typeface="Maven Pro"/>
                <a:ea typeface="Maven Pro"/>
                <a:cs typeface="Maven Pro"/>
                <a:sym typeface="Maven Pro"/>
              </a:rPr>
              <a:t>--update-parallelism 1 : 1 conteneur mis à jour à la fois.</a:t>
            </a:r>
            <a:endParaRPr sz="1100">
              <a:solidFill>
                <a:schemeClr val="dk1"/>
              </a:solidFill>
              <a:latin typeface="Maven Pro"/>
              <a:ea typeface="Maven Pro"/>
              <a:cs typeface="Maven Pro"/>
              <a:sym typeface="Maven Pro"/>
            </a:endParaRPr>
          </a:p>
          <a:p>
            <a:pPr indent="-298450" lvl="0" marL="457200" rtl="0" algn="l">
              <a:lnSpc>
                <a:spcPct val="100000"/>
              </a:lnSpc>
              <a:spcBef>
                <a:spcPts val="0"/>
              </a:spcBef>
              <a:spcAft>
                <a:spcPts val="0"/>
              </a:spcAft>
              <a:buClr>
                <a:schemeClr val="dk1"/>
              </a:buClr>
              <a:buSzPts val="1100"/>
              <a:buChar char="●"/>
            </a:pPr>
            <a:r>
              <a:rPr lang="en-GB" sz="1100">
                <a:solidFill>
                  <a:schemeClr val="dk1"/>
                </a:solidFill>
                <a:latin typeface="Maven Pro"/>
                <a:ea typeface="Maven Pro"/>
                <a:cs typeface="Maven Pro"/>
                <a:sym typeface="Maven Pro"/>
              </a:rPr>
              <a:t>--update-delay 10s : 10 secondes d’attente entre les mises à jour.</a:t>
            </a:r>
            <a:endParaRPr sz="1100">
              <a:solidFill>
                <a:schemeClr val="dk1"/>
              </a:solidFill>
              <a:latin typeface="Maven Pro"/>
              <a:ea typeface="Maven Pro"/>
              <a:cs typeface="Maven Pro"/>
              <a:sym typeface="Maven Pro"/>
            </a:endParaRPr>
          </a:p>
          <a:p>
            <a:pPr indent="-298450" lvl="0" marL="457200" rtl="0" algn="l">
              <a:lnSpc>
                <a:spcPct val="100000"/>
              </a:lnSpc>
              <a:spcBef>
                <a:spcPts val="0"/>
              </a:spcBef>
              <a:spcAft>
                <a:spcPts val="0"/>
              </a:spcAft>
              <a:buClr>
                <a:schemeClr val="dk1"/>
              </a:buClr>
              <a:buSzPts val="1100"/>
              <a:buChar char="●"/>
            </a:pPr>
            <a:r>
              <a:rPr lang="en-GB" sz="1100">
                <a:solidFill>
                  <a:schemeClr val="dk1"/>
                </a:solidFill>
                <a:latin typeface="Maven Pro"/>
                <a:ea typeface="Maven Pro"/>
                <a:cs typeface="Maven Pro"/>
                <a:sym typeface="Maven Pro"/>
              </a:rPr>
              <a:t>--update-order start-first : démarrer le nouveau conteneur </a:t>
            </a:r>
            <a:r>
              <a:rPr b="1" lang="en-GB" sz="1100">
                <a:solidFill>
                  <a:schemeClr val="dk1"/>
                </a:solidFill>
                <a:latin typeface="Maven Pro"/>
                <a:ea typeface="Maven Pro"/>
                <a:cs typeface="Maven Pro"/>
                <a:sym typeface="Maven Pro"/>
              </a:rPr>
              <a:t>avant</a:t>
            </a:r>
            <a:r>
              <a:rPr lang="en-GB" sz="1100">
                <a:solidFill>
                  <a:schemeClr val="dk1"/>
                </a:solidFill>
                <a:latin typeface="Maven Pro"/>
                <a:ea typeface="Maven Pro"/>
                <a:cs typeface="Maven Pro"/>
                <a:sym typeface="Maven Pro"/>
              </a:rPr>
              <a:t> de supprimer l’ancien.</a:t>
            </a:r>
            <a:endParaRPr sz="1100">
              <a:solidFill>
                <a:schemeClr val="dk1"/>
              </a:solidFill>
              <a:latin typeface="Maven Pro"/>
              <a:ea typeface="Maven Pro"/>
              <a:cs typeface="Maven Pro"/>
              <a:sym typeface="Maven Pro"/>
            </a:endParaRPr>
          </a:p>
          <a:p>
            <a:pPr indent="-298450" lvl="0" marL="457200" rtl="0" algn="l">
              <a:lnSpc>
                <a:spcPct val="100000"/>
              </a:lnSpc>
              <a:spcBef>
                <a:spcPts val="0"/>
              </a:spcBef>
              <a:spcAft>
                <a:spcPts val="0"/>
              </a:spcAft>
              <a:buClr>
                <a:schemeClr val="dk1"/>
              </a:buClr>
              <a:buSzPts val="1100"/>
              <a:buChar char="●"/>
            </a:pPr>
            <a:r>
              <a:rPr lang="en-GB" sz="1100">
                <a:solidFill>
                  <a:schemeClr val="dk1"/>
                </a:solidFill>
                <a:latin typeface="Maven Pro"/>
                <a:ea typeface="Maven Pro"/>
                <a:cs typeface="Maven Pro"/>
                <a:sym typeface="Maven Pro"/>
              </a:rPr>
              <a:t>--update-failure-action rollback : si la mise à jour échoue, revenir automatiquement à la version précédente</a:t>
            </a:r>
            <a:endParaRPr b="1" sz="1200">
              <a:solidFill>
                <a:schemeClr val="dk1"/>
              </a:solidFill>
              <a:highlight>
                <a:srgbClr val="FFFFFF"/>
              </a:highlight>
              <a:latin typeface="Maven Pro"/>
              <a:ea typeface="Maven Pro"/>
              <a:cs typeface="Maven Pro"/>
              <a:sym typeface="Maven Pro"/>
            </a:endParaRPr>
          </a:p>
          <a:p>
            <a:pPr indent="0" lvl="0" marL="0" rtl="0" algn="just">
              <a:lnSpc>
                <a:spcPct val="100000"/>
              </a:lnSpc>
              <a:spcBef>
                <a:spcPts val="0"/>
              </a:spcBef>
              <a:spcAft>
                <a:spcPts val="0"/>
              </a:spcAft>
              <a:buClr>
                <a:schemeClr val="dk1"/>
              </a:buClr>
              <a:buSzPts val="1100"/>
              <a:buFont typeface="Arial"/>
              <a:buNone/>
            </a:pPr>
            <a:r>
              <a:t/>
            </a:r>
            <a:endParaRPr b="1" sz="1200">
              <a:solidFill>
                <a:srgbClr val="404040"/>
              </a:solidFill>
              <a:highlight>
                <a:srgbClr val="FFFFFF"/>
              </a:highlight>
              <a:latin typeface="Courier New"/>
              <a:ea typeface="Courier New"/>
              <a:cs typeface="Courier New"/>
              <a:sym typeface="Courier New"/>
            </a:endParaRPr>
          </a:p>
        </p:txBody>
      </p:sp>
      <p:sp>
        <p:nvSpPr>
          <p:cNvPr id="1835" name="Google Shape;1835;p1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836" name="Google Shape;1836;p179"/>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837" name="Google Shape;1837;p179"/>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Stack</a:t>
            </a:r>
            <a:endParaRPr sz="2000">
              <a:solidFill>
                <a:srgbClr val="073763"/>
              </a:solidFill>
              <a:latin typeface="Maven Pro"/>
              <a:ea typeface="Maven Pro"/>
              <a:cs typeface="Maven Pro"/>
              <a:sym typeface="Maven Pro"/>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1" name="Shape 1841"/>
        <p:cNvGrpSpPr/>
        <p:nvPr/>
      </p:nvGrpSpPr>
      <p:grpSpPr>
        <a:xfrm>
          <a:off x="0" y="0"/>
          <a:ext cx="0" cy="0"/>
          <a:chOff x="0" y="0"/>
          <a:chExt cx="0" cy="0"/>
        </a:xfrm>
      </p:grpSpPr>
      <p:sp>
        <p:nvSpPr>
          <p:cNvPr id="1842" name="Google Shape;1842;p1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843" name="Google Shape;1843;p180"/>
          <p:cNvPicPr preferRelativeResize="0"/>
          <p:nvPr/>
        </p:nvPicPr>
        <p:blipFill>
          <a:blip r:embed="rId3">
            <a:alphaModFix/>
          </a:blip>
          <a:stretch>
            <a:fillRect/>
          </a:stretch>
        </p:blipFill>
        <p:spPr>
          <a:xfrm>
            <a:off x="69525" y="4789342"/>
            <a:ext cx="408863" cy="322826"/>
          </a:xfrm>
          <a:prstGeom prst="rect">
            <a:avLst/>
          </a:prstGeom>
          <a:noFill/>
          <a:ln>
            <a:noFill/>
          </a:ln>
        </p:spPr>
      </p:pic>
      <p:sp>
        <p:nvSpPr>
          <p:cNvPr id="1844" name="Google Shape;1844;p180"/>
          <p:cNvSpPr txBox="1"/>
          <p:nvPr/>
        </p:nvSpPr>
        <p:spPr>
          <a:xfrm>
            <a:off x="548400" y="446150"/>
            <a:ext cx="69963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rgbClr val="073763"/>
                </a:solidFill>
                <a:latin typeface="Maven Pro"/>
                <a:ea typeface="Maven Pro"/>
                <a:cs typeface="Maven Pro"/>
                <a:sym typeface="Maven Pro"/>
              </a:rPr>
              <a:t>Docker Swarm</a:t>
            </a:r>
            <a:endParaRPr sz="1500">
              <a:solidFill>
                <a:srgbClr val="073763"/>
              </a:solidFill>
              <a:latin typeface="Maven Pro"/>
              <a:ea typeface="Maven Pro"/>
              <a:cs typeface="Maven Pro"/>
              <a:sym typeface="Maven Pro"/>
            </a:endParaRPr>
          </a:p>
          <a:p>
            <a:pPr indent="0" lvl="0" marL="0" rtl="0" algn="l">
              <a:spcBef>
                <a:spcPts val="0"/>
              </a:spcBef>
              <a:spcAft>
                <a:spcPts val="0"/>
              </a:spcAft>
              <a:buNone/>
            </a:pPr>
            <a:r>
              <a:rPr b="1" lang="en-GB" sz="2000">
                <a:solidFill>
                  <a:srgbClr val="073763"/>
                </a:solidFill>
                <a:latin typeface="Maven Pro"/>
                <a:ea typeface="Maven Pro"/>
                <a:cs typeface="Maven Pro"/>
                <a:sym typeface="Maven Pro"/>
              </a:rPr>
              <a:t>Stack</a:t>
            </a:r>
            <a:endParaRPr sz="2000">
              <a:solidFill>
                <a:srgbClr val="073763"/>
              </a:solidFill>
              <a:latin typeface="Maven Pro"/>
              <a:ea typeface="Maven Pro"/>
              <a:cs typeface="Maven Pro"/>
              <a:sym typeface="Maven Pro"/>
            </a:endParaRPr>
          </a:p>
        </p:txBody>
      </p:sp>
      <p:graphicFrame>
        <p:nvGraphicFramePr>
          <p:cNvPr id="1845" name="Google Shape;1845;p180"/>
          <p:cNvGraphicFramePr/>
          <p:nvPr/>
        </p:nvGraphicFramePr>
        <p:xfrm>
          <a:off x="793550" y="1484600"/>
          <a:ext cx="3000000" cy="3000000"/>
        </p:xfrm>
        <a:graphic>
          <a:graphicData uri="http://schemas.openxmlformats.org/drawingml/2006/table">
            <a:tbl>
              <a:tblPr>
                <a:noFill/>
                <a:tableStyleId>{6D59D660-79D0-447A-8688-C7A9A0A3EB67}</a:tableStyleId>
              </a:tblPr>
              <a:tblGrid>
                <a:gridCol w="2518400"/>
                <a:gridCol w="4610900"/>
              </a:tblGrid>
              <a:tr h="190500">
                <a:tc>
                  <a:txBody>
                    <a:bodyPr/>
                    <a:lstStyle/>
                    <a:p>
                      <a:pPr indent="0" lvl="0" marL="0" rtl="0" algn="ctr">
                        <a:lnSpc>
                          <a:spcPct val="115000"/>
                        </a:lnSpc>
                        <a:spcBef>
                          <a:spcPts val="0"/>
                        </a:spcBef>
                        <a:spcAft>
                          <a:spcPts val="0"/>
                        </a:spcAft>
                        <a:buNone/>
                      </a:pPr>
                      <a:r>
                        <a:rPr b="1" lang="en-GB" sz="1100">
                          <a:solidFill>
                            <a:schemeClr val="dk1"/>
                          </a:solidFill>
                        </a:rPr>
                        <a:t>Paramètre</a:t>
                      </a:r>
                      <a:endParaRPr b="1" sz="1100">
                        <a:solidFill>
                          <a:schemeClr val="dk1"/>
                        </a:solidFill>
                      </a:endParaRPr>
                    </a:p>
                  </a:txBody>
                  <a:tcPr marT="91425" marB="91425" marR="91425" marL="91425"/>
                </a:tc>
                <a:tc>
                  <a:txBody>
                    <a:bodyPr/>
                    <a:lstStyle/>
                    <a:p>
                      <a:pPr indent="0" lvl="0" marL="0" rtl="0" algn="ctr">
                        <a:lnSpc>
                          <a:spcPct val="115000"/>
                        </a:lnSpc>
                        <a:spcBef>
                          <a:spcPts val="0"/>
                        </a:spcBef>
                        <a:spcAft>
                          <a:spcPts val="0"/>
                        </a:spcAft>
                        <a:buNone/>
                      </a:pPr>
                      <a:r>
                        <a:rPr b="1" lang="en-GB" sz="1100">
                          <a:solidFill>
                            <a:schemeClr val="dk1"/>
                          </a:solidFill>
                        </a:rPr>
                        <a:t>Description</a:t>
                      </a:r>
                      <a:endParaRPr b="1" sz="1100">
                        <a:solidFill>
                          <a:schemeClr val="dk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--image</a:t>
                      </a:r>
                      <a:endParaRPr sz="1100">
                        <a:solidFill>
                          <a:schemeClr val="dk1"/>
                        </a:solidFill>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lang="en-GB">
                          <a:solidFill>
                            <a:schemeClr val="dk1"/>
                          </a:solidFill>
                        </a:rPr>
                        <a:t>Nouvelle image à déployer</a:t>
                      </a:r>
                      <a:endParaRPr>
                        <a:solidFill>
                          <a:schemeClr val="dk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--update-parallelism</a:t>
                      </a:r>
                      <a:endParaRPr sz="1100">
                        <a:solidFill>
                          <a:schemeClr val="dk1"/>
                        </a:solidFill>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lang="en-GB">
                          <a:solidFill>
                            <a:schemeClr val="dk1"/>
                          </a:solidFill>
                        </a:rPr>
                        <a:t>Nombre de tâches (conteneurs) mises à jour simultanément</a:t>
                      </a:r>
                      <a:endParaRPr>
                        <a:solidFill>
                          <a:schemeClr val="dk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--update-delay</a:t>
                      </a:r>
                      <a:endParaRPr sz="1100">
                        <a:solidFill>
                          <a:schemeClr val="dk1"/>
                        </a:solidFill>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lang="en-GB">
                          <a:solidFill>
                            <a:schemeClr val="dk1"/>
                          </a:solidFill>
                        </a:rPr>
                        <a:t>Temps d’attente entre chaque groupe de mise à jour</a:t>
                      </a:r>
                      <a:endParaRPr>
                        <a:solidFill>
                          <a:schemeClr val="dk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--update-order</a:t>
                      </a:r>
                      <a:endParaRPr sz="1100">
                        <a:solidFill>
                          <a:schemeClr val="dk1"/>
                        </a:solidFill>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lang="en-GB" sz="1100">
                          <a:solidFill>
                            <a:schemeClr val="dk1"/>
                          </a:solidFill>
                        </a:rPr>
                        <a:t>Ordre de mise à jour (</a:t>
                      </a:r>
                      <a:r>
                        <a:rPr lang="en-GB" sz="1100">
                          <a:solidFill>
                            <a:schemeClr val="dk1"/>
                          </a:solidFill>
                          <a:latin typeface="Roboto Mono"/>
                          <a:ea typeface="Roboto Mono"/>
                          <a:cs typeface="Roboto Mono"/>
                          <a:sym typeface="Roboto Mono"/>
                        </a:rPr>
                        <a:t>start-first</a:t>
                      </a:r>
                      <a:r>
                        <a:rPr lang="en-GB" sz="1100">
                          <a:solidFill>
                            <a:schemeClr val="dk1"/>
                          </a:solidFill>
                        </a:rPr>
                        <a:t> ou </a:t>
                      </a:r>
                      <a:r>
                        <a:rPr lang="en-GB" sz="1100">
                          <a:solidFill>
                            <a:schemeClr val="dk1"/>
                          </a:solidFill>
                          <a:latin typeface="Roboto Mono"/>
                          <a:ea typeface="Roboto Mono"/>
                          <a:cs typeface="Roboto Mono"/>
                          <a:sym typeface="Roboto Mono"/>
                        </a:rPr>
                        <a:t>stop-first</a:t>
                      </a:r>
                      <a:r>
                        <a:rPr lang="en-GB" sz="1100">
                          <a:solidFill>
                            <a:schemeClr val="dk1"/>
                          </a:solidFill>
                        </a:rPr>
                        <a:t>)</a:t>
                      </a:r>
                      <a:endParaRPr sz="1100">
                        <a:solidFill>
                          <a:schemeClr val="dk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--update-failure-action</a:t>
                      </a:r>
                      <a:endParaRPr sz="1100">
                        <a:solidFill>
                          <a:schemeClr val="dk1"/>
                        </a:solidFill>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lang="en-GB" sz="1100">
                          <a:solidFill>
                            <a:schemeClr val="dk1"/>
                          </a:solidFill>
                        </a:rPr>
                        <a:t>Action en cas d’échec (</a:t>
                      </a:r>
                      <a:r>
                        <a:rPr lang="en-GB" sz="1100">
                          <a:solidFill>
                            <a:schemeClr val="dk1"/>
                          </a:solidFill>
                          <a:latin typeface="Roboto Mono"/>
                          <a:ea typeface="Roboto Mono"/>
                          <a:cs typeface="Roboto Mono"/>
                          <a:sym typeface="Roboto Mono"/>
                        </a:rPr>
                        <a:t>pause</a:t>
                      </a:r>
                      <a:r>
                        <a:rPr lang="en-GB" sz="1100">
                          <a:solidFill>
                            <a:schemeClr val="dk1"/>
                          </a:solidFill>
                        </a:rPr>
                        <a:t>, </a:t>
                      </a:r>
                      <a:r>
                        <a:rPr lang="en-GB" sz="1100">
                          <a:solidFill>
                            <a:schemeClr val="dk1"/>
                          </a:solidFill>
                          <a:latin typeface="Roboto Mono"/>
                          <a:ea typeface="Roboto Mono"/>
                          <a:cs typeface="Roboto Mono"/>
                          <a:sym typeface="Roboto Mono"/>
                        </a:rPr>
                        <a:t>continue</a:t>
                      </a:r>
                      <a:r>
                        <a:rPr lang="en-GB" sz="1100">
                          <a:solidFill>
                            <a:schemeClr val="dk1"/>
                          </a:solidFill>
                        </a:rPr>
                        <a:t>, </a:t>
                      </a:r>
                      <a:r>
                        <a:rPr lang="en-GB" sz="1100">
                          <a:solidFill>
                            <a:schemeClr val="dk1"/>
                          </a:solidFill>
                          <a:latin typeface="Roboto Mono"/>
                          <a:ea typeface="Roboto Mono"/>
                          <a:cs typeface="Roboto Mono"/>
                          <a:sym typeface="Roboto Mono"/>
                        </a:rPr>
                        <a:t>rollback</a:t>
                      </a:r>
                      <a:r>
                        <a:rPr lang="en-GB" sz="1100">
                          <a:solidFill>
                            <a:schemeClr val="dk1"/>
                          </a:solidFill>
                        </a:rPr>
                        <a:t>)</a:t>
                      </a:r>
                      <a:endParaRPr sz="1100">
                        <a:solidFill>
                          <a:schemeClr val="dk1"/>
                        </a:solidFill>
                      </a:endParaRPr>
                    </a:p>
                  </a:txBody>
                  <a:tcPr marT="91425" marB="91425" marR="91425" marL="91425"/>
                </a:tc>
              </a:tr>
              <a:tr h="190500">
                <a:tc>
                  <a:txBody>
                    <a:bodyPr/>
                    <a:lstStyle/>
                    <a:p>
                      <a:pPr indent="0" lvl="0" marL="0" rtl="0" algn="l">
                        <a:spcBef>
                          <a:spcPts val="0"/>
                        </a:spcBef>
                        <a:spcAft>
                          <a:spcPts val="0"/>
                        </a:spcAft>
                        <a:buNone/>
                      </a:pPr>
                      <a:r>
                        <a:rPr lang="en-GB" sz="1100">
                          <a:solidFill>
                            <a:schemeClr val="dk1"/>
                          </a:solidFill>
                          <a:latin typeface="Courier New"/>
                          <a:ea typeface="Courier New"/>
                          <a:cs typeface="Courier New"/>
                          <a:sym typeface="Courier New"/>
                        </a:rPr>
                        <a:t>--rollback</a:t>
                      </a:r>
                      <a:endParaRPr sz="1100">
                        <a:solidFill>
                          <a:schemeClr val="dk1"/>
                        </a:solidFill>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lang="en-GB">
                          <a:solidFill>
                            <a:schemeClr val="dk1"/>
                          </a:solidFill>
                        </a:rPr>
                        <a:t>Annule une mise à jour qui a échoué</a:t>
                      </a:r>
                      <a:endParaRPr>
                        <a:solidFill>
                          <a:schemeClr val="dk1"/>
                        </a:solidFill>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